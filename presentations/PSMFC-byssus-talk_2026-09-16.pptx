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5.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8.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xml" ContentType="application/vnd.openxmlformats-officedocument.drawingml.chart+xml"/>
  <Override PartName="/ppt/charts/chart10.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T126</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Sheet1!$B$2:$B$3</c:f>
              <c:numCache>
                <c:formatCode>General</c:formatCode>
                <c:ptCount val="2"/>
                <c:pt idx="0">
                  <c:v>103.3</c:v>
                </c:pt>
                <c:pt idx="1">
                  <c:v>51.1</c:v>
                </c:pt>
              </c:numCache>
            </c:numRef>
          </c:val>
          <c:smooth val="0"/>
        </c:ser>
        <c:ser>
          <c:idx val="1"/>
          <c:order val="1"/>
          <c:tx>
            <c:strRef>
              <c:f>Sheet1!$C$1</c:f>
              <c:strCache>
                <c:ptCount val="1"/>
                <c:pt idx="0">
                  <c:v>T127</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Sheet1!$C$2:$C$3</c:f>
              <c:numCache>
                <c:formatCode>General</c:formatCode>
                <c:ptCount val="2"/>
                <c:pt idx="0">
                  <c:v>97.2</c:v>
                </c:pt>
                <c:pt idx="1">
                  <c:v>95</c:v>
                </c:pt>
              </c:numCache>
            </c:numRef>
          </c:val>
          <c:smooth val="0"/>
        </c:ser>
        <c:ser>
          <c:idx val="2"/>
          <c:order val="2"/>
          <c:tx>
            <c:strRef>
              <c:f>Sheet1!$D$1</c:f>
              <c:strCache>
                <c:ptCount val="1"/>
                <c:pt idx="0">
                  <c:v>T128</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Sheet1!$D$2:$D$3</c:f>
              <c:numCache>
                <c:formatCode>General</c:formatCode>
                <c:ptCount val="2"/>
                <c:pt idx="0">
                  <c:v>103.8</c:v>
                </c:pt>
                <c:pt idx="1">
                  <c:v>54.9</c:v>
                </c:pt>
              </c:numCache>
            </c:numRef>
          </c:val>
          <c:smooth val="0"/>
        </c:ser>
        <c:ser>
          <c:idx val="3"/>
          <c:order val="3"/>
          <c:tx>
            <c:strRef>
              <c:f>Sheet1!$E$1</c:f>
              <c:strCache>
                <c:ptCount val="1"/>
                <c:pt idx="0">
                  <c:v>T129</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Sheet1!$E$2:$E$3</c:f>
              <c:numCache>
                <c:formatCode>General</c:formatCode>
                <c:ptCount val="2"/>
                <c:pt idx="0">
                  <c:v>110.8</c:v>
                </c:pt>
                <c:pt idx="1">
                  <c:v>71.3</c:v>
                </c:pt>
              </c:numCache>
            </c:numRef>
          </c:val>
          <c:smooth val="0"/>
        </c:ser>
        <c:ser>
          <c:idx val="4"/>
          <c:order val="4"/>
          <c:tx>
            <c:strRef>
              <c:f>Sheet1!$F$1</c:f>
              <c:strCache>
                <c:ptCount val="1"/>
                <c:pt idx="0">
                  <c:v>T130</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Sheet1!$F$2:$F$3</c:f>
              <c:numCache>
                <c:formatCode>General</c:formatCode>
                <c:ptCount val="2"/>
                <c:pt idx="0">
                  <c:v>94</c:v>
                </c:pt>
                <c:pt idx="1">
                  <c:v>101.1</c:v>
                </c:pt>
              </c:numCache>
            </c:numRef>
          </c:val>
          <c:smooth val="0"/>
        </c:ser>
        <c:ser>
          <c:idx val="5"/>
          <c:order val="5"/>
          <c:tx>
            <c:strRef>
              <c:f>Sheet1!$G$1</c:f>
              <c:strCache>
                <c:ptCount val="1"/>
                <c:pt idx="0">
                  <c:v>T131</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Sheet1!$G$2:$G$3</c:f>
              <c:numCache>
                <c:formatCode>General</c:formatCode>
                <c:ptCount val="2"/>
                <c:pt idx="0">
                  <c:v>74.7</c:v>
                </c:pt>
                <c:pt idx="1">
                  <c:v>61.2</c:v>
                </c:pt>
              </c:numCache>
            </c:numRef>
          </c:val>
          <c:smooth val="0"/>
        </c:ser>
        <c:ser>
          <c:idx val="6"/>
          <c:order val="6"/>
          <c:tx>
            <c:strRef>
              <c:f>Sheet1!$H$1</c:f>
              <c:strCache>
                <c:ptCount val="1"/>
                <c:pt idx="0">
                  <c:v>T132</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Sheet1!$H$2:$H$3</c:f>
              <c:numCache>
                <c:formatCode>General</c:formatCode>
                <c:ptCount val="2"/>
                <c:pt idx="0">
                  <c:v>112.8</c:v>
                </c:pt>
                <c:pt idx="1">
                  <c:v>94</c:v>
                </c:pt>
              </c:numCache>
            </c:numRef>
          </c:val>
          <c:smooth val="0"/>
        </c:ser>
        <c:ser>
          <c:idx val="7"/>
          <c:order val="7"/>
          <c:tx>
            <c:strRef>
              <c:f>Sheet1!$I$1</c:f>
              <c:strCache>
                <c:ptCount val="1"/>
                <c:pt idx="0">
                  <c:v>T133</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Sheet1!$I$2:$I$3</c:f>
              <c:numCache>
                <c:formatCode>General</c:formatCode>
                <c:ptCount val="2"/>
                <c:pt idx="0">
                  <c:v>52.7</c:v>
                </c:pt>
                <c:pt idx="1">
                  <c:v>96.2</c:v>
                </c:pt>
              </c:numCache>
            </c:numRef>
          </c:val>
          <c:smooth val="0"/>
        </c:ser>
        <c:ser>
          <c:idx val="8"/>
          <c:order val="8"/>
          <c:tx>
            <c:strRef>
              <c:f>Sheet1!$J$1</c:f>
              <c:strCache>
                <c:ptCount val="1"/>
                <c:pt idx="0">
                  <c:v>T134</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Sheet1!$J$2:$J$3</c:f>
              <c:numCache>
                <c:formatCode>General</c:formatCode>
                <c:ptCount val="2"/>
                <c:pt idx="0">
                  <c:v>54.9</c:v>
                </c:pt>
                <c:pt idx="1">
                  <c:v>56.5</c:v>
                </c:pt>
              </c:numCache>
            </c:numRef>
          </c:val>
          <c:smooth val="0"/>
        </c:ser>
        <c:ser>
          <c:idx val="9"/>
          <c:order val="9"/>
          <c:tx>
            <c:strRef>
              <c:f>Sheet1!$K$1</c:f>
              <c:strCache>
                <c:ptCount val="1"/>
                <c:pt idx="0">
                  <c:v>T135</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Sheet1!$K$2:$K$3</c:f>
              <c:numCache>
                <c:formatCode>General</c:formatCode>
                <c:ptCount val="2"/>
                <c:pt idx="0">
                  <c:v>96.8</c:v>
                </c:pt>
                <c:pt idx="1">
                  <c:v>80.5</c:v>
                </c:pt>
              </c:numCache>
            </c:numRef>
          </c:val>
          <c:smooth val="0"/>
        </c:ser>
        <c:ser>
          <c:idx val="10"/>
          <c:order val="10"/>
          <c:tx>
            <c:strRef>
              <c:f>Sheet1!$L$1</c:f>
              <c:strCache>
                <c:ptCount val="1"/>
                <c:pt idx="0">
                  <c:v>T136</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Sheet1!$L$2:$L$3</c:f>
              <c:numCache>
                <c:formatCode>General</c:formatCode>
                <c:ptCount val="2"/>
                <c:pt idx="0">
                  <c:v>86.8</c:v>
                </c:pt>
                <c:pt idx="1">
                  <c:v>113.2</c:v>
                </c:pt>
              </c:numCache>
            </c:numRef>
          </c:val>
          <c:smooth val="0"/>
        </c:ser>
        <c:ser>
          <c:idx val="11"/>
          <c:order val="11"/>
          <c:tx>
            <c:strRef>
              <c:f>Sheet1!$M$1</c:f>
              <c:strCache>
                <c:ptCount val="1"/>
                <c:pt idx="0">
                  <c:v>Mean</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2A78D6"/>
              </a:solidFill>
              <a:ln w="9525" cap="flat">
                <a:solidFill>
                  <a:srgbClr val="2A78D6"/>
                </a:solidFill>
                <a:prstDash val="solid"/>
                <a:round/>
              </a:ln>
              <a:effectLst/>
            </c:spPr>
          </c:marker>
          <c:cat>
            <c:multiLvlStrRef>
              <c:f>Sheet1!$A$2:$A$3</c:f>
              <c:multiLvlStrCache>
                <c:ptCount val="2"/>
                <c:lvl>
                  <c:pt idx="0">
                    <c:v>Baseline</c:v>
                  </c:pt>
                  <c:pt idx="1">
                    <c:v>Day 3</c:v>
                  </c:pt>
                </c:lvl>
              </c:multiLvlStrCache>
            </c:multiLvlStrRef>
          </c:cat>
          <c:val>
            <c:numRef>
              <c:f>Sheet1!$M$2:$M$3</c:f>
              <c:numCache>
                <c:formatCode>General</c:formatCode>
                <c:ptCount val="2"/>
                <c:pt idx="0">
                  <c:v>89.8</c:v>
                </c:pt>
                <c:pt idx="1">
                  <c:v>79.5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E3E6EA"/>
              </a:solidFill>
              <a:prstDash val="solid"/>
              <a:round/>
            </a:ln>
          </c:spPr>
        </c:majorGridlines>
        <c:title>
          <c:tx>
            <c:rich>
              <a:bodyPr/>
              <a:lstStyle/>
              <a:p>
                <a:pPr>
                  <a:defRPr sz="1000" b="0" i="0" u="none" strike="noStrike">
                    <a:solidFill>
                      <a:srgbClr val="6B7480"/>
                    </a:solidFill>
                    <a:latin typeface="Calibri"/>
                  </a:defRPr>
                </a:pPr>
                <a:r>
                  <a:rPr sz="1000" b="0" i="0" u="none" strike="noStrike">
                    <a:solidFill>
                      <a:srgbClr val="6B7480"/>
                    </a:solidFill>
                    <a:latin typeface="Calibri"/>
                  </a:rPr>
                  <a:t>Adhesion, kPa</a:t>
                </a:r>
              </a:p>
            </c:rich>
          </c:tx>
          <c:layout/>
          <c:overlay val="0"/>
        </c:title>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T014</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Sheet1!$B$2:$B$3</c:f>
              <c:numCache>
                <c:formatCode>General</c:formatCode>
                <c:ptCount val="2"/>
                <c:pt idx="0">
                  <c:v>67.2</c:v>
                </c:pt>
                <c:pt idx="1">
                  <c:v>46.1</c:v>
                </c:pt>
              </c:numCache>
            </c:numRef>
          </c:val>
          <c:smooth val="0"/>
        </c:ser>
        <c:ser>
          <c:idx val="1"/>
          <c:order val="1"/>
          <c:tx>
            <c:strRef>
              <c:f>Sheet1!$C$1</c:f>
              <c:strCache>
                <c:ptCount val="1"/>
                <c:pt idx="0">
                  <c:v>T015</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Sheet1!$C$2:$C$3</c:f>
              <c:numCache>
                <c:formatCode>General</c:formatCode>
                <c:ptCount val="2"/>
                <c:pt idx="0">
                  <c:v>81.6</c:v>
                </c:pt>
                <c:pt idx="1">
                  <c:v>92.5</c:v>
                </c:pt>
              </c:numCache>
            </c:numRef>
          </c:val>
          <c:smooth val="0"/>
        </c:ser>
        <c:ser>
          <c:idx val="2"/>
          <c:order val="2"/>
          <c:tx>
            <c:strRef>
              <c:f>Sheet1!$D$1</c:f>
              <c:strCache>
                <c:ptCount val="1"/>
                <c:pt idx="0">
                  <c:v>T016</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Sheet1!$D$2:$D$3</c:f>
              <c:numCache>
                <c:formatCode>General</c:formatCode>
                <c:ptCount val="2"/>
                <c:pt idx="0">
                  <c:v>99.3</c:v>
                </c:pt>
                <c:pt idx="1">
                  <c:v>55.5</c:v>
                </c:pt>
              </c:numCache>
            </c:numRef>
          </c:val>
          <c:smooth val="0"/>
        </c:ser>
        <c:ser>
          <c:idx val="3"/>
          <c:order val="3"/>
          <c:tx>
            <c:strRef>
              <c:f>Sheet1!$E$1</c:f>
              <c:strCache>
                <c:ptCount val="1"/>
                <c:pt idx="0">
                  <c:v>T017</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Sheet1!$E$2:$E$3</c:f>
              <c:numCache>
                <c:formatCode>General</c:formatCode>
                <c:ptCount val="2"/>
                <c:pt idx="0">
                  <c:v>118.1</c:v>
                </c:pt>
                <c:pt idx="1">
                  <c:v>33.4</c:v>
                </c:pt>
              </c:numCache>
            </c:numRef>
          </c:val>
          <c:smooth val="0"/>
        </c:ser>
        <c:ser>
          <c:idx val="4"/>
          <c:order val="4"/>
          <c:tx>
            <c:strRef>
              <c:f>Sheet1!$F$1</c:f>
              <c:strCache>
                <c:ptCount val="1"/>
                <c:pt idx="0">
                  <c:v>T019</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Sheet1!$F$2:$F$3</c:f>
              <c:numCache>
                <c:formatCode>General</c:formatCode>
                <c:ptCount val="2"/>
                <c:pt idx="0">
                  <c:v>97.7</c:v>
                </c:pt>
                <c:pt idx="1">
                  <c:v>50.5</c:v>
                </c:pt>
              </c:numCache>
            </c:numRef>
          </c:val>
          <c:smooth val="0"/>
        </c:ser>
        <c:ser>
          <c:idx val="5"/>
          <c:order val="5"/>
          <c:tx>
            <c:strRef>
              <c:f>Sheet1!$G$1</c:f>
              <c:strCache>
                <c:ptCount val="1"/>
                <c:pt idx="0">
                  <c:v>T021</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Sheet1!$G$2:$G$3</c:f>
              <c:numCache>
                <c:formatCode>General</c:formatCode>
                <c:ptCount val="2"/>
                <c:pt idx="0">
                  <c:v>107.4</c:v>
                </c:pt>
                <c:pt idx="1">
                  <c:v>32.1</c:v>
                </c:pt>
              </c:numCache>
            </c:numRef>
          </c:val>
          <c:smooth val="0"/>
        </c:ser>
        <c:ser>
          <c:idx val="6"/>
          <c:order val="6"/>
          <c:tx>
            <c:strRef>
              <c:f>Sheet1!$H$1</c:f>
              <c:strCache>
                <c:ptCount val="1"/>
                <c:pt idx="0">
                  <c:v>T023</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Sheet1!$H$2:$H$3</c:f>
              <c:numCache>
                <c:formatCode>General</c:formatCode>
                <c:ptCount val="2"/>
                <c:pt idx="0">
                  <c:v>90.7</c:v>
                </c:pt>
                <c:pt idx="1">
                  <c:v>52.2</c:v>
                </c:pt>
              </c:numCache>
            </c:numRef>
          </c:val>
          <c:smooth val="0"/>
        </c:ser>
        <c:ser>
          <c:idx val="7"/>
          <c:order val="7"/>
          <c:tx>
            <c:strRef>
              <c:f>Sheet1!$I$1</c:f>
              <c:strCache>
                <c:ptCount val="1"/>
                <c:pt idx="0">
                  <c:v>T025</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Sheet1!$I$2:$I$3</c:f>
              <c:numCache>
                <c:formatCode>General</c:formatCode>
                <c:ptCount val="2"/>
                <c:pt idx="0">
                  <c:v>99</c:v>
                </c:pt>
                <c:pt idx="1">
                  <c:v>82.7</c:v>
                </c:pt>
              </c:numCache>
            </c:numRef>
          </c:val>
          <c:smooth val="0"/>
        </c:ser>
        <c:ser>
          <c:idx val="8"/>
          <c:order val="8"/>
          <c:tx>
            <c:strRef>
              <c:f>Sheet1!$J$1</c:f>
              <c:strCache>
                <c:ptCount val="1"/>
                <c:pt idx="0">
                  <c:v>T026</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Sheet1!$J$2:$J$3</c:f>
              <c:numCache>
                <c:formatCode>General</c:formatCode>
                <c:ptCount val="2"/>
                <c:pt idx="0">
                  <c:v>37.8</c:v>
                </c:pt>
                <c:pt idx="1">
                  <c:v>39.8</c:v>
                </c:pt>
              </c:numCache>
            </c:numRef>
          </c:val>
          <c:smooth val="0"/>
        </c:ser>
        <c:ser>
          <c:idx val="9"/>
          <c:order val="9"/>
          <c:tx>
            <c:strRef>
              <c:f>Sheet1!$K$1</c:f>
              <c:strCache>
                <c:ptCount val="1"/>
                <c:pt idx="0">
                  <c:v>T027</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Sheet1!$K$2:$K$3</c:f>
              <c:numCache>
                <c:formatCode>General</c:formatCode>
                <c:ptCount val="2"/>
                <c:pt idx="0">
                  <c:v>70.2</c:v>
                </c:pt>
                <c:pt idx="1">
                  <c:v>34</c:v>
                </c:pt>
              </c:numCache>
            </c:numRef>
          </c:val>
          <c:smooth val="0"/>
        </c:ser>
        <c:ser>
          <c:idx val="10"/>
          <c:order val="10"/>
          <c:tx>
            <c:strRef>
              <c:f>Sheet1!$L$1</c:f>
              <c:strCache>
                <c:ptCount val="1"/>
                <c:pt idx="0">
                  <c:v>T118</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Sheet1!$L$2:$L$3</c:f>
              <c:numCache>
                <c:formatCode>General</c:formatCode>
                <c:ptCount val="2"/>
                <c:pt idx="0">
                  <c:v>86.5</c:v>
                </c:pt>
                <c:pt idx="1">
                  <c:v>52.3</c:v>
                </c:pt>
              </c:numCache>
            </c:numRef>
          </c:val>
          <c:smooth val="0"/>
        </c:ser>
        <c:ser>
          <c:idx val="11"/>
          <c:order val="11"/>
          <c:tx>
            <c:strRef>
              <c:f>Sheet1!$M$1</c:f>
              <c:strCache>
                <c:ptCount val="1"/>
                <c:pt idx="0">
                  <c:v>T119</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Sheet1!$M$2:$M$3</c:f>
              <c:numCache>
                <c:formatCode>General</c:formatCode>
                <c:ptCount val="2"/>
                <c:pt idx="0">
                  <c:v>67.6</c:v>
                </c:pt>
                <c:pt idx="1">
                  <c:v>67.8</c:v>
                </c:pt>
              </c:numCache>
            </c:numRef>
          </c:val>
          <c:smooth val="0"/>
        </c:ser>
        <c:ser>
          <c:idx val="12"/>
          <c:order val="12"/>
          <c:tx>
            <c:strRef>
              <c:f>Sheet1!$N$1</c:f>
              <c:strCache>
                <c:ptCount val="1"/>
                <c:pt idx="0">
                  <c:v>Mean</c:v>
                </c:pt>
              </c:strCache>
            </c:strRef>
          </c:tx>
          <c:spPr>
            <a:solidFill>
              <a:srgbClr val="1BAF7A"/>
            </a:solidFill>
            <a:ln w="38100" cap="flat">
              <a:solidFill>
                <a:srgbClr val="1BAF7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BAF7A"/>
              </a:solidFill>
              <a:ln w="9525" cap="flat">
                <a:solidFill>
                  <a:srgbClr val="1BAF7A"/>
                </a:solidFill>
                <a:prstDash val="solid"/>
                <a:round/>
              </a:ln>
              <a:effectLst/>
            </c:spPr>
          </c:marker>
          <c:cat>
            <c:multiLvlStrRef>
              <c:f>Sheet1!$A$2:$A$3</c:f>
              <c:multiLvlStrCache>
                <c:ptCount val="2"/>
                <c:lvl>
                  <c:pt idx="0">
                    <c:v>Baseline</c:v>
                  </c:pt>
                  <c:pt idx="1">
                    <c:v>Day 3</c:v>
                  </c:pt>
                </c:lvl>
              </c:multiLvlStrCache>
            </c:multiLvlStrRef>
          </c:cat>
          <c:val>
            <c:numRef>
              <c:f>Sheet1!$N$2:$N$3</c:f>
              <c:numCache>
                <c:formatCode>General</c:formatCode>
                <c:ptCount val="2"/>
                <c:pt idx="0">
                  <c:v>85.3</c:v>
                </c:pt>
                <c:pt idx="1">
                  <c:v>53.2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T029</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Sheet1!$B$2:$B$3</c:f>
              <c:numCache>
                <c:formatCode>General</c:formatCode>
                <c:ptCount val="2"/>
                <c:pt idx="0">
                  <c:v>124.6</c:v>
                </c:pt>
                <c:pt idx="1">
                  <c:v>87.6</c:v>
                </c:pt>
              </c:numCache>
            </c:numRef>
          </c:val>
          <c:smooth val="0"/>
        </c:ser>
        <c:ser>
          <c:idx val="1"/>
          <c:order val="1"/>
          <c:tx>
            <c:strRef>
              <c:f>Sheet1!$C$1</c:f>
              <c:strCache>
                <c:ptCount val="1"/>
                <c:pt idx="0">
                  <c:v>T030</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Sheet1!$C$2:$C$3</c:f>
              <c:numCache>
                <c:formatCode>General</c:formatCode>
                <c:ptCount val="2"/>
                <c:pt idx="0">
                  <c:v>76.5</c:v>
                </c:pt>
                <c:pt idx="1">
                  <c:v>134.7</c:v>
                </c:pt>
              </c:numCache>
            </c:numRef>
          </c:val>
          <c:smooth val="0"/>
        </c:ser>
        <c:ser>
          <c:idx val="2"/>
          <c:order val="2"/>
          <c:tx>
            <c:strRef>
              <c:f>Sheet1!$D$1</c:f>
              <c:strCache>
                <c:ptCount val="1"/>
                <c:pt idx="0">
                  <c:v>T031</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Sheet1!$D$2:$D$3</c:f>
              <c:numCache>
                <c:formatCode>General</c:formatCode>
                <c:ptCount val="2"/>
                <c:pt idx="0">
                  <c:v>68.8</c:v>
                </c:pt>
                <c:pt idx="1">
                  <c:v>53.3</c:v>
                </c:pt>
              </c:numCache>
            </c:numRef>
          </c:val>
          <c:smooth val="0"/>
        </c:ser>
        <c:ser>
          <c:idx val="3"/>
          <c:order val="3"/>
          <c:tx>
            <c:strRef>
              <c:f>Sheet1!$E$1</c:f>
              <c:strCache>
                <c:ptCount val="1"/>
                <c:pt idx="0">
                  <c:v>T033</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Sheet1!$E$2:$E$3</c:f>
              <c:numCache>
                <c:formatCode>General</c:formatCode>
                <c:ptCount val="2"/>
                <c:pt idx="0">
                  <c:v>61.7</c:v>
                </c:pt>
                <c:pt idx="1">
                  <c:v>13</c:v>
                </c:pt>
              </c:numCache>
            </c:numRef>
          </c:val>
          <c:smooth val="0"/>
        </c:ser>
        <c:ser>
          <c:idx val="4"/>
          <c:order val="4"/>
          <c:tx>
            <c:strRef>
              <c:f>Sheet1!$F$1</c:f>
              <c:strCache>
                <c:ptCount val="1"/>
                <c:pt idx="0">
                  <c:v>T034</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Sheet1!$F$2:$F$3</c:f>
              <c:numCache>
                <c:formatCode>General</c:formatCode>
                <c:ptCount val="2"/>
                <c:pt idx="0">
                  <c:v>63.7</c:v>
                </c:pt>
                <c:pt idx="1">
                  <c:v>40</c:v>
                </c:pt>
              </c:numCache>
            </c:numRef>
          </c:val>
          <c:smooth val="0"/>
        </c:ser>
        <c:ser>
          <c:idx val="5"/>
          <c:order val="5"/>
          <c:tx>
            <c:strRef>
              <c:f>Sheet1!$G$1</c:f>
              <c:strCache>
                <c:ptCount val="1"/>
                <c:pt idx="0">
                  <c:v>T036</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Sheet1!$G$2:$G$3</c:f>
              <c:numCache>
                <c:formatCode>General</c:formatCode>
                <c:ptCount val="2"/>
                <c:pt idx="0">
                  <c:v>60.6</c:v>
                </c:pt>
                <c:pt idx="1">
                  <c:v>25.9</c:v>
                </c:pt>
              </c:numCache>
            </c:numRef>
          </c:val>
          <c:smooth val="0"/>
        </c:ser>
        <c:ser>
          <c:idx val="6"/>
          <c:order val="6"/>
          <c:tx>
            <c:strRef>
              <c:f>Sheet1!$H$1</c:f>
              <c:strCache>
                <c:ptCount val="1"/>
                <c:pt idx="0">
                  <c:v>T037</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Sheet1!$H$2:$H$3</c:f>
              <c:numCache>
                <c:formatCode>General</c:formatCode>
                <c:ptCount val="2"/>
                <c:pt idx="0">
                  <c:v>80.9</c:v>
                </c:pt>
                <c:pt idx="1">
                  <c:v>25.1</c:v>
                </c:pt>
              </c:numCache>
            </c:numRef>
          </c:val>
          <c:smooth val="0"/>
        </c:ser>
        <c:ser>
          <c:idx val="7"/>
          <c:order val="7"/>
          <c:tx>
            <c:strRef>
              <c:f>Sheet1!$I$1</c:f>
              <c:strCache>
                <c:ptCount val="1"/>
                <c:pt idx="0">
                  <c:v>T038</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Sheet1!$I$2:$I$3</c:f>
              <c:numCache>
                <c:formatCode>General</c:formatCode>
                <c:ptCount val="2"/>
                <c:pt idx="0">
                  <c:v>53.6</c:v>
                </c:pt>
                <c:pt idx="1">
                  <c:v>21.7</c:v>
                </c:pt>
              </c:numCache>
            </c:numRef>
          </c:val>
          <c:smooth val="0"/>
        </c:ser>
        <c:ser>
          <c:idx val="8"/>
          <c:order val="8"/>
          <c:tx>
            <c:strRef>
              <c:f>Sheet1!$J$1</c:f>
              <c:strCache>
                <c:ptCount val="1"/>
                <c:pt idx="0">
                  <c:v>T039</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Sheet1!$J$2:$J$3</c:f>
              <c:numCache>
                <c:formatCode>General</c:formatCode>
                <c:ptCount val="2"/>
                <c:pt idx="0">
                  <c:v>49.7</c:v>
                </c:pt>
                <c:pt idx="1">
                  <c:v>72.8</c:v>
                </c:pt>
              </c:numCache>
            </c:numRef>
          </c:val>
          <c:smooth val="0"/>
        </c:ser>
        <c:ser>
          <c:idx val="9"/>
          <c:order val="9"/>
          <c:tx>
            <c:strRef>
              <c:f>Sheet1!$K$1</c:f>
              <c:strCache>
                <c:ptCount val="1"/>
                <c:pt idx="0">
                  <c:v>T040</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Sheet1!$K$2:$K$3</c:f>
              <c:numCache>
                <c:formatCode>General</c:formatCode>
                <c:ptCount val="2"/>
                <c:pt idx="0">
                  <c:v>89.6</c:v>
                </c:pt>
                <c:pt idx="1">
                  <c:v>33.1</c:v>
                </c:pt>
              </c:numCache>
            </c:numRef>
          </c:val>
          <c:smooth val="0"/>
        </c:ser>
        <c:ser>
          <c:idx val="10"/>
          <c:order val="10"/>
          <c:tx>
            <c:strRef>
              <c:f>Sheet1!$L$1</c:f>
              <c:strCache>
                <c:ptCount val="1"/>
                <c:pt idx="0">
                  <c:v>T041</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Sheet1!$L$2:$L$3</c:f>
              <c:numCache>
                <c:formatCode>General</c:formatCode>
                <c:ptCount val="2"/>
                <c:pt idx="0">
                  <c:v>98.3</c:v>
                </c:pt>
                <c:pt idx="1">
                  <c:v>45.7</c:v>
                </c:pt>
              </c:numCache>
            </c:numRef>
          </c:val>
          <c:smooth val="0"/>
        </c:ser>
        <c:ser>
          <c:idx val="11"/>
          <c:order val="11"/>
          <c:tx>
            <c:strRef>
              <c:f>Sheet1!$M$1</c:f>
              <c:strCache>
                <c:ptCount val="1"/>
                <c:pt idx="0">
                  <c:v>T042</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Sheet1!$M$2:$M$3</c:f>
              <c:numCache>
                <c:formatCode>General</c:formatCode>
                <c:ptCount val="2"/>
                <c:pt idx="0">
                  <c:v>88.1</c:v>
                </c:pt>
                <c:pt idx="1">
                  <c:v>43.1</c:v>
                </c:pt>
              </c:numCache>
            </c:numRef>
          </c:val>
          <c:smooth val="0"/>
        </c:ser>
        <c:ser>
          <c:idx val="12"/>
          <c:order val="12"/>
          <c:tx>
            <c:strRef>
              <c:f>Sheet1!$N$1</c:f>
              <c:strCache>
                <c:ptCount val="1"/>
                <c:pt idx="0">
                  <c:v>Mean</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EB6834"/>
              </a:solidFill>
              <a:ln w="9525" cap="flat">
                <a:solidFill>
                  <a:srgbClr val="EB6834"/>
                </a:solidFill>
                <a:prstDash val="solid"/>
                <a:round/>
              </a:ln>
              <a:effectLst/>
            </c:spPr>
          </c:marker>
          <c:cat>
            <c:multiLvlStrRef>
              <c:f>Sheet1!$A$2:$A$3</c:f>
              <c:multiLvlStrCache>
                <c:ptCount val="2"/>
                <c:lvl>
                  <c:pt idx="0">
                    <c:v>Baseline</c:v>
                  </c:pt>
                  <c:pt idx="1">
                    <c:v>Day 3</c:v>
                  </c:pt>
                </c:lvl>
              </c:multiLvlStrCache>
            </c:multiLvlStrRef>
          </c:cat>
          <c:val>
            <c:numRef>
              <c:f>Sheet1!$N$2:$N$3</c:f>
              <c:numCache>
                <c:formatCode>General</c:formatCode>
                <c:ptCount val="2"/>
                <c:pt idx="0">
                  <c:v>76.3</c:v>
                </c:pt>
                <c:pt idx="1">
                  <c:v>49.7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T046</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Sheet1!$B$2:$B$3</c:f>
              <c:numCache>
                <c:formatCode>General</c:formatCode>
                <c:ptCount val="2"/>
                <c:pt idx="0">
                  <c:v>109.4</c:v>
                </c:pt>
                <c:pt idx="1">
                  <c:v>121.1</c:v>
                </c:pt>
              </c:numCache>
            </c:numRef>
          </c:val>
          <c:smooth val="0"/>
        </c:ser>
        <c:ser>
          <c:idx val="1"/>
          <c:order val="1"/>
          <c:tx>
            <c:strRef>
              <c:f>Sheet1!$C$1</c:f>
              <c:strCache>
                <c:ptCount val="1"/>
                <c:pt idx="0">
                  <c:v>T047</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Sheet1!$C$2:$C$3</c:f>
              <c:numCache>
                <c:formatCode>General</c:formatCode>
                <c:ptCount val="2"/>
                <c:pt idx="0">
                  <c:v>63.8</c:v>
                </c:pt>
                <c:pt idx="1">
                  <c:v>45.4</c:v>
                </c:pt>
              </c:numCache>
            </c:numRef>
          </c:val>
          <c:smooth val="0"/>
        </c:ser>
        <c:ser>
          <c:idx val="2"/>
          <c:order val="2"/>
          <c:tx>
            <c:strRef>
              <c:f>Sheet1!$D$1</c:f>
              <c:strCache>
                <c:ptCount val="1"/>
                <c:pt idx="0">
                  <c:v>T049</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Sheet1!$D$2:$D$3</c:f>
              <c:numCache>
                <c:formatCode>General</c:formatCode>
                <c:ptCount val="2"/>
                <c:pt idx="0">
                  <c:v>34.9</c:v>
                </c:pt>
                <c:pt idx="1">
                  <c:v>62</c:v>
                </c:pt>
              </c:numCache>
            </c:numRef>
          </c:val>
          <c:smooth val="0"/>
        </c:ser>
        <c:ser>
          <c:idx val="3"/>
          <c:order val="3"/>
          <c:tx>
            <c:strRef>
              <c:f>Sheet1!$E$1</c:f>
              <c:strCache>
                <c:ptCount val="1"/>
                <c:pt idx="0">
                  <c:v>T051</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Sheet1!$E$2:$E$3</c:f>
              <c:numCache>
                <c:formatCode>General</c:formatCode>
                <c:ptCount val="2"/>
                <c:pt idx="0">
                  <c:v>98.3</c:v>
                </c:pt>
                <c:pt idx="1">
                  <c:v>56.4</c:v>
                </c:pt>
              </c:numCache>
            </c:numRef>
          </c:val>
          <c:smooth val="0"/>
        </c:ser>
        <c:ser>
          <c:idx val="4"/>
          <c:order val="4"/>
          <c:tx>
            <c:strRef>
              <c:f>Sheet1!$F$1</c:f>
              <c:strCache>
                <c:ptCount val="1"/>
                <c:pt idx="0">
                  <c:v>T052</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Sheet1!$F$2:$F$3</c:f>
              <c:numCache>
                <c:formatCode>General</c:formatCode>
                <c:ptCount val="2"/>
                <c:pt idx="0">
                  <c:v>48</c:v>
                </c:pt>
                <c:pt idx="1">
                  <c:v>81</c:v>
                </c:pt>
              </c:numCache>
            </c:numRef>
          </c:val>
          <c:smooth val="0"/>
        </c:ser>
        <c:ser>
          <c:idx val="5"/>
          <c:order val="5"/>
          <c:tx>
            <c:strRef>
              <c:f>Sheet1!$G$1</c:f>
              <c:strCache>
                <c:ptCount val="1"/>
                <c:pt idx="0">
                  <c:v>T055</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Sheet1!$G$2:$G$3</c:f>
              <c:numCache>
                <c:formatCode>General</c:formatCode>
                <c:ptCount val="2"/>
                <c:pt idx="0">
                  <c:v>56.2</c:v>
                </c:pt>
                <c:pt idx="1">
                  <c:v>70.2</c:v>
                </c:pt>
              </c:numCache>
            </c:numRef>
          </c:val>
          <c:smooth val="0"/>
        </c:ser>
        <c:ser>
          <c:idx val="6"/>
          <c:order val="6"/>
          <c:tx>
            <c:strRef>
              <c:f>Sheet1!$H$1</c:f>
              <c:strCache>
                <c:ptCount val="1"/>
                <c:pt idx="0">
                  <c:v>T056</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Sheet1!$H$2:$H$3</c:f>
              <c:numCache>
                <c:formatCode>General</c:formatCode>
                <c:ptCount val="2"/>
                <c:pt idx="0">
                  <c:v>53.9</c:v>
                </c:pt>
                <c:pt idx="1">
                  <c:v>45.5</c:v>
                </c:pt>
              </c:numCache>
            </c:numRef>
          </c:val>
          <c:smooth val="0"/>
        </c:ser>
        <c:ser>
          <c:idx val="7"/>
          <c:order val="7"/>
          <c:tx>
            <c:strRef>
              <c:f>Sheet1!$I$1</c:f>
              <c:strCache>
                <c:ptCount val="1"/>
                <c:pt idx="0">
                  <c:v>T057</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Sheet1!$I$2:$I$3</c:f>
              <c:numCache>
                <c:formatCode>General</c:formatCode>
                <c:ptCount val="2"/>
                <c:pt idx="0">
                  <c:v>32.4</c:v>
                </c:pt>
                <c:pt idx="1">
                  <c:v>59.9</c:v>
                </c:pt>
              </c:numCache>
            </c:numRef>
          </c:val>
          <c:smooth val="0"/>
        </c:ser>
        <c:ser>
          <c:idx val="8"/>
          <c:order val="8"/>
          <c:tx>
            <c:strRef>
              <c:f>Sheet1!$J$1</c:f>
              <c:strCache>
                <c:ptCount val="1"/>
                <c:pt idx="0">
                  <c:v>T058</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Sheet1!$J$2:$J$3</c:f>
              <c:numCache>
                <c:formatCode>General</c:formatCode>
                <c:ptCount val="2"/>
                <c:pt idx="0">
                  <c:v>57.3</c:v>
                </c:pt>
                <c:pt idx="1">
                  <c:v>21.2</c:v>
                </c:pt>
              </c:numCache>
            </c:numRef>
          </c:val>
          <c:smooth val="0"/>
        </c:ser>
        <c:ser>
          <c:idx val="9"/>
          <c:order val="9"/>
          <c:tx>
            <c:strRef>
              <c:f>Sheet1!$K$1</c:f>
              <c:strCache>
                <c:ptCount val="1"/>
                <c:pt idx="0">
                  <c:v>T110</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Sheet1!$K$2:$K$3</c:f>
              <c:numCache>
                <c:formatCode>General</c:formatCode>
                <c:ptCount val="2"/>
                <c:pt idx="0">
                  <c:v>98.2</c:v>
                </c:pt>
                <c:pt idx="1">
                  <c:v>57.4</c:v>
                </c:pt>
              </c:numCache>
            </c:numRef>
          </c:val>
          <c:smooth val="0"/>
        </c:ser>
        <c:ser>
          <c:idx val="10"/>
          <c:order val="10"/>
          <c:tx>
            <c:strRef>
              <c:f>Sheet1!$L$1</c:f>
              <c:strCache>
                <c:ptCount val="1"/>
                <c:pt idx="0">
                  <c:v>T111</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Sheet1!$L$2:$L$3</c:f>
              <c:numCache>
                <c:formatCode>General</c:formatCode>
                <c:ptCount val="2"/>
                <c:pt idx="0">
                  <c:v>74</c:v>
                </c:pt>
                <c:pt idx="1">
                  <c:v>24.5</c:v>
                </c:pt>
              </c:numCache>
            </c:numRef>
          </c:val>
          <c:smooth val="0"/>
        </c:ser>
        <c:ser>
          <c:idx val="11"/>
          <c:order val="11"/>
          <c:tx>
            <c:strRef>
              <c:f>Sheet1!$M$1</c:f>
              <c:strCache>
                <c:ptCount val="1"/>
                <c:pt idx="0">
                  <c:v>T112</c:v>
                </c:pt>
              </c:strCache>
            </c:strRef>
          </c:tx>
          <c:spPr>
            <a:solidFill>
              <a:srgbClr val="B9C0CA"/>
            </a:solidFill>
            <a:ln w="15875" cap="flat">
              <a:solidFill>
                <a:srgbClr val="B9C0C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B9C0CA"/>
              </a:solidFill>
              <a:ln w="9525" cap="flat">
                <a:solidFill>
                  <a:srgbClr val="B9C0CA"/>
                </a:solidFill>
                <a:prstDash val="solid"/>
                <a:round/>
              </a:ln>
              <a:effectLst/>
            </c:spPr>
          </c:marker>
          <c:cat>
            <c:multiLvlStrRef>
              <c:f>Sheet1!$A$2:$A$3</c:f>
              <c:multiLvlStrCache>
                <c:ptCount val="2"/>
                <c:lvl>
                  <c:pt idx="0">
                    <c:v>Baseline</c:v>
                  </c:pt>
                  <c:pt idx="1">
                    <c:v>Day 3</c:v>
                  </c:pt>
                </c:lvl>
              </c:multiLvlStrCache>
            </c:multiLvlStrRef>
          </c:cat>
          <c:val>
            <c:numRef>
              <c:f>Sheet1!$M$2:$M$3</c:f>
              <c:numCache>
                <c:formatCode>General</c:formatCode>
                <c:ptCount val="2"/>
                <c:pt idx="0">
                  <c:v>92</c:v>
                </c:pt>
                <c:pt idx="1">
                  <c:v>124.9</c:v>
                </c:pt>
              </c:numCache>
            </c:numRef>
          </c:val>
          <c:smooth val="0"/>
        </c:ser>
        <c:ser>
          <c:idx val="12"/>
          <c:order val="12"/>
          <c:tx>
            <c:strRef>
              <c:f>Sheet1!$N$1</c:f>
              <c:strCache>
                <c:ptCount val="1"/>
                <c:pt idx="0">
                  <c:v>Mean</c:v>
                </c:pt>
              </c:strCache>
            </c:strRef>
          </c:tx>
          <c:spPr>
            <a:solidFill>
              <a:srgbClr val="4A3AA7"/>
            </a:solidFill>
            <a:ln w="38100" cap="flat">
              <a:solidFill>
                <a:srgbClr val="4A3AA7"/>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4A3AA7"/>
              </a:solidFill>
              <a:ln w="9525" cap="flat">
                <a:solidFill>
                  <a:srgbClr val="4A3AA7"/>
                </a:solidFill>
                <a:prstDash val="solid"/>
                <a:round/>
              </a:ln>
              <a:effectLst/>
            </c:spPr>
          </c:marker>
          <c:cat>
            <c:multiLvlStrRef>
              <c:f>Sheet1!$A$2:$A$3</c:f>
              <c:multiLvlStrCache>
                <c:ptCount val="2"/>
                <c:lvl>
                  <c:pt idx="0">
                    <c:v>Baseline</c:v>
                  </c:pt>
                  <c:pt idx="1">
                    <c:v>Day 3</c:v>
                  </c:pt>
                </c:lvl>
              </c:multiLvlStrCache>
            </c:multiLvlStrRef>
          </c:cat>
          <c:val>
            <c:numRef>
              <c:f>Sheet1!$N$2:$N$3</c:f>
              <c:numCache>
                <c:formatCode>General</c:formatCode>
                <c:ptCount val="2"/>
                <c:pt idx="0">
                  <c:v>68.2</c:v>
                </c:pt>
                <c:pt idx="1">
                  <c:v>64.1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150"/>
          <c:min val="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50"/>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Change</c:v>
                </c:pt>
              </c:strCache>
            </c:strRef>
          </c:tx>
          <c:spPr>
            <a:solidFill>
              <a:srgbClr val="2A78D6"/>
            </a:solidFill>
            <a:effectLst/>
          </c:spPr>
          <c:invertIfNegative val="0"/>
          <c:dPt>
            <c:idx val="0"/>
            <c:invertIfNegative val="0"/>
            <c:bubble3D val="0"/>
            <c:spPr>
              <a:solidFill>
                <a:srgbClr val="2A78D6"/>
              </a:solidFill>
            </c:spPr>
          </c:dPt>
          <c:dPt>
            <c:idx val="1"/>
            <c:invertIfNegative val="0"/>
            <c:bubble3D val="0"/>
            <c:spPr>
              <a:solidFill>
                <a:srgbClr val="1BAF7A"/>
              </a:solidFill>
            </c:spPr>
          </c:dPt>
          <c:dPt>
            <c:idx val="2"/>
            <c:invertIfNegative val="0"/>
            <c:bubble3D val="0"/>
            <c:spPr>
              <a:solidFill>
                <a:srgbClr val="EB6834"/>
              </a:solidFill>
            </c:spPr>
          </c:dPt>
          <c:dPt>
            <c:idx val="3"/>
            <c:invertIfNegative val="0"/>
            <c:bubble3D val="0"/>
            <c:spPr>
              <a:solidFill>
                <a:srgbClr val="4A3AA7"/>
              </a:solidFill>
            </c:spPr>
          </c:dPt>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Dir val="y"/>
            <c:errBarType val="both"/>
            <c:errValType val="cust"/>
            <c:noEndCap val="0"/>
            <c:plus>
              <c:numLit>
                <c:formatCode>General</c:formatCode>
                <c:ptCount val="4"/>
                <c:pt idx="0">
                  <c:v>26.51</c:v>
                </c:pt>
                <c:pt idx="1">
                  <c:v>15.5</c:v>
                </c:pt>
                <c:pt idx="2">
                  <c:v>13.32</c:v>
                </c:pt>
                <c:pt idx="3">
                  <c:v>21.46</c:v>
                </c:pt>
              </c:numLit>
            </c:plus>
            <c:minus>
              <c:numLit>
                <c:formatCode>General</c:formatCode>
                <c:ptCount val="4"/>
                <c:pt idx="0">
                  <c:v>20.52</c:v>
                </c:pt>
                <c:pt idx="1">
                  <c:v>12.46</c:v>
                </c:pt>
                <c:pt idx="2">
                  <c:v>10.72</c:v>
                </c:pt>
                <c:pt idx="3">
                  <c:v>17.16</c:v>
                </c:pt>
              </c:numLit>
            </c:minus>
            <c:spPr>
              <a:ln w="19050" cap="rnd">
                <a:solidFill>
                  <a:srgbClr val="1B2430"/>
                </a:solidFill>
                <a:round/>
              </a:ln>
            </c:spPr>
          </c:errBars>
          <c:cat>
            <c:multiLvlStrRef>
              <c:f>Sheet1!$A$2:$A$5</c:f>
              <c:multiLvlStrCache>
                <c:ptCount val="4"/>
                <c:lvl>
                  <c:pt idx="0">
                    <c:v>Control</c:v>
                  </c:pt>
                  <c:pt idx="1">
                    <c:v>Acidification</c:v>
                  </c:pt>
                  <c:pt idx="2">
                    <c:v>Warming</c:v>
                  </c:pt>
                  <c:pt idx="3">
                    <c:v>Hypoxia</c:v>
                  </c:pt>
                </c:lvl>
              </c:multiLvlStrCache>
            </c:multiLvlStrRef>
          </c:cat>
          <c:val>
            <c:numRef>
              <c:f>Sheet1!$B$2:$B$5</c:f>
              <c:numCache>
                <c:formatCode>General</c:formatCode>
                <c:ptCount val="4"/>
                <c:pt idx="0">
                  <c:v>-9.3</c:v>
                </c:pt>
                <c:pt idx="1">
                  <c:v>-36.4</c:v>
                </c:pt>
                <c:pt idx="2">
                  <c:v>-45.1</c:v>
                </c:pt>
                <c:pt idx="3">
                  <c:v>-14.3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30"/>
          <c:min val="-70"/>
        </c:scaling>
        <c:delete val="0"/>
        <c:axPos val="l"/>
        <c:majorGridlines>
          <c:spPr>
            <a:ln w="9525" cap="flat">
              <a:solidFill>
                <a:srgbClr val="E3E6EA"/>
              </a:solidFill>
              <a:prstDash val="solid"/>
              <a:round/>
            </a:ln>
          </c:spPr>
        </c:majorGridlines>
        <c:title>
          <c:tx>
            <c:rich>
              <a:bodyPr/>
              <a:lstStyle/>
              <a:p>
                <a:pPr>
                  <a:defRPr sz="1100" b="0" i="0" u="none" strike="noStrike">
                    <a:solidFill>
                      <a:srgbClr val="6B7480"/>
                    </a:solidFill>
                    <a:latin typeface="Calibri"/>
                  </a:defRPr>
                </a:pPr>
                <a:r>
                  <a:rPr sz="1100" b="0" i="0" u="none" strike="noStrike">
                    <a:solidFill>
                      <a:srgbClr val="6B7480"/>
                    </a:solidFill>
                    <a:latin typeface="Calibri"/>
                  </a:rPr>
                  <a:t>Change from baseline, %</a:t>
                </a:r>
              </a:p>
            </c:rich>
          </c:tx>
          <c:layout/>
          <c:overlay val="0"/>
        </c:title>
        <c:numFmt formatCode="+0;-0;0"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Change</c:v>
                </c:pt>
              </c:strCache>
            </c:strRef>
          </c:tx>
          <c:spPr>
            <a:solidFill>
              <a:srgbClr val="2A78D6"/>
            </a:solidFill>
            <a:effectLst/>
          </c:spPr>
          <c:invertIfNegative val="0"/>
          <c:dPt>
            <c:idx val="0"/>
            <c:invertIfNegative val="0"/>
            <c:bubble3D val="0"/>
            <c:spPr>
              <a:solidFill>
                <a:srgbClr val="2A78D6"/>
              </a:solidFill>
            </c:spPr>
          </c:dPt>
          <c:dPt>
            <c:idx val="1"/>
            <c:invertIfNegative val="0"/>
            <c:bubble3D val="0"/>
            <c:spPr>
              <a:solidFill>
                <a:srgbClr val="1BAF7A"/>
              </a:solidFill>
            </c:spPr>
          </c:dPt>
          <c:dPt>
            <c:idx val="2"/>
            <c:invertIfNegative val="0"/>
            <c:bubble3D val="0"/>
            <c:spPr>
              <a:solidFill>
                <a:srgbClr val="EB6834"/>
              </a:solidFill>
            </c:spPr>
          </c:dPt>
          <c:dPt>
            <c:idx val="3"/>
            <c:invertIfNegative val="0"/>
            <c:bubble3D val="0"/>
            <c:spPr>
              <a:solidFill>
                <a:srgbClr val="4A3AA7"/>
              </a:solidFill>
            </c:spPr>
          </c:dPt>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Dir val="y"/>
            <c:errBarType val="both"/>
            <c:errValType val="cust"/>
            <c:noEndCap val="0"/>
            <c:plus>
              <c:numLit>
                <c:formatCode>General</c:formatCode>
                <c:ptCount val="4"/>
                <c:pt idx="0">
                  <c:v>28.63</c:v>
                </c:pt>
                <c:pt idx="1">
                  <c:v>16.01</c:v>
                </c:pt>
                <c:pt idx="2">
                  <c:v>10.62</c:v>
                </c:pt>
                <c:pt idx="3">
                  <c:v>13.27</c:v>
                </c:pt>
              </c:numLit>
            </c:plus>
            <c:minus>
              <c:numLit>
                <c:formatCode>General</c:formatCode>
                <c:ptCount val="4"/>
                <c:pt idx="0">
                  <c:v>22.24</c:v>
                </c:pt>
                <c:pt idx="1">
                  <c:v>12.93</c:v>
                </c:pt>
                <c:pt idx="2">
                  <c:v>8.59</c:v>
                </c:pt>
                <c:pt idx="3">
                  <c:v>10.66</c:v>
                </c:pt>
              </c:numLit>
            </c:minus>
            <c:spPr>
              <a:ln w="19050" cap="rnd">
                <a:solidFill>
                  <a:srgbClr val="1B2430"/>
                </a:solidFill>
                <a:round/>
              </a:ln>
            </c:spPr>
          </c:errBars>
          <c:cat>
            <c:multiLvlStrRef>
              <c:f>Sheet1!$A$2:$A$5</c:f>
              <c:multiLvlStrCache>
                <c:ptCount val="4"/>
                <c:lvl>
                  <c:pt idx="0">
                    <c:v>Control</c:v>
                  </c:pt>
                  <c:pt idx="1">
                    <c:v>Acidification</c:v>
                  </c:pt>
                  <c:pt idx="2">
                    <c:v>Warming</c:v>
                  </c:pt>
                  <c:pt idx="3">
                    <c:v>Hypoxia</c:v>
                  </c:pt>
                </c:lvl>
              </c:multiLvlStrCache>
            </c:multiLvlStrRef>
          </c:cat>
          <c:val>
            <c:numRef>
              <c:f>Sheet1!$B$2:$B$5</c:f>
              <c:numCache>
                <c:formatCode>General</c:formatCode>
                <c:ptCount val="4"/>
                <c:pt idx="0">
                  <c:v>-0.4</c:v>
                </c:pt>
                <c:pt idx="1">
                  <c:v>-32.9</c:v>
                </c:pt>
                <c:pt idx="2">
                  <c:v>-55.1</c:v>
                </c:pt>
                <c:pt idx="3">
                  <c:v>-45.6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40"/>
          <c:min val="-80"/>
        </c:scaling>
        <c:delete val="0"/>
        <c:axPos val="l"/>
        <c:majorGridlines>
          <c:spPr>
            <a:ln w="9525" cap="flat">
              <a:solidFill>
                <a:srgbClr val="E3E6EA"/>
              </a:solidFill>
              <a:prstDash val="solid"/>
              <a:round/>
            </a:ln>
          </c:spPr>
        </c:majorGridlines>
        <c:title>
          <c:tx>
            <c:rich>
              <a:bodyPr/>
              <a:lstStyle/>
              <a:p>
                <a:pPr>
                  <a:defRPr sz="1100" b="0" i="0" u="none" strike="noStrike">
                    <a:solidFill>
                      <a:srgbClr val="6B7480"/>
                    </a:solidFill>
                    <a:latin typeface="Calibri"/>
                  </a:defRPr>
                </a:pPr>
                <a:r>
                  <a:rPr sz="1100" b="0" i="0" u="none" strike="noStrike">
                    <a:solidFill>
                      <a:srgbClr val="6B7480"/>
                    </a:solidFill>
                    <a:latin typeface="Calibri"/>
                  </a:rPr>
                  <a:t>Change from baseline, %</a:t>
                </a:r>
              </a:p>
            </c:rich>
          </c:tx>
          <c:layout/>
          <c:overlay val="0"/>
        </c:title>
        <c:numFmt formatCode="+0;-0;0"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Change</c:v>
                </c:pt>
              </c:strCache>
            </c:strRef>
          </c:tx>
          <c:spPr>
            <a:solidFill>
              <a:srgbClr val="2A78D6"/>
            </a:solidFill>
            <a:effectLst/>
          </c:spPr>
          <c:invertIfNegative val="0"/>
          <c:dPt>
            <c:idx val="0"/>
            <c:invertIfNegative val="0"/>
            <c:bubble3D val="0"/>
            <c:spPr>
              <a:solidFill>
                <a:srgbClr val="2A78D6"/>
              </a:solidFill>
            </c:spPr>
          </c:dPt>
          <c:dPt>
            <c:idx val="1"/>
            <c:invertIfNegative val="0"/>
            <c:bubble3D val="0"/>
            <c:spPr>
              <a:solidFill>
                <a:srgbClr val="1BAF7A"/>
              </a:solidFill>
            </c:spPr>
          </c:dPt>
          <c:dPt>
            <c:idx val="2"/>
            <c:invertIfNegative val="0"/>
            <c:bubble3D val="0"/>
            <c:spPr>
              <a:solidFill>
                <a:srgbClr val="EB6834"/>
              </a:solidFill>
            </c:spPr>
          </c:dPt>
          <c:dPt>
            <c:idx val="3"/>
            <c:invertIfNegative val="0"/>
            <c:bubble3D val="0"/>
            <c:spPr>
              <a:solidFill>
                <a:srgbClr val="4A3AA7"/>
              </a:solidFill>
            </c:spPr>
          </c:dPt>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errBars>
            <c:errDir val="y"/>
            <c:errBarType val="both"/>
            <c:errValType val="cust"/>
            <c:noEndCap val="0"/>
            <c:plus>
              <c:numLit>
                <c:formatCode>General</c:formatCode>
                <c:ptCount val="4"/>
                <c:pt idx="0">
                  <c:v>15.21</c:v>
                </c:pt>
                <c:pt idx="1">
                  <c:v>12.6</c:v>
                </c:pt>
                <c:pt idx="2">
                  <c:v>9.71</c:v>
                </c:pt>
                <c:pt idx="3">
                  <c:v>7.73</c:v>
                </c:pt>
              </c:numLit>
            </c:plus>
            <c:minus>
              <c:numLit>
                <c:formatCode>General</c:formatCode>
                <c:ptCount val="4"/>
                <c:pt idx="0">
                  <c:v>13.36</c:v>
                </c:pt>
                <c:pt idx="1">
                  <c:v>11.27</c:v>
                </c:pt>
                <c:pt idx="2">
                  <c:v>8.68</c:v>
                </c:pt>
                <c:pt idx="3">
                  <c:v>6.89</c:v>
                </c:pt>
              </c:numLit>
            </c:minus>
            <c:spPr>
              <a:ln w="19050" cap="rnd">
                <a:solidFill>
                  <a:srgbClr val="1B2430"/>
                </a:solidFill>
                <a:round/>
              </a:ln>
            </c:spPr>
          </c:errBars>
          <c:cat>
            <c:multiLvlStrRef>
              <c:f>Sheet1!$A$2:$A$5</c:f>
              <c:multiLvlStrCache>
                <c:ptCount val="4"/>
                <c:lvl>
                  <c:pt idx="0">
                    <c:v>Control</c:v>
                  </c:pt>
                  <c:pt idx="1">
                    <c:v>Acidification</c:v>
                  </c:pt>
                  <c:pt idx="2">
                    <c:v>Warming</c:v>
                  </c:pt>
                  <c:pt idx="3">
                    <c:v>Hypoxia</c:v>
                  </c:pt>
                </c:lvl>
              </c:multiLvlStrCache>
            </c:multiLvlStrRef>
          </c:cat>
          <c:val>
            <c:numRef>
              <c:f>Sheet1!$B$2:$B$5</c:f>
              <c:numCache>
                <c:formatCode>General</c:formatCode>
                <c:ptCount val="4"/>
                <c:pt idx="0">
                  <c:v>9.9</c:v>
                </c:pt>
                <c:pt idx="1">
                  <c:v>6.9</c:v>
                </c:pt>
                <c:pt idx="2">
                  <c:v>-18.4</c:v>
                </c:pt>
                <c:pt idx="3">
                  <c:v>-36.7</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9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40"/>
          <c:min val="-80"/>
        </c:scaling>
        <c:delete val="0"/>
        <c:axPos val="l"/>
        <c:majorGridlines>
          <c:spPr>
            <a:ln w="9525" cap="flat">
              <a:solidFill>
                <a:srgbClr val="E3E6EA"/>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Cohesive (plaque holds, thread yields)</c:v>
                </c:pt>
              </c:strCache>
            </c:strRef>
          </c:tx>
          <c:spPr>
            <a:solidFill>
              <a:srgbClr val="008300"/>
            </a:solidFill>
            <a:effectLst/>
          </c:spPr>
          <c:invertIfNegative val="0"/>
          <c:dLbls>
            <c:numFmt formatCode="0&quot;%&quot;"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Baseline</c:v>
                  </c:pt>
                  <c:pt idx="1">
                    <c:v>Control</c:v>
                  </c:pt>
                  <c:pt idx="2">
                    <c:v>Acidification</c:v>
                  </c:pt>
                  <c:pt idx="3">
                    <c:v>Warming</c:v>
                  </c:pt>
                  <c:pt idx="4">
                    <c:v>Hypoxia</c:v>
                  </c:pt>
                </c:lvl>
              </c:multiLvlStrCache>
            </c:multiLvlStrRef>
          </c:cat>
          <c:val>
            <c:numRef>
              <c:f>Sheet1!$B$2:$B$6</c:f>
              <c:numCache>
                <c:formatCode>General</c:formatCode>
                <c:ptCount val="5"/>
                <c:pt idx="0">
                  <c:v>47.2</c:v>
                </c:pt>
                <c:pt idx="1">
                  <c:v>64.7</c:v>
                </c:pt>
                <c:pt idx="2">
                  <c:v>41</c:v>
                </c:pt>
                <c:pt idx="3">
                  <c:v>40.3</c:v>
                </c:pt>
                <c:pt idx="4">
                  <c:v>43.9</c:v>
                </c:pt>
              </c:numCache>
            </c:numRef>
          </c:val>
        </c:ser>
        <c:ser>
          <c:idx val="1"/>
          <c:order val="1"/>
          <c:tx>
            <c:strRef>
              <c:f>Sheet1!$C$1</c:f>
              <c:strCache>
                <c:ptCount val="1"/>
                <c:pt idx="0">
                  <c:v>Peeling (plaque lifts from the substrate)</c:v>
                </c:pt>
              </c:strCache>
            </c:strRef>
          </c:tx>
          <c:spPr>
            <a:solidFill>
              <a:srgbClr val="EDA100"/>
            </a:solidFill>
            <a:effectLst/>
          </c:spPr>
          <c:invertIfNegative val="0"/>
          <c:dLbls>
            <c:numFmt formatCode="0&quot;%&quot;"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Baseline</c:v>
                  </c:pt>
                  <c:pt idx="1">
                    <c:v>Control</c:v>
                  </c:pt>
                  <c:pt idx="2">
                    <c:v>Acidification</c:v>
                  </c:pt>
                  <c:pt idx="3">
                    <c:v>Warming</c:v>
                  </c:pt>
                  <c:pt idx="4">
                    <c:v>Hypoxia</c:v>
                  </c:pt>
                </c:lvl>
              </c:multiLvlStrCache>
            </c:multiLvlStrRef>
          </c:cat>
          <c:val>
            <c:numRef>
              <c:f>Sheet1!$C$2:$C$6</c:f>
              <c:numCache>
                <c:formatCode>General</c:formatCode>
                <c:ptCount val="5"/>
                <c:pt idx="0">
                  <c:v>41</c:v>
                </c:pt>
                <c:pt idx="1">
                  <c:v>23.5</c:v>
                </c:pt>
                <c:pt idx="2">
                  <c:v>41</c:v>
                </c:pt>
                <c:pt idx="3">
                  <c:v>40.3</c:v>
                </c:pt>
                <c:pt idx="4">
                  <c:v>48.8</c:v>
                </c:pt>
              </c:numCache>
            </c:numRef>
          </c:val>
        </c:ser>
        <c:ser>
          <c:idx val="2"/>
          <c:order val="2"/>
          <c:tx>
            <c:strRef>
              <c:f>Sheet1!$D$1</c:f>
              <c:strCache>
                <c:ptCount val="1"/>
                <c:pt idx="0">
                  <c:v>Tearing or thread break</c:v>
                </c:pt>
              </c:strCache>
            </c:strRef>
          </c:tx>
          <c:spPr>
            <a:solidFill>
              <a:srgbClr val="E87BA4"/>
            </a:solidFill>
            <a:effectLst/>
          </c:spPr>
          <c:invertIfNegative val="0"/>
          <c:dLbls>
            <c:numFmt formatCode="0&quot;%&quot;"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cat>
            <c:multiLvlStrRef>
              <c:f>Sheet1!$A$2:$A$6</c:f>
              <c:multiLvlStrCache>
                <c:ptCount val="5"/>
                <c:lvl>
                  <c:pt idx="0">
                    <c:v>Baseline</c:v>
                  </c:pt>
                  <c:pt idx="1">
                    <c:v>Control</c:v>
                  </c:pt>
                  <c:pt idx="2">
                    <c:v>Acidification</c:v>
                  </c:pt>
                  <c:pt idx="3">
                    <c:v>Warming</c:v>
                  </c:pt>
                  <c:pt idx="4">
                    <c:v>Hypoxia</c:v>
                  </c:pt>
                </c:lvl>
              </c:multiLvlStrCache>
            </c:multiLvlStrRef>
          </c:cat>
          <c:val>
            <c:numRef>
              <c:f>Sheet1!$D$2:$D$6</c:f>
              <c:numCache>
                <c:formatCode>General</c:formatCode>
                <c:ptCount val="5"/>
                <c:pt idx="0">
                  <c:v>11.8</c:v>
                </c:pt>
                <c:pt idx="1">
                  <c:v>11.8</c:v>
                </c:pt>
                <c:pt idx="2">
                  <c:v>17.9</c:v>
                </c:pt>
                <c:pt idx="3">
                  <c:v>19.4</c:v>
                </c:pt>
                <c:pt idx="4">
                  <c:v>7.3</c:v>
                </c:pt>
              </c:numCache>
            </c:numRef>
          </c:val>
        </c:ser>
        <c:dLbls>
          <c:numFmt formatCode="0&quot;%&quot;" sourceLinked="0"/>
          <c:txPr>
            <a:bodyPr/>
            <a:lstStyle/>
            <a:p>
              <a:pPr>
                <a:defRPr b="0" i="0" strike="noStrike" sz="1100" u="none">
                  <a:solidFill>
                    <a:srgbClr val="FFFFFF"/>
                  </a:solidFill>
                  <a:latin typeface="Calibri"/>
                </a:defRPr>
              </a:pPr>
            </a:p>
          </c:txPr>
          <c:dLblPos val="ctr"/>
          <c:showLegendKey val="0"/>
          <c:showVal val="1"/>
          <c:showCatName val="0"/>
          <c:showSerName val="0"/>
          <c:showPercent val="0"/>
          <c:showBubbleSize val="0"/>
          <c:showLeaderLines val="0"/>
        </c:dLbls>
        <c:gapWidth val="6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25"/>
      </c:valAx>
      <c:spPr>
        <a:noFill/>
        <a:ln>
          <a:noFill/>
        </a:ln>
        <a:effectLst/>
      </c:spPr>
    </c:plotArea>
    <c:legend>
      <c:legendPos val="b"/>
      <c:overlay val="0"/>
      <c:txPr>
        <a:bodyPr/>
        <a:lstStyle/>
        <a:p>
          <a:pPr>
            <a:defRPr sz="1100">
              <a:solidFill>
                <a:srgbClr val="1B243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DEGs</c:v>
                </c:pt>
              </c:strCache>
            </c:strRef>
          </c:tx>
          <c:spPr>
            <a:solidFill>
              <a:srgbClr val="1BAF7A"/>
            </a:solidFill>
            <a:effectLst/>
          </c:spPr>
          <c:invertIfNegative val="0"/>
          <c:dPt>
            <c:idx val="0"/>
            <c:invertIfNegative val="0"/>
            <c:bubble3D val="0"/>
            <c:spPr>
              <a:solidFill>
                <a:srgbClr val="1BAF7A"/>
              </a:solidFill>
            </c:spPr>
          </c:dPt>
          <c:dPt>
            <c:idx val="1"/>
            <c:invertIfNegative val="0"/>
            <c:bubble3D val="0"/>
            <c:spPr>
              <a:solidFill>
                <a:srgbClr val="EB6834"/>
              </a:solidFill>
            </c:spPr>
          </c:dPt>
          <c:dPt>
            <c:idx val="2"/>
            <c:invertIfNegative val="0"/>
            <c:bubble3D val="0"/>
            <c:spPr>
              <a:solidFill>
                <a:srgbClr val="4A3AA7"/>
              </a:solidFill>
            </c:spPr>
          </c:dPt>
          <c:dLbls>
            <c:numFmt formatCode="#,##0" sourceLinked="0"/>
            <c:txPr>
              <a:bodyPr/>
              <a:lstStyle/>
              <a:p>
                <a:pPr>
                  <a:defRPr b="0" i="0" strike="noStrike" sz="1300" u="none">
                    <a:solidFill>
                      <a:srgbClr val="1B243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Acidification</c:v>
                  </c:pt>
                  <c:pt idx="1">
                    <c:v>Warming</c:v>
                  </c:pt>
                  <c:pt idx="2">
                    <c:v>Hypoxia</c:v>
                  </c:pt>
                </c:lvl>
              </c:multiLvlStrCache>
            </c:multiLvlStrRef>
          </c:cat>
          <c:val>
            <c:numRef>
              <c:f>Sheet1!$B$2:$B$4</c:f>
              <c:numCache>
                <c:formatCode>General</c:formatCode>
                <c:ptCount val="3"/>
                <c:pt idx="0">
                  <c:v>80</c:v>
                </c:pt>
                <c:pt idx="1">
                  <c:v>153</c:v>
                </c:pt>
                <c:pt idx="2">
                  <c:v>351</c:v>
                </c:pt>
              </c:numCache>
            </c:numRef>
          </c:val>
        </c:ser>
        <c:dLbls>
          <c:numFmt formatCode="#,##0" sourceLinked="0"/>
          <c:txPr>
            <a:bodyPr/>
            <a:lstStyle/>
            <a:p>
              <a:pPr>
                <a:defRPr b="0" i="0" strike="noStrike" sz="1300" u="none">
                  <a:solidFill>
                    <a:srgbClr val="1B2430"/>
                  </a:solidFill>
                  <a:latin typeface="Calibri"/>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800"/>
          <c:min val="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200"/>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DEGs</c:v>
                </c:pt>
              </c:strCache>
            </c:strRef>
          </c:tx>
          <c:spPr>
            <a:solidFill>
              <a:srgbClr val="1BAF7A"/>
            </a:solidFill>
            <a:effectLst/>
          </c:spPr>
          <c:invertIfNegative val="0"/>
          <c:dPt>
            <c:idx val="0"/>
            <c:invertIfNegative val="0"/>
            <c:bubble3D val="0"/>
            <c:spPr>
              <a:solidFill>
                <a:srgbClr val="1BAF7A"/>
              </a:solidFill>
            </c:spPr>
          </c:dPt>
          <c:dPt>
            <c:idx val="1"/>
            <c:invertIfNegative val="0"/>
            <c:bubble3D val="0"/>
            <c:spPr>
              <a:solidFill>
                <a:srgbClr val="EB6834"/>
              </a:solidFill>
            </c:spPr>
          </c:dPt>
          <c:dPt>
            <c:idx val="2"/>
            <c:invertIfNegative val="0"/>
            <c:bubble3D val="0"/>
            <c:spPr>
              <a:solidFill>
                <a:srgbClr val="4A3AA7"/>
              </a:solidFill>
            </c:spPr>
          </c:dPt>
          <c:dLbls>
            <c:numFmt formatCode="#,##0" sourceLinked="0"/>
            <c:txPr>
              <a:bodyPr/>
              <a:lstStyle/>
              <a:p>
                <a:pPr>
                  <a:defRPr b="0" i="0" strike="noStrike" sz="1300" u="none">
                    <a:solidFill>
                      <a:srgbClr val="1B2430"/>
                    </a:solidFill>
                    <a:latin typeface="Calibri"/>
                  </a:defRPr>
                </a:pPr>
              </a:p>
            </c:txPr>
            <c:showLegendKey val="0"/>
            <c:showVal val="1"/>
            <c:showCatName val="0"/>
            <c:showSerName val="0"/>
            <c:showPercent val="0"/>
            <c:showBubbleSize val="0"/>
            <c:showLeaderLines val="0"/>
          </c:dLbls>
          <c:cat>
            <c:multiLvlStrRef>
              <c:f>Sheet1!$A$2:$A$4</c:f>
              <c:multiLvlStrCache>
                <c:ptCount val="3"/>
                <c:lvl>
                  <c:pt idx="0">
                    <c:v>Acidification</c:v>
                  </c:pt>
                  <c:pt idx="1">
                    <c:v>Warming</c:v>
                  </c:pt>
                  <c:pt idx="2">
                    <c:v>Hypoxia</c:v>
                  </c:pt>
                </c:lvl>
              </c:multiLvlStrCache>
            </c:multiLvlStrRef>
          </c:cat>
          <c:val>
            <c:numRef>
              <c:f>Sheet1!$B$2:$B$4</c:f>
              <c:numCache>
                <c:formatCode>General</c:formatCode>
                <c:ptCount val="3"/>
                <c:pt idx="0">
                  <c:v>711</c:v>
                </c:pt>
                <c:pt idx="1">
                  <c:v>175</c:v>
                </c:pt>
                <c:pt idx="2">
                  <c:v>307</c:v>
                </c:pt>
              </c:numCache>
            </c:numRef>
          </c:val>
        </c:ser>
        <c:dLbls>
          <c:numFmt formatCode="#,##0" sourceLinked="0"/>
          <c:txPr>
            <a:bodyPr/>
            <a:lstStyle/>
            <a:p>
              <a:pPr>
                <a:defRPr b="0" i="0" strike="noStrike" sz="1300" u="none">
                  <a:solidFill>
                    <a:srgbClr val="1B2430"/>
                  </a:solidFill>
                  <a:latin typeface="Calibri"/>
                </a:defRPr>
              </a:pPr>
            </a:p>
          </c:txPr>
          <c:showLegendKey val="0"/>
          <c:showVal val="1"/>
          <c:showCatName val="0"/>
          <c:showSerName val="0"/>
          <c:showPercent val="0"/>
          <c:showBubbleSize val="0"/>
          <c:showLeaderLines val="0"/>
        </c:dLbls>
        <c:gapWidth val="8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noMultiLvlLbl val="1"/>
      </c:catAx>
      <c:valAx>
        <c:axId val="2094734552"/>
        <c:scaling>
          <c:orientation val="minMax"/>
          <c:max val="800"/>
          <c:min val="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between"/>
        <c:majorUnit val="200"/>
      </c:valAx>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mfp-2</c:v>
                </c:pt>
              </c:strCache>
            </c:strRef>
          </c:tx>
          <c:spPr>
            <a:solidFill>
              <a:srgbClr val="1F6F8B"/>
            </a:solidFill>
            <a:ln>
              <a:noFill/>
            </a:ln>
            <a:effectLst/>
          </c:spPr>
          <c:marker>
            <c:symbol val="circle"/>
            <c:size val="9"/>
            <c:spPr>
              <a:solidFill>
                <a:srgbClr val="1F6F8B"/>
              </a:solidFill>
              <a:ln w="9525" cap="flat">
                <a:solidFill>
                  <a:srgbClr val="1F6F8B"/>
                </a:solidFill>
                <a:prstDash val="solid"/>
                <a:round/>
              </a:ln>
              <a:effectLst/>
            </c:spPr>
          </c:marker>
          <c:xVal>
            <c:numRef>
              <c:f>Sheet1!$A$2:$A$47</c:f>
              <c:numCache>
                <c:formatCode>General</c:formatCode>
                <c:ptCount val="46"/>
                <c:pt idx="0">
                  <c:v>0.72</c:v>
                </c:pt>
                <c:pt idx="1">
                  <c:v>1.18</c:v>
                </c:pt>
                <c:pt idx="2">
                  <c:v>0.9</c:v>
                </c:pt>
                <c:pt idx="3">
                  <c:v>1.28</c:v>
                </c:pt>
                <c:pt idx="4">
                  <c:v>1</c:v>
                </c:pt>
                <c:pt idx="5">
                  <c:v>0.8</c:v>
                </c:pt>
                <c:pt idx="6">
                  <c:v>1.1</c:v>
                </c:pt>
                <c:pt idx="7">
                  <c:v>1.24</c:v>
                </c:pt>
                <c:pt idx="8">
                  <c:v>0.96</c:v>
                </c:pt>
                <c:pt idx="9">
                  <c:v>1.14</c:v>
                </c:pt>
                <c:pt idx="10">
                  <c:v>0.76</c:v>
                </c:pt>
                <c:pt idx="11">
                  <c:v>1.04</c:v>
                </c:pt>
                <c:pt idx="12">
                  <c:v>1.72</c:v>
                </c:pt>
                <c:pt idx="13">
                  <c:v>2.18</c:v>
                </c:pt>
                <c:pt idx="14">
                  <c:v>1.9</c:v>
                </c:pt>
                <c:pt idx="15">
                  <c:v>2.28</c:v>
                </c:pt>
                <c:pt idx="16">
                  <c:v>2</c:v>
                </c:pt>
                <c:pt idx="17">
                  <c:v>1.8</c:v>
                </c:pt>
                <c:pt idx="18">
                  <c:v>2.1</c:v>
                </c:pt>
                <c:pt idx="19">
                  <c:v>2.24</c:v>
                </c:pt>
                <c:pt idx="20">
                  <c:v>1.96</c:v>
                </c:pt>
                <c:pt idx="21">
                  <c:v>2.14</c:v>
                </c:pt>
                <c:pt idx="22">
                  <c:v>1.76</c:v>
                </c:pt>
                <c:pt idx="23">
                  <c:v>2.04</c:v>
                </c:pt>
                <c:pt idx="24">
                  <c:v>2.72</c:v>
                </c:pt>
                <c:pt idx="25">
                  <c:v>3.18</c:v>
                </c:pt>
                <c:pt idx="26">
                  <c:v>2.9</c:v>
                </c:pt>
                <c:pt idx="27">
                  <c:v>3.28</c:v>
                </c:pt>
                <c:pt idx="28">
                  <c:v>3</c:v>
                </c:pt>
                <c:pt idx="29">
                  <c:v>2.8</c:v>
                </c:pt>
                <c:pt idx="30">
                  <c:v>3.1</c:v>
                </c:pt>
                <c:pt idx="31">
                  <c:v>3.24</c:v>
                </c:pt>
                <c:pt idx="32">
                  <c:v>2.96</c:v>
                </c:pt>
                <c:pt idx="33">
                  <c:v>3.14</c:v>
                </c:pt>
                <c:pt idx="34">
                  <c:v>2.76</c:v>
                </c:pt>
                <c:pt idx="35">
                  <c:v>3.04</c:v>
                </c:pt>
                <c:pt idx="36">
                  <c:v>3.72</c:v>
                </c:pt>
                <c:pt idx="37">
                  <c:v>4.18</c:v>
                </c:pt>
                <c:pt idx="38">
                  <c:v>3.9</c:v>
                </c:pt>
                <c:pt idx="39">
                  <c:v>4.28</c:v>
                </c:pt>
                <c:pt idx="40">
                  <c:v>4</c:v>
                </c:pt>
                <c:pt idx="41">
                  <c:v>3.8</c:v>
                </c:pt>
                <c:pt idx="42">
                  <c:v>4.1</c:v>
                </c:pt>
                <c:pt idx="43">
                  <c:v>4.24</c:v>
                </c:pt>
                <c:pt idx="44">
                  <c:v>3.96</c:v>
                </c:pt>
                <c:pt idx="45">
                  <c:v>4.14</c:v>
                </c:pt>
              </c:numCache>
            </c:numRef>
          </c:xVal>
          <c:yVal>
            <c:numRef>
              <c:f>Sheet1!$B$2:$B$47</c:f>
              <c:numCache>
                <c:formatCode>General</c:formatCode>
                <c:ptCount val="46"/>
                <c:pt idx="0">
                  <c:v>0</c:v>
                </c:pt>
                <c:pt idx="1">
                  <c:v>0</c:v>
                </c:pt>
                <c:pt idx="2">
                  <c:v>0</c:v>
                </c:pt>
                <c:pt idx="3">
                  <c:v>0</c:v>
                </c:pt>
                <c:pt idx="4">
                  <c:v>0</c:v>
                </c:pt>
                <c:pt idx="5">
                  <c:v>0.924</c:v>
                </c:pt>
                <c:pt idx="6">
                  <c:v>1.824</c:v>
                </c:pt>
                <c:pt idx="7">
                  <c:v>2.249</c:v>
                </c:pt>
                <c:pt idx="8">
                  <c:v>2.25</c:v>
                </c:pt>
                <c:pt idx="9">
                  <c:v>2.646</c:v>
                </c:pt>
                <c:pt idx="10">
                  <c:v>3.532</c:v>
                </c:pt>
                <c:pt idx="11">
                  <c:v>3.676</c:v>
                </c:pt>
                <c:pt idx="12">
                  <c:v>0</c:v>
                </c:pt>
                <c:pt idx="13">
                  <c:v>0</c:v>
                </c:pt>
                <c:pt idx="14">
                  <c:v>0</c:v>
                </c:pt>
                <c:pt idx="15">
                  <c:v>0</c:v>
                </c:pt>
                <c:pt idx="16">
                  <c:v>0</c:v>
                </c:pt>
                <c:pt idx="17">
                  <c:v>0</c:v>
                </c:pt>
                <c:pt idx="18">
                  <c:v>0</c:v>
                </c:pt>
                <c:pt idx="19">
                  <c:v>0</c:v>
                </c:pt>
                <c:pt idx="20">
                  <c:v>1.455</c:v>
                </c:pt>
                <c:pt idx="21">
                  <c:v>1.972</c:v>
                </c:pt>
                <c:pt idx="22">
                  <c:v>3.195</c:v>
                </c:pt>
                <c:pt idx="23">
                  <c:v>3.697</c:v>
                </c:pt>
                <c:pt idx="24">
                  <c:v>0</c:v>
                </c:pt>
                <c:pt idx="25">
                  <c:v>0</c:v>
                </c:pt>
                <c:pt idx="26">
                  <c:v>0</c:v>
                </c:pt>
                <c:pt idx="27">
                  <c:v>0</c:v>
                </c:pt>
                <c:pt idx="28">
                  <c:v>0</c:v>
                </c:pt>
                <c:pt idx="29">
                  <c:v>0</c:v>
                </c:pt>
                <c:pt idx="30">
                  <c:v>1.489</c:v>
                </c:pt>
                <c:pt idx="31">
                  <c:v>1.585</c:v>
                </c:pt>
                <c:pt idx="32">
                  <c:v>3.204</c:v>
                </c:pt>
                <c:pt idx="33">
                  <c:v>3.453</c:v>
                </c:pt>
                <c:pt idx="34">
                  <c:v>3.761</c:v>
                </c:pt>
                <c:pt idx="35">
                  <c:v>3.805</c:v>
                </c:pt>
                <c:pt idx="36">
                  <c:v>0</c:v>
                </c:pt>
                <c:pt idx="37">
                  <c:v>0</c:v>
                </c:pt>
                <c:pt idx="38">
                  <c:v>0</c:v>
                </c:pt>
                <c:pt idx="39">
                  <c:v>0</c:v>
                </c:pt>
                <c:pt idx="40">
                  <c:v>1.061</c:v>
                </c:pt>
                <c:pt idx="41">
                  <c:v>2.021</c:v>
                </c:pt>
                <c:pt idx="42">
                  <c:v>2.816</c:v>
                </c:pt>
                <c:pt idx="43">
                  <c:v>3.037</c:v>
                </c:pt>
                <c:pt idx="44">
                  <c:v>3.32</c:v>
                </c:pt>
                <c:pt idx="45">
                  <c:v>3.651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4.5"/>
          <c:min val="0.5"/>
        </c:scaling>
        <c:delete val="1"/>
        <c:axPos val="b"/>
        <c:numFmt formatCode="General" sourceLinked="1"/>
        <c:majorTickMark val="none"/>
        <c:minorTickMark val="none"/>
        <c:tickLblPos val="nextTo"/>
        <c:spPr>
          <a:ln w="12700" cap="flat">
            <a:no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noMultiLvlLbl val="1"/>
        <c:majorUnit val="1"/>
      </c:valAx>
      <c:valAx>
        <c:axId val="2094734552"/>
        <c:scaling>
          <c:orientation val="minMax"/>
          <c:max val="4"/>
          <c:min val="0"/>
        </c:scaling>
        <c:delete val="0"/>
        <c:axPos val="l"/>
        <c:majorGridlines>
          <c:spPr>
            <a:ln w="9525" cap="flat">
              <a:solidFill>
                <a:srgbClr val="E3E6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midCat"/>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mfp-2</c:v>
                </c:pt>
              </c:strCache>
            </c:strRef>
          </c:tx>
          <c:spPr>
            <a:solidFill>
              <a:srgbClr val="1F6F8B"/>
            </a:solidFill>
            <a:ln>
              <a:noFill/>
            </a:ln>
            <a:effectLst/>
          </c:spPr>
          <c:marker>
            <c:symbol val="circle"/>
            <c:size val="9"/>
            <c:spPr>
              <a:solidFill>
                <a:srgbClr val="1F6F8B"/>
              </a:solidFill>
              <a:ln w="9525" cap="flat">
                <a:solidFill>
                  <a:srgbClr val="1F6F8B"/>
                </a:solidFill>
                <a:prstDash val="solid"/>
                <a:round/>
              </a:ln>
              <a:effectLst/>
            </c:spPr>
          </c:marker>
          <c:dPt>
            <c:idx val="0"/>
            <c:marker>
              <c:symbol val="circle"/>
              <c:size val="9"/>
              <c:spPr>
                <a:solidFill>
                  <a:srgbClr val="16233A"/>
                </a:solidFill>
                <a:ln>
                  <a:noFill/>
                </a:ln>
              </c:spPr>
            </c:marker>
            <c:bubble3D val="0"/>
          </c:dPt>
          <c:dPt>
            <c:idx val="1"/>
            <c:marker>
              <c:symbol val="circle"/>
              <c:size val="9"/>
              <c:spPr>
                <a:solidFill>
                  <a:srgbClr val="16233A"/>
                </a:solidFill>
                <a:ln>
                  <a:noFill/>
                </a:ln>
              </c:spPr>
            </c:marker>
            <c:bubble3D val="0"/>
          </c:dPt>
          <c:dPt>
            <c:idx val="2"/>
            <c:marker>
              <c:symbol val="circle"/>
              <c:size val="9"/>
              <c:spPr>
                <a:solidFill>
                  <a:srgbClr val="16233A"/>
                </a:solidFill>
                <a:ln>
                  <a:noFill/>
                </a:ln>
              </c:spPr>
            </c:marker>
            <c:bubble3D val="0"/>
          </c:dPt>
          <c:dPt>
            <c:idx val="3"/>
            <c:marker>
              <c:symbol val="circle"/>
              <c:size val="9"/>
              <c:spPr>
                <a:solidFill>
                  <a:srgbClr val="16233A"/>
                </a:solidFill>
                <a:ln>
                  <a:noFill/>
                </a:ln>
              </c:spPr>
            </c:marker>
            <c:bubble3D val="0"/>
          </c:dPt>
          <c:dPt>
            <c:idx val="4"/>
            <c:marker>
              <c:symbol val="circle"/>
              <c:size val="9"/>
              <c:spPr>
                <a:solidFill>
                  <a:srgbClr val="16233A"/>
                </a:solidFill>
                <a:ln>
                  <a:noFill/>
                </a:ln>
              </c:spPr>
            </c:marker>
            <c:bubble3D val="0"/>
          </c:dPt>
          <c:dPt>
            <c:idx val="5"/>
            <c:marker>
              <c:symbol val="circle"/>
              <c:size val="9"/>
              <c:spPr>
                <a:solidFill>
                  <a:srgbClr val="16233A"/>
                </a:solidFill>
                <a:ln>
                  <a:noFill/>
                </a:ln>
              </c:spPr>
            </c:marker>
            <c:bubble3D val="0"/>
          </c:dPt>
          <c:dPt>
            <c:idx val="6"/>
            <c:marker>
              <c:symbol val="circle"/>
              <c:size val="9"/>
              <c:spPr>
                <a:solidFill>
                  <a:srgbClr val="16233A"/>
                </a:solidFill>
                <a:ln>
                  <a:noFill/>
                </a:ln>
              </c:spPr>
            </c:marker>
            <c:bubble3D val="0"/>
          </c:dPt>
          <c:dPt>
            <c:idx val="7"/>
            <c:marker>
              <c:symbol val="circle"/>
              <c:size val="9"/>
              <c:spPr>
                <a:solidFill>
                  <a:srgbClr val="16233A"/>
                </a:solidFill>
                <a:ln>
                  <a:noFill/>
                </a:ln>
              </c:spPr>
            </c:marker>
            <c:bubble3D val="0"/>
          </c:dPt>
          <c:dPt>
            <c:idx val="8"/>
            <c:marker>
              <c:symbol val="circle"/>
              <c:size val="9"/>
              <c:spPr>
                <a:solidFill>
                  <a:srgbClr val="16233A"/>
                </a:solidFill>
                <a:ln>
                  <a:noFill/>
                </a:ln>
              </c:spPr>
            </c:marker>
            <c:bubble3D val="0"/>
          </c:dPt>
          <c:dPt>
            <c:idx val="9"/>
            <c:marker>
              <c:symbol val="circle"/>
              <c:size val="9"/>
              <c:spPr>
                <a:solidFill>
                  <a:srgbClr val="16233A"/>
                </a:solidFill>
                <a:ln>
                  <a:noFill/>
                </a:ln>
              </c:spPr>
            </c:marker>
            <c:bubble3D val="0"/>
          </c:dPt>
          <c:dPt>
            <c:idx val="10"/>
            <c:marker>
              <c:symbol val="circle"/>
              <c:size val="9"/>
              <c:spPr>
                <a:solidFill>
                  <a:srgbClr val="16233A"/>
                </a:solidFill>
                <a:ln>
                  <a:noFill/>
                </a:ln>
              </c:spPr>
            </c:marker>
            <c:bubble3D val="0"/>
          </c:dPt>
          <c:dPt>
            <c:idx val="11"/>
            <c:marker>
              <c:symbol val="circle"/>
              <c:size val="9"/>
              <c:spPr>
                <a:solidFill>
                  <a:srgbClr val="16233A"/>
                </a:solidFill>
                <a:ln>
                  <a:noFill/>
                </a:ln>
              </c:spPr>
            </c:marker>
            <c:bubble3D val="0"/>
          </c:dPt>
          <c:dPt>
            <c:idx val="12"/>
            <c:marker>
              <c:symbol val="circle"/>
              <c:size val="9"/>
              <c:spPr>
                <a:solidFill>
                  <a:srgbClr val="2A78D6"/>
                </a:solidFill>
                <a:ln>
                  <a:noFill/>
                </a:ln>
              </c:spPr>
            </c:marker>
            <c:bubble3D val="0"/>
          </c:dPt>
          <c:dPt>
            <c:idx val="13"/>
            <c:marker>
              <c:symbol val="circle"/>
              <c:size val="9"/>
              <c:spPr>
                <a:solidFill>
                  <a:srgbClr val="2A78D6"/>
                </a:solidFill>
                <a:ln>
                  <a:noFill/>
                </a:ln>
              </c:spPr>
            </c:marker>
            <c:bubble3D val="0"/>
          </c:dPt>
          <c:dPt>
            <c:idx val="14"/>
            <c:marker>
              <c:symbol val="circle"/>
              <c:size val="9"/>
              <c:spPr>
                <a:solidFill>
                  <a:srgbClr val="2A78D6"/>
                </a:solidFill>
                <a:ln>
                  <a:noFill/>
                </a:ln>
              </c:spPr>
            </c:marker>
            <c:bubble3D val="0"/>
          </c:dPt>
          <c:dPt>
            <c:idx val="15"/>
            <c:marker>
              <c:symbol val="circle"/>
              <c:size val="9"/>
              <c:spPr>
                <a:solidFill>
                  <a:srgbClr val="2A78D6"/>
                </a:solidFill>
                <a:ln>
                  <a:noFill/>
                </a:ln>
              </c:spPr>
            </c:marker>
            <c:bubble3D val="0"/>
          </c:dPt>
          <c:dPt>
            <c:idx val="16"/>
            <c:marker>
              <c:symbol val="circle"/>
              <c:size val="9"/>
              <c:spPr>
                <a:solidFill>
                  <a:srgbClr val="2A78D6"/>
                </a:solidFill>
                <a:ln>
                  <a:noFill/>
                </a:ln>
              </c:spPr>
            </c:marker>
            <c:bubble3D val="0"/>
          </c:dPt>
          <c:dPt>
            <c:idx val="17"/>
            <c:marker>
              <c:symbol val="circle"/>
              <c:size val="9"/>
              <c:spPr>
                <a:solidFill>
                  <a:srgbClr val="2A78D6"/>
                </a:solidFill>
                <a:ln>
                  <a:noFill/>
                </a:ln>
              </c:spPr>
            </c:marker>
            <c:bubble3D val="0"/>
          </c:dPt>
          <c:dPt>
            <c:idx val="18"/>
            <c:marker>
              <c:symbol val="circle"/>
              <c:size val="9"/>
              <c:spPr>
                <a:solidFill>
                  <a:srgbClr val="2A78D6"/>
                </a:solidFill>
                <a:ln>
                  <a:noFill/>
                </a:ln>
              </c:spPr>
            </c:marker>
            <c:bubble3D val="0"/>
          </c:dPt>
          <c:dPt>
            <c:idx val="19"/>
            <c:marker>
              <c:symbol val="circle"/>
              <c:size val="9"/>
              <c:spPr>
                <a:solidFill>
                  <a:srgbClr val="2A78D6"/>
                </a:solidFill>
                <a:ln>
                  <a:noFill/>
                </a:ln>
              </c:spPr>
            </c:marker>
            <c:bubble3D val="0"/>
          </c:dPt>
          <c:dPt>
            <c:idx val="20"/>
            <c:marker>
              <c:symbol val="circle"/>
              <c:size val="9"/>
              <c:spPr>
                <a:solidFill>
                  <a:srgbClr val="2A78D6"/>
                </a:solidFill>
                <a:ln>
                  <a:noFill/>
                </a:ln>
              </c:spPr>
            </c:marker>
            <c:bubble3D val="0"/>
          </c:dPt>
          <c:dPt>
            <c:idx val="21"/>
            <c:marker>
              <c:symbol val="circle"/>
              <c:size val="9"/>
              <c:spPr>
                <a:solidFill>
                  <a:srgbClr val="2A78D6"/>
                </a:solidFill>
                <a:ln>
                  <a:noFill/>
                </a:ln>
              </c:spPr>
            </c:marker>
            <c:bubble3D val="0"/>
          </c:dPt>
          <c:dPt>
            <c:idx val="22"/>
            <c:marker>
              <c:symbol val="circle"/>
              <c:size val="9"/>
              <c:spPr>
                <a:solidFill>
                  <a:srgbClr val="2A78D6"/>
                </a:solidFill>
                <a:ln>
                  <a:noFill/>
                </a:ln>
              </c:spPr>
            </c:marker>
            <c:bubble3D val="0"/>
          </c:dPt>
          <c:dPt>
            <c:idx val="23"/>
            <c:marker>
              <c:symbol val="circle"/>
              <c:size val="9"/>
              <c:spPr>
                <a:solidFill>
                  <a:srgbClr val="2A78D6"/>
                </a:solidFill>
                <a:ln>
                  <a:noFill/>
                </a:ln>
              </c:spPr>
            </c:marker>
            <c:bubble3D val="0"/>
          </c:dPt>
          <c:dPt>
            <c:idx val="24"/>
            <c:marker>
              <c:symbol val="circle"/>
              <c:size val="9"/>
              <c:spPr>
                <a:solidFill>
                  <a:srgbClr val="1BAF7A"/>
                </a:solidFill>
                <a:ln>
                  <a:noFill/>
                </a:ln>
              </c:spPr>
            </c:marker>
            <c:bubble3D val="0"/>
          </c:dPt>
          <c:dPt>
            <c:idx val="25"/>
            <c:marker>
              <c:symbol val="circle"/>
              <c:size val="9"/>
              <c:spPr>
                <a:solidFill>
                  <a:srgbClr val="1BAF7A"/>
                </a:solidFill>
                <a:ln>
                  <a:noFill/>
                </a:ln>
              </c:spPr>
            </c:marker>
            <c:bubble3D val="0"/>
          </c:dPt>
          <c:dPt>
            <c:idx val="26"/>
            <c:marker>
              <c:symbol val="circle"/>
              <c:size val="9"/>
              <c:spPr>
                <a:solidFill>
                  <a:srgbClr val="1BAF7A"/>
                </a:solidFill>
                <a:ln>
                  <a:noFill/>
                </a:ln>
              </c:spPr>
            </c:marker>
            <c:bubble3D val="0"/>
          </c:dPt>
          <c:dPt>
            <c:idx val="27"/>
            <c:marker>
              <c:symbol val="circle"/>
              <c:size val="9"/>
              <c:spPr>
                <a:solidFill>
                  <a:srgbClr val="1BAF7A"/>
                </a:solidFill>
                <a:ln>
                  <a:noFill/>
                </a:ln>
              </c:spPr>
            </c:marker>
            <c:bubble3D val="0"/>
          </c:dPt>
          <c:dPt>
            <c:idx val="28"/>
            <c:marker>
              <c:symbol val="circle"/>
              <c:size val="9"/>
              <c:spPr>
                <a:solidFill>
                  <a:srgbClr val="1BAF7A"/>
                </a:solidFill>
                <a:ln>
                  <a:noFill/>
                </a:ln>
              </c:spPr>
            </c:marker>
            <c:bubble3D val="0"/>
          </c:dPt>
          <c:dPt>
            <c:idx val="29"/>
            <c:marker>
              <c:symbol val="circle"/>
              <c:size val="9"/>
              <c:spPr>
                <a:solidFill>
                  <a:srgbClr val="1BAF7A"/>
                </a:solidFill>
                <a:ln>
                  <a:noFill/>
                </a:ln>
              </c:spPr>
            </c:marker>
            <c:bubble3D val="0"/>
          </c:dPt>
          <c:dPt>
            <c:idx val="30"/>
            <c:marker>
              <c:symbol val="circle"/>
              <c:size val="9"/>
              <c:spPr>
                <a:solidFill>
                  <a:srgbClr val="1BAF7A"/>
                </a:solidFill>
                <a:ln>
                  <a:noFill/>
                </a:ln>
              </c:spPr>
            </c:marker>
            <c:bubble3D val="0"/>
          </c:dPt>
          <c:dPt>
            <c:idx val="31"/>
            <c:marker>
              <c:symbol val="circle"/>
              <c:size val="9"/>
              <c:spPr>
                <a:solidFill>
                  <a:srgbClr val="1BAF7A"/>
                </a:solidFill>
                <a:ln>
                  <a:noFill/>
                </a:ln>
              </c:spPr>
            </c:marker>
            <c:bubble3D val="0"/>
          </c:dPt>
          <c:dPt>
            <c:idx val="32"/>
            <c:marker>
              <c:symbol val="circle"/>
              <c:size val="9"/>
              <c:spPr>
                <a:solidFill>
                  <a:srgbClr val="1BAF7A"/>
                </a:solidFill>
                <a:ln>
                  <a:noFill/>
                </a:ln>
              </c:spPr>
            </c:marker>
            <c:bubble3D val="0"/>
          </c:dPt>
          <c:dPt>
            <c:idx val="33"/>
            <c:marker>
              <c:symbol val="circle"/>
              <c:size val="9"/>
              <c:spPr>
                <a:solidFill>
                  <a:srgbClr val="1BAF7A"/>
                </a:solidFill>
                <a:ln>
                  <a:noFill/>
                </a:ln>
              </c:spPr>
            </c:marker>
            <c:bubble3D val="0"/>
          </c:dPt>
          <c:dPt>
            <c:idx val="34"/>
            <c:marker>
              <c:symbol val="circle"/>
              <c:size val="9"/>
              <c:spPr>
                <a:solidFill>
                  <a:srgbClr val="1BAF7A"/>
                </a:solidFill>
                <a:ln>
                  <a:noFill/>
                </a:ln>
              </c:spPr>
            </c:marker>
            <c:bubble3D val="0"/>
          </c:dPt>
          <c:dPt>
            <c:idx val="35"/>
            <c:marker>
              <c:symbol val="circle"/>
              <c:size val="9"/>
              <c:spPr>
                <a:solidFill>
                  <a:srgbClr val="1BAF7A"/>
                </a:solidFill>
                <a:ln>
                  <a:noFill/>
                </a:ln>
              </c:spPr>
            </c:marker>
            <c:bubble3D val="0"/>
          </c:dPt>
          <c:dPt>
            <c:idx val="36"/>
            <c:marker>
              <c:symbol val="circle"/>
              <c:size val="9"/>
              <c:spPr>
                <a:solidFill>
                  <a:srgbClr val="EB6834"/>
                </a:solidFill>
                <a:ln>
                  <a:noFill/>
                </a:ln>
              </c:spPr>
            </c:marker>
            <c:bubble3D val="0"/>
          </c:dPt>
          <c:dPt>
            <c:idx val="37"/>
            <c:marker>
              <c:symbol val="circle"/>
              <c:size val="9"/>
              <c:spPr>
                <a:solidFill>
                  <a:srgbClr val="EB6834"/>
                </a:solidFill>
                <a:ln>
                  <a:noFill/>
                </a:ln>
              </c:spPr>
            </c:marker>
            <c:bubble3D val="0"/>
          </c:dPt>
          <c:dPt>
            <c:idx val="38"/>
            <c:marker>
              <c:symbol val="circle"/>
              <c:size val="9"/>
              <c:spPr>
                <a:solidFill>
                  <a:srgbClr val="EB6834"/>
                </a:solidFill>
                <a:ln>
                  <a:noFill/>
                </a:ln>
              </c:spPr>
            </c:marker>
            <c:bubble3D val="0"/>
          </c:dPt>
          <c:dPt>
            <c:idx val="39"/>
            <c:marker>
              <c:symbol val="circle"/>
              <c:size val="9"/>
              <c:spPr>
                <a:solidFill>
                  <a:srgbClr val="EB6834"/>
                </a:solidFill>
                <a:ln>
                  <a:noFill/>
                </a:ln>
              </c:spPr>
            </c:marker>
            <c:bubble3D val="0"/>
          </c:dPt>
          <c:dPt>
            <c:idx val="40"/>
            <c:marker>
              <c:symbol val="circle"/>
              <c:size val="9"/>
              <c:spPr>
                <a:solidFill>
                  <a:srgbClr val="EB6834"/>
                </a:solidFill>
                <a:ln>
                  <a:noFill/>
                </a:ln>
              </c:spPr>
            </c:marker>
            <c:bubble3D val="0"/>
          </c:dPt>
          <c:dPt>
            <c:idx val="41"/>
            <c:marker>
              <c:symbol val="circle"/>
              <c:size val="9"/>
              <c:spPr>
                <a:solidFill>
                  <a:srgbClr val="EB6834"/>
                </a:solidFill>
                <a:ln>
                  <a:noFill/>
                </a:ln>
              </c:spPr>
            </c:marker>
            <c:bubble3D val="0"/>
          </c:dPt>
          <c:dPt>
            <c:idx val="42"/>
            <c:marker>
              <c:symbol val="circle"/>
              <c:size val="9"/>
              <c:spPr>
                <a:solidFill>
                  <a:srgbClr val="EB6834"/>
                </a:solidFill>
                <a:ln>
                  <a:noFill/>
                </a:ln>
              </c:spPr>
            </c:marker>
            <c:bubble3D val="0"/>
          </c:dPt>
          <c:dPt>
            <c:idx val="43"/>
            <c:marker>
              <c:symbol val="circle"/>
              <c:size val="9"/>
              <c:spPr>
                <a:solidFill>
                  <a:srgbClr val="EB6834"/>
                </a:solidFill>
                <a:ln>
                  <a:noFill/>
                </a:ln>
              </c:spPr>
            </c:marker>
            <c:bubble3D val="0"/>
          </c:dPt>
          <c:dPt>
            <c:idx val="44"/>
            <c:marker>
              <c:symbol val="circle"/>
              <c:size val="9"/>
              <c:spPr>
                <a:solidFill>
                  <a:srgbClr val="EB6834"/>
                </a:solidFill>
                <a:ln>
                  <a:noFill/>
                </a:ln>
              </c:spPr>
            </c:marker>
            <c:bubble3D val="0"/>
          </c:dPt>
          <c:dPt>
            <c:idx val="45"/>
            <c:marker>
              <c:symbol val="circle"/>
              <c:size val="9"/>
              <c:spPr>
                <a:solidFill>
                  <a:srgbClr val="EB6834"/>
                </a:solidFill>
                <a:ln>
                  <a:noFill/>
                </a:ln>
              </c:spPr>
            </c:marker>
            <c:bubble3D val="0"/>
          </c:dPt>
          <c:dPt>
            <c:idx val="46"/>
            <c:marker>
              <c:symbol val="circle"/>
              <c:size val="9"/>
              <c:spPr>
                <a:solidFill>
                  <a:srgbClr val="EB6834"/>
                </a:solidFill>
                <a:ln>
                  <a:noFill/>
                </a:ln>
              </c:spPr>
            </c:marker>
            <c:bubble3D val="0"/>
          </c:dPt>
          <c:dPt>
            <c:idx val="47"/>
            <c:marker>
              <c:symbol val="circle"/>
              <c:size val="9"/>
              <c:spPr>
                <a:solidFill>
                  <a:srgbClr val="EB6834"/>
                </a:solidFill>
                <a:ln>
                  <a:noFill/>
                </a:ln>
              </c:spPr>
            </c:marker>
            <c:bubble3D val="0"/>
          </c:dPt>
          <c:dPt>
            <c:idx val="48"/>
            <c:marker>
              <c:symbol val="circle"/>
              <c:size val="9"/>
              <c:spPr>
                <a:solidFill>
                  <a:srgbClr val="4A3AA7"/>
                </a:solidFill>
                <a:ln>
                  <a:noFill/>
                </a:ln>
              </c:spPr>
            </c:marker>
            <c:bubble3D val="0"/>
          </c:dPt>
          <c:dPt>
            <c:idx val="49"/>
            <c:marker>
              <c:symbol val="circle"/>
              <c:size val="9"/>
              <c:spPr>
                <a:solidFill>
                  <a:srgbClr val="4A3AA7"/>
                </a:solidFill>
                <a:ln>
                  <a:noFill/>
                </a:ln>
              </c:spPr>
            </c:marker>
            <c:bubble3D val="0"/>
          </c:dPt>
          <c:dPt>
            <c:idx val="50"/>
            <c:marker>
              <c:symbol val="circle"/>
              <c:size val="9"/>
              <c:spPr>
                <a:solidFill>
                  <a:srgbClr val="4A3AA7"/>
                </a:solidFill>
                <a:ln>
                  <a:noFill/>
                </a:ln>
              </c:spPr>
            </c:marker>
            <c:bubble3D val="0"/>
          </c:dPt>
          <c:dPt>
            <c:idx val="51"/>
            <c:marker>
              <c:symbol val="circle"/>
              <c:size val="9"/>
              <c:spPr>
                <a:solidFill>
                  <a:srgbClr val="4A3AA7"/>
                </a:solidFill>
                <a:ln>
                  <a:noFill/>
                </a:ln>
              </c:spPr>
            </c:marker>
            <c:bubble3D val="0"/>
          </c:dPt>
          <c:dPt>
            <c:idx val="52"/>
            <c:marker>
              <c:symbol val="circle"/>
              <c:size val="9"/>
              <c:spPr>
                <a:solidFill>
                  <a:srgbClr val="4A3AA7"/>
                </a:solidFill>
                <a:ln>
                  <a:noFill/>
                </a:ln>
              </c:spPr>
            </c:marker>
            <c:bubble3D val="0"/>
          </c:dPt>
          <c:dPt>
            <c:idx val="53"/>
            <c:marker>
              <c:symbol val="circle"/>
              <c:size val="9"/>
              <c:spPr>
                <a:solidFill>
                  <a:srgbClr val="4A3AA7"/>
                </a:solidFill>
                <a:ln>
                  <a:noFill/>
                </a:ln>
              </c:spPr>
            </c:marker>
            <c:bubble3D val="0"/>
          </c:dPt>
          <c:dPt>
            <c:idx val="54"/>
            <c:marker>
              <c:symbol val="circle"/>
              <c:size val="9"/>
              <c:spPr>
                <a:solidFill>
                  <a:srgbClr val="4A3AA7"/>
                </a:solidFill>
                <a:ln>
                  <a:noFill/>
                </a:ln>
              </c:spPr>
            </c:marker>
            <c:bubble3D val="0"/>
          </c:dPt>
          <c:dPt>
            <c:idx val="55"/>
            <c:marker>
              <c:symbol val="circle"/>
              <c:size val="9"/>
              <c:spPr>
                <a:solidFill>
                  <a:srgbClr val="4A3AA7"/>
                </a:solidFill>
                <a:ln>
                  <a:noFill/>
                </a:ln>
              </c:spPr>
            </c:marker>
            <c:bubble3D val="0"/>
          </c:dPt>
          <c:dPt>
            <c:idx val="56"/>
            <c:marker>
              <c:symbol val="circle"/>
              <c:size val="9"/>
              <c:spPr>
                <a:solidFill>
                  <a:srgbClr val="4A3AA7"/>
                </a:solidFill>
                <a:ln>
                  <a:noFill/>
                </a:ln>
              </c:spPr>
            </c:marker>
            <c:bubble3D val="0"/>
          </c:dPt>
          <c:dPt>
            <c:idx val="57"/>
            <c:marker>
              <c:symbol val="circle"/>
              <c:size val="9"/>
              <c:spPr>
                <a:solidFill>
                  <a:srgbClr val="4A3AA7"/>
                </a:solidFill>
                <a:ln>
                  <a:noFill/>
                </a:ln>
              </c:spPr>
            </c:marker>
            <c:bubble3D val="0"/>
          </c:dPt>
          <c:xVal>
            <c:numRef>
              <c:f>Sheet1!$A$2:$A$59</c:f>
              <c:numCache>
                <c:formatCode>General</c:formatCode>
                <c:ptCount val="58"/>
                <c:pt idx="0">
                  <c:v>0.72</c:v>
                </c:pt>
                <c:pt idx="1">
                  <c:v>1.18</c:v>
                </c:pt>
                <c:pt idx="2">
                  <c:v>0.9</c:v>
                </c:pt>
                <c:pt idx="3">
                  <c:v>1.28</c:v>
                </c:pt>
                <c:pt idx="4">
                  <c:v>1</c:v>
                </c:pt>
                <c:pt idx="5">
                  <c:v>0.8</c:v>
                </c:pt>
                <c:pt idx="6">
                  <c:v>1.1</c:v>
                </c:pt>
                <c:pt idx="7">
                  <c:v>1.24</c:v>
                </c:pt>
                <c:pt idx="8">
                  <c:v>0.96</c:v>
                </c:pt>
                <c:pt idx="9">
                  <c:v>1.14</c:v>
                </c:pt>
                <c:pt idx="10">
                  <c:v>0.76</c:v>
                </c:pt>
                <c:pt idx="11">
                  <c:v>1.04</c:v>
                </c:pt>
                <c:pt idx="12">
                  <c:v>1.72</c:v>
                </c:pt>
                <c:pt idx="13">
                  <c:v>2.18</c:v>
                </c:pt>
                <c:pt idx="14">
                  <c:v>1.9</c:v>
                </c:pt>
                <c:pt idx="15">
                  <c:v>2.28</c:v>
                </c:pt>
                <c:pt idx="16">
                  <c:v>2</c:v>
                </c:pt>
                <c:pt idx="17">
                  <c:v>1.8</c:v>
                </c:pt>
                <c:pt idx="18">
                  <c:v>2.1</c:v>
                </c:pt>
                <c:pt idx="19">
                  <c:v>2.24</c:v>
                </c:pt>
                <c:pt idx="20">
                  <c:v>1.96</c:v>
                </c:pt>
                <c:pt idx="21">
                  <c:v>2.14</c:v>
                </c:pt>
                <c:pt idx="22">
                  <c:v>1.76</c:v>
                </c:pt>
                <c:pt idx="23">
                  <c:v>2.04</c:v>
                </c:pt>
                <c:pt idx="24">
                  <c:v>2.72</c:v>
                </c:pt>
                <c:pt idx="25">
                  <c:v>3.18</c:v>
                </c:pt>
                <c:pt idx="26">
                  <c:v>2.9</c:v>
                </c:pt>
                <c:pt idx="27">
                  <c:v>3.28</c:v>
                </c:pt>
                <c:pt idx="28">
                  <c:v>3</c:v>
                </c:pt>
                <c:pt idx="29">
                  <c:v>2.8</c:v>
                </c:pt>
                <c:pt idx="30">
                  <c:v>3.1</c:v>
                </c:pt>
                <c:pt idx="31">
                  <c:v>3.24</c:v>
                </c:pt>
                <c:pt idx="32">
                  <c:v>2.96</c:v>
                </c:pt>
                <c:pt idx="33">
                  <c:v>3.14</c:v>
                </c:pt>
                <c:pt idx="34">
                  <c:v>2.76</c:v>
                </c:pt>
                <c:pt idx="35">
                  <c:v>3.04</c:v>
                </c:pt>
                <c:pt idx="36">
                  <c:v>3.72</c:v>
                </c:pt>
                <c:pt idx="37">
                  <c:v>4.18</c:v>
                </c:pt>
                <c:pt idx="38">
                  <c:v>3.9</c:v>
                </c:pt>
                <c:pt idx="39">
                  <c:v>4.28</c:v>
                </c:pt>
                <c:pt idx="40">
                  <c:v>4</c:v>
                </c:pt>
                <c:pt idx="41">
                  <c:v>3.8</c:v>
                </c:pt>
                <c:pt idx="42">
                  <c:v>4.1</c:v>
                </c:pt>
                <c:pt idx="43">
                  <c:v>4.24</c:v>
                </c:pt>
                <c:pt idx="44">
                  <c:v>3.96</c:v>
                </c:pt>
                <c:pt idx="45">
                  <c:v>4.14</c:v>
                </c:pt>
                <c:pt idx="46">
                  <c:v>3.76</c:v>
                </c:pt>
                <c:pt idx="47">
                  <c:v>4.04</c:v>
                </c:pt>
                <c:pt idx="48">
                  <c:v>4.72</c:v>
                </c:pt>
                <c:pt idx="49">
                  <c:v>5.18</c:v>
                </c:pt>
                <c:pt idx="50">
                  <c:v>4.9</c:v>
                </c:pt>
                <c:pt idx="51">
                  <c:v>5.28</c:v>
                </c:pt>
                <c:pt idx="52">
                  <c:v>5</c:v>
                </c:pt>
                <c:pt idx="53">
                  <c:v>4.8</c:v>
                </c:pt>
                <c:pt idx="54">
                  <c:v>5.1</c:v>
                </c:pt>
                <c:pt idx="55">
                  <c:v>5.24</c:v>
                </c:pt>
                <c:pt idx="56">
                  <c:v>4.96</c:v>
                </c:pt>
                <c:pt idx="57">
                  <c:v>5.14</c:v>
                </c:pt>
              </c:numCache>
            </c:numRef>
          </c:xVal>
          <c:yVal>
            <c:numRef>
              <c:f>Sheet1!$B$2:$B$59</c:f>
              <c:numCache>
                <c:formatCode>General</c:formatCode>
                <c:ptCount val="58"/>
                <c:pt idx="0">
                  <c:v>2.911</c:v>
                </c:pt>
                <c:pt idx="1">
                  <c:v>3.508</c:v>
                </c:pt>
                <c:pt idx="2">
                  <c:v>3.632</c:v>
                </c:pt>
                <c:pt idx="3">
                  <c:v>3.638</c:v>
                </c:pt>
                <c:pt idx="4">
                  <c:v>3.716</c:v>
                </c:pt>
                <c:pt idx="5">
                  <c:v>3.767</c:v>
                </c:pt>
                <c:pt idx="6">
                  <c:v>3.924</c:v>
                </c:pt>
                <c:pt idx="7">
                  <c:v>4.002</c:v>
                </c:pt>
                <c:pt idx="8">
                  <c:v>4.036</c:v>
                </c:pt>
                <c:pt idx="9">
                  <c:v>4.103</c:v>
                </c:pt>
                <c:pt idx="10">
                  <c:v>4.149</c:v>
                </c:pt>
                <c:pt idx="11">
                  <c:v>4.211</c:v>
                </c:pt>
                <c:pt idx="12">
                  <c:v>0</c:v>
                </c:pt>
                <c:pt idx="13">
                  <c:v>0</c:v>
                </c:pt>
                <c:pt idx="14">
                  <c:v>0</c:v>
                </c:pt>
                <c:pt idx="15">
                  <c:v>0</c:v>
                </c:pt>
                <c:pt idx="16">
                  <c:v>0</c:v>
                </c:pt>
                <c:pt idx="17">
                  <c:v>0.924</c:v>
                </c:pt>
                <c:pt idx="18">
                  <c:v>1.824</c:v>
                </c:pt>
                <c:pt idx="19">
                  <c:v>2.249</c:v>
                </c:pt>
                <c:pt idx="20">
                  <c:v>2.25</c:v>
                </c:pt>
                <c:pt idx="21">
                  <c:v>2.646</c:v>
                </c:pt>
                <c:pt idx="22">
                  <c:v>3.532</c:v>
                </c:pt>
                <c:pt idx="23">
                  <c:v>3.676</c:v>
                </c:pt>
                <c:pt idx="24">
                  <c:v>0</c:v>
                </c:pt>
                <c:pt idx="25">
                  <c:v>0</c:v>
                </c:pt>
                <c:pt idx="26">
                  <c:v>0</c:v>
                </c:pt>
                <c:pt idx="27">
                  <c:v>0</c:v>
                </c:pt>
                <c:pt idx="28">
                  <c:v>0</c:v>
                </c:pt>
                <c:pt idx="29">
                  <c:v>0</c:v>
                </c:pt>
                <c:pt idx="30">
                  <c:v>0</c:v>
                </c:pt>
                <c:pt idx="31">
                  <c:v>0</c:v>
                </c:pt>
                <c:pt idx="32">
                  <c:v>1.455</c:v>
                </c:pt>
                <c:pt idx="33">
                  <c:v>1.972</c:v>
                </c:pt>
                <c:pt idx="34">
                  <c:v>3.195</c:v>
                </c:pt>
                <c:pt idx="35">
                  <c:v>3.697</c:v>
                </c:pt>
                <c:pt idx="36">
                  <c:v>0</c:v>
                </c:pt>
                <c:pt idx="37">
                  <c:v>0</c:v>
                </c:pt>
                <c:pt idx="38">
                  <c:v>0</c:v>
                </c:pt>
                <c:pt idx="39">
                  <c:v>0</c:v>
                </c:pt>
                <c:pt idx="40">
                  <c:v>0</c:v>
                </c:pt>
                <c:pt idx="41">
                  <c:v>0</c:v>
                </c:pt>
                <c:pt idx="42">
                  <c:v>1.489</c:v>
                </c:pt>
                <c:pt idx="43">
                  <c:v>1.585</c:v>
                </c:pt>
                <c:pt idx="44">
                  <c:v>3.204</c:v>
                </c:pt>
                <c:pt idx="45">
                  <c:v>3.453</c:v>
                </c:pt>
                <c:pt idx="46">
                  <c:v>3.761</c:v>
                </c:pt>
                <c:pt idx="47">
                  <c:v>3.805</c:v>
                </c:pt>
                <c:pt idx="48">
                  <c:v>0</c:v>
                </c:pt>
                <c:pt idx="49">
                  <c:v>0</c:v>
                </c:pt>
                <c:pt idx="50">
                  <c:v>0</c:v>
                </c:pt>
                <c:pt idx="51">
                  <c:v>0</c:v>
                </c:pt>
                <c:pt idx="52">
                  <c:v>1.061</c:v>
                </c:pt>
                <c:pt idx="53">
                  <c:v>2.021</c:v>
                </c:pt>
                <c:pt idx="54">
                  <c:v>2.816</c:v>
                </c:pt>
                <c:pt idx="55">
                  <c:v>3.037</c:v>
                </c:pt>
                <c:pt idx="56">
                  <c:v>3.32</c:v>
                </c:pt>
                <c:pt idx="57">
                  <c:v>3.651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5.5"/>
          <c:min val="0.5"/>
        </c:scaling>
        <c:delete val="1"/>
        <c:axPos val="b"/>
        <c:numFmt formatCode="General" sourceLinked="1"/>
        <c:majorTickMark val="none"/>
        <c:minorTickMark val="none"/>
        <c:tickLblPos val="nextTo"/>
        <c:spPr>
          <a:ln w="12700" cap="flat">
            <a:noFill/>
            <a:prstDash val="solid"/>
            <a:round/>
          </a:ln>
        </c:spPr>
        <c:txPr>
          <a:bodyPr/>
          <a:lstStyle/>
          <a:p>
            <a:pPr>
              <a:defRPr sz="1200" b="0" i="0" u="none" strike="noStrike">
                <a:solidFill>
                  <a:srgbClr val="1B2430"/>
                </a:solidFill>
                <a:latin typeface="Calibri"/>
              </a:defRPr>
            </a:pPr>
            <a:endParaRPr lang="en-US"/>
          </a:p>
        </c:txPr>
        <c:crossAx val="2094734552"/>
        <c:crosses val="autoZero"/>
        <c:auto val="1"/>
        <c:lblAlgn val="ctr"/>
        <c:noMultiLvlLbl val="1"/>
        <c:majorUnit val="1"/>
      </c:valAx>
      <c:valAx>
        <c:axId val="2094734552"/>
        <c:scaling>
          <c:orientation val="minMax"/>
          <c:max val="4.5"/>
          <c:min val="0"/>
        </c:scaling>
        <c:delete val="0"/>
        <c:axPos val="l"/>
        <c:majorGridlines>
          <c:spPr>
            <a:ln w="9525" cap="flat">
              <a:solidFill>
                <a:srgbClr val="E3E6EA"/>
              </a:solidFill>
              <a:prstDash val="solid"/>
              <a:round/>
            </a:ln>
          </c:spPr>
        </c:majorGridlines>
        <c:numFmt formatCode="General" sourceLinked="0"/>
        <c:majorTickMark val="none"/>
        <c:minorTickMark val="none"/>
        <c:tickLblPos val="nextTo"/>
        <c:spPr>
          <a:ln w="12700" cap="flat">
            <a:noFill/>
            <a:prstDash val="solid"/>
            <a:round/>
          </a:ln>
        </c:spPr>
        <c:txPr>
          <a:bodyPr/>
          <a:lstStyle/>
          <a:p>
            <a:pPr>
              <a:defRPr sz="1100" b="0" i="0" u="none" strike="noStrike">
                <a:solidFill>
                  <a:srgbClr val="6B7480"/>
                </a:solidFill>
                <a:latin typeface="Calibri"/>
              </a:defRPr>
            </a:pPr>
            <a:endParaRPr lang="en-US"/>
          </a:p>
        </c:txPr>
        <c:crossAx val="2094734554"/>
        <c:crosses val="autoZero"/>
        <c:crossBetween val="midCat"/>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(30 s). Introduce yourself and the pilot: a PSMFC-funded study asking whether short ocean-stress exposures change how well mussels hold on, and whether the transcriptome of the foot, the tissue that builds the thread, tells us why. Replace the bracketed affiliation and meeting placeholders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threads (1 min). Set up the two questions. Question 1 is mechanical: does a short exposure weaken attachment, and is the effect in the thread’s force, in the plaque’s footprint, or both. Question 2 is molecular: with expression from the same animals whose threads we pulled, can we link the two. Keep the background short; the audience knows what a mussel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(1.5 min). Walk the timeline. Day 0: a laboratory control group of twelve animals is pulled and never enters the experimental system; it tells us what the holding system and handling do to threads on their own. Day 1: every experimental animal is pulled once in the shared holding system, giving each its own baseline, and is then assigned to one of four tanks. The treatment control tank has control conditions but gets the same tank change and handling as the stressor tanks. Day 3: the same animals are pulled again and tissues are sampled. Two controls, two questions: the lab control asks whether the system itself changes threads, and the answer is no, 77 kilopascals at day 0 versus 77 at day 1 versus 80 in the day-3 control. The treatment control asks whether the stressors change threads relative to a concurrent, identically handled group. Give the exposure levels while you point at the lanes.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Paired observations (1.5 min). The four panels are the raw material: each thin line is one animal, its mean adhesion at the baseline pull and at the day-3 pull; the bold line is the arm mean. Controls scatter around a flat mean, acidification and warming animals mostly drop, hypoxia animals go both ways. Four consequences. One, the unit of comparison is the change within an animal, tested against the control arm’s change, which is the interaction term in the mixed model. Two, the arms did not start identical, the controls happened to start about 15 kilopascals higher, and pairing removes that. Three, the mixed model puts a random intercept on each animal, and the paired t-tests are the simple check that needs no model. Four, be honest about the limit: an animal’s adhesion two days later is only weakly predicted by its baseline, so the variance reduction from pairing is modest for adhesion and larger for plaque area, which is the more repeatable trait. That is also why 47 pairs are enough to see the big effects and not the subtle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Measurements (1 min). Three cards. Mechanics: each thread is pulled on a tensometer, giving peak force and extension, and its plaque is photographed for area, so adhesion in kilopascals is force over area. Design: the same animal is pulled before and after, and 47 animals have both, including eleven controls. Transcriptomes: foot and gill Tag-seq at day 3, each stressor against the day-3 controls with twelve animals a side. Say once that adhesion is a ratio; that matters in two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Adhesion (1.5 min). This is the conventional readout, adhesion in kilopascals, expressed as the change from each arm’s own baseline. Controls are flat, which is important: three days in a tank and a second handling did not weaken them. Acidification and warming fell by a third and by nearly half. Hypoxia fell 14 percent and the interval includes zero. If we stopped here we would say hypoxia does little. The next slide shows why that would be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Decomposition (1.5 min). Same model, same animals, but force and area separately. Left: force. Controls unchanged; acidification down a third; warming and hypoxia down by half. Right: plaque area. Warming and hypoxia plaques shrank, 18 and 37 percent; acidification and control plaques grew slightly. Now the adhesion slide makes sense: for hypoxia, force and area fell together, so the ratio hardly moved. Adhesion is a fine summary for acidification and warming and a misleading one for hypoxia. From here on force and area are the primary 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animal (1 min). The same result at the level of individuals, so nobody thinks the arm means hide a few outliers. Each point is one animal: change in force on the vertical axis, change in plaque area on the horizontal. Warming and hypoxia animals cluster lower left, smaller and weaker plaques. Acidification animals are lower right, bigger plaques that hold less. Controls scatter around zero. The table gives the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Failure mode (1 min). How the thread lets go tells us where the weakness is. Cohesive failure means the plaque stayed put and the thread gave way; peeling means the plaque lifted off the substrate. Controls at day 3 are mostly cohesive. Hypoxia threads peel half the time, and peeling threads hold roughly 55 kilopascals against 79 for cohesive ones. So under hypoxia the plaque-substrate interface is what fails, consistent with the smaller footprint we just saw.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 counts (1 min). Foot on the left, gill on the right, each stressor against the day-3 controls. The foot’s biggest response is to hypoxia, 351 genes, and its smallest to acidification, 80. The gill is the reverse: 711 genes under acidification. Two things to flag: the gill’s acidification and hypoxia lists overlap by 123 genes, all concordant, so the gill mounts a shared programme for the two; and the foot and gill lists barely overlap for any stressor, so the tissues are doing different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Genes (1.5 min). Four rows. First, the headline: a byssal HSP-like protein copy is up 33-fold in the foot under hypoxia, by far the largest effect in the dataset, in the tissue that builds the byssus. Second, the gill’s shared acidification and hypoxia programme: glutathione transferases, the dual oxidase system, a byssal peroxidase-like protein up, and two byssal EP-like proteins down. Third, warming: tubulin and the HMG protein DSP1 repressed in both tissues, with only a modest HSP90 induction. Fourth, recurring genes across arms: the LAT2 amino-acid transporter and ferric-chelate reductase.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Foot proteins (1 min). The genes people expect to move are the byssal proteins themselves, and other studies have reported large expression differences under stress [add refs]. We did not see them. The table gives eight: the adhesive plaque proteins mfp-1, 2 and 4, the byssal collagen preCol-D, foot proteins 10 and 12, the EP-like protein ACDC and Byssal HSP-like protein 1. Every fold change is essentially zero in every arm. The dot plot shows why: mfp-2 is off in most animals and on at thousands of counts per million in a few, in every arm including the controls, and the same animals switch on mfp-4, foot proteins 10, 12 and 15 and a tyrosinase together. That looks like a marker of whether the animal was secreting a thread at the moment we sampled, not of its stress state, and the module has no relation to how strong its threads were. Bulk foot expression of these genes reports thread-making activity, and stress comparisons that ignore that will be dominated by which animals happened to be building. The next slide shows where the large differences other studies report come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Byssal programme, day 0 vs day 3 (1 min). This is where the literature discrepancy comes from. The day-0 laboratory-control animals, sampled the day their byssus was cut, have the whole byssal programme running: mfp-2 at a median of seven thousand counts per million, preCol-D at eleven thousand, ten of twelve animals with the module on. By day 3 the programme is off in thirty-six of forty-six animals, and the day-3 controls are no different from the stressor tanks: two of twelve on. So if you compare stressed animals with a day-0 or freshly handled reference, as many studies do, the byssal genes look strongly down-regulated; our own lab-control contrasts do exactly that, calling preCol-D and the foot proteins down by four to eight log2 units in the unstressed day-3 control. Compared with the concurrent day-3 control, nothing moves. The reading is that these transcripts report whether an animal is building threads at the moment of sampling, and that the reference group decides the answer. One caveat: day 0 and day 3 differ in time in the system as well as in secretion state, so the day-0 comparison confounds the two; the point is that the difference is not a stressor effect, because the controls show it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Gene-mechanics (1.5 min). The second question, answered honestly. We took every animal with both expression and paired threads, 45 in the foot, and asked whether any candidate gene or DEG predicts that animal’s force, area, adhesion or their change from baseline, after removing the arm effect. Nothing survives correction. The closest leads are a phosphodiesterase against the change in force and the HIF and collagen modules against the change in plaque area, all around q 0.06 to 0.07, and permutation says the best single-gene hits are what chance produces. Say plainly that this is a null result with exploratory leads, and that the power ceiling with 44 animals over four arms is a large effect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Synthesis (1.5 min). Put the two halves side by side. Mechanically, warming is worst for force, hypoxia is worst for plaque size, acidification weakens without shrinking, controls are flat. Transcriptionally, the foot reacts most to hypoxia and the gill to acidification, and the two gill lists that look most alike belong to the arms whose plaques look least alike. So there is a stressor-specific mechanical phenotype that a shared stress programme does not explain. Offer the three readings and say the data cannot separate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classes (1 min). One table for the classes we have been discussing, tissue by stressor. Read it by the shaded cells. Byssal structural proteins: nothing in the foot in any arm, and the three gill hits are the ACDC proteins going down. Byssal accessory proteins and the cross-linking enzymes, tyrosinases and byssal peroxidases: essentially nothing, one hit here and there. HIF signalling is engaged in the foot under hypoxia, five of thirteen genes up, and nowhere else. The oxidative and detox class is the gill’s signature under acidification, thirteen up and none down, with a smaller echo under hypoxia in both tissues. Heat-shock proteins move in small numbers everywhere and not in one direction. tRNA ligases and amino-acid transporters go up in the foot under every stressor, most strongly under acidification, which reads as a protein-synthesis and amino-acid supply response rather than a stress-protein one. The mitochondrial class is one signal, not a hundred: the mt-encoded subunits and the nuclear loci that carry the same transcripts all rise together in the gill under acidification and nowhere else. And the cytoskeleton class is the foot’s hypoxia signature on the down side, thirty of 279 genes, mostly tubulins, dyneins and cilia proteins.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Take-home (30 s). Three sentences, read them slowly. One: the stressors weaken attachment and the controls do not. Two: where the damage sits differs by stressor, and force and area should be reported rather than adhesion alone. Three: the transcriptomes are informative about the stress response, the byssal protein genes track thread secretion rather than stress, and no expression signal predicts individual attachment.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steps and acknowledgements (30 s). Name the follow-ups: the candidate genes, a time-course during thread building, and the reporting choice for the manuscript. Fill in the acknowledgement placeholders: co-authors, the thread-testing and RNA teams, the sequencing facilities and the PSMFC award number. Then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chart" Target="/ppt/charts/chart4.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chart" Target="/ppt/charts/chart10.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1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3A"/>
        </a:solidFill>
      </p:bgPr>
    </p:bg>
    <p:spTree>
      <p:nvGrpSpPr>
        <p:cNvPr id="1" name=""/>
        <p:cNvGrpSpPr/>
        <p:nvPr/>
      </p:nvGrpSpPr>
      <p:grpSpPr>
        <a:xfrm>
          <a:off x="0" y="0"/>
          <a:ext cx="0" cy="0"/>
          <a:chOff x="0" y="0"/>
          <a:chExt cx="0" cy="0"/>
        </a:xfrm>
      </p:grpSpPr>
      <p:pic>
        <p:nvPicPr>
          <p:cNvPr id="2" name="Image 0" descr="/tmp/claude-0/-home-claude/fa38c821-d5df-5634-b427-ea4108142d83/scratchpad/deck/assets/photo_mussels.jpg">    </p:cNvPr>
          <p:cNvPicPr>
            <a:picLocks noChangeAspect="1"/>
          </p:cNvPicPr>
          <p:nvPr/>
        </p:nvPicPr>
        <p:blipFill>
          <a:blip r:embed="rId1"/>
          <a:srcRect l="0" r="0" t="0" b="0"/>
          <a:stretch/>
        </p:blipFill>
        <p:spPr>
          <a:xfrm>
            <a:off x="6766560" y="0"/>
            <a:ext cx="5425135" cy="6858000"/>
          </a:xfrm>
          <a:prstGeom prst="rect">
            <a:avLst/>
          </a:prstGeom>
        </p:spPr>
      </p:pic>
      <p:sp>
        <p:nvSpPr>
          <p:cNvPr id="3" name="Text 0"/>
          <p:cNvSpPr txBox="1"/>
          <p:nvPr/>
        </p:nvSpPr>
        <p:spPr>
          <a:xfrm>
            <a:off x="548640" y="914400"/>
            <a:ext cx="5669280" cy="274320"/>
          </a:xfrm>
          <a:prstGeom prst="rect">
            <a:avLst/>
          </a:prstGeom>
          <a:noFill/>
          <a:ln/>
        </p:spPr>
        <p:txBody>
          <a:bodyPr wrap="square" lIns="0" tIns="0" rIns="0" bIns="0" rtlCol="0" anchor="t"/>
          <a:lstStyle/>
          <a:p>
            <a:pPr algn="l" indent="0" marL="0">
              <a:lnSpc>
                <a:spcPct val="115000"/>
              </a:lnSpc>
              <a:buNone/>
            </a:pPr>
            <a:r>
              <a:rPr lang="en-US" sz="1100" b="1" spc="200" kern="0" dirty="0">
                <a:solidFill>
                  <a:srgbClr val="C3CBD6"/>
                </a:solidFill>
                <a:latin typeface="Calibri" pitchFamily="34" charset="0"/>
                <a:ea typeface="Calibri" pitchFamily="34" charset="-122"/>
                <a:cs typeface="Calibri" pitchFamily="34" charset="-120"/>
              </a:rPr>
              <a:t>PSMFC MYTILUS BYSSUS PILOT</a:t>
            </a:r>
            <a:endParaRPr lang="en-US" sz="1100" dirty="0"/>
          </a:p>
        </p:txBody>
      </p:sp>
      <p:sp>
        <p:nvSpPr>
          <p:cNvPr id="4" name="Text 1"/>
          <p:cNvSpPr txBox="1"/>
          <p:nvPr/>
        </p:nvSpPr>
        <p:spPr>
          <a:xfrm>
            <a:off x="548640" y="1325880"/>
            <a:ext cx="5852160" cy="2743200"/>
          </a:xfrm>
          <a:prstGeom prst="rect">
            <a:avLst/>
          </a:prstGeom>
          <a:noFill/>
          <a:ln/>
        </p:spPr>
        <p:txBody>
          <a:bodyPr wrap="square" lIns="0" tIns="0" rIns="0" bIns="0" rtlCol="0" anchor="t"/>
          <a:lstStyle/>
          <a:p>
            <a:pPr algn="l" indent="0" marL="0">
              <a:lnSpc>
                <a:spcPct val="105000"/>
              </a:lnSpc>
              <a:buNone/>
            </a:pPr>
            <a:r>
              <a:rPr lang="en-US" sz="4000" b="1" dirty="0">
                <a:solidFill>
                  <a:srgbClr val="F2F1EC"/>
                </a:solidFill>
                <a:latin typeface="Cambria" pitchFamily="34" charset="0"/>
                <a:ea typeface="Cambria" pitchFamily="34" charset="-122"/>
                <a:cs typeface="Cambria" pitchFamily="34" charset="-120"/>
              </a:rPr>
              <a:t>Byssal attachment under acidification, warming and hypoxia</a:t>
            </a:r>
            <a:endParaRPr lang="en-US" sz="4000" dirty="0"/>
          </a:p>
        </p:txBody>
      </p:sp>
      <p:sp>
        <p:nvSpPr>
          <p:cNvPr id="5" name="Text 2"/>
          <p:cNvSpPr txBox="1"/>
          <p:nvPr/>
        </p:nvSpPr>
        <p:spPr>
          <a:xfrm>
            <a:off x="548640" y="4160520"/>
            <a:ext cx="5760720" cy="822960"/>
          </a:xfrm>
          <a:prstGeom prst="rect">
            <a:avLst/>
          </a:prstGeom>
          <a:noFill/>
          <a:ln/>
        </p:spPr>
        <p:txBody>
          <a:bodyPr wrap="square" lIns="0" tIns="0" rIns="0" bIns="0" rtlCol="0" anchor="t"/>
          <a:lstStyle/>
          <a:p>
            <a:pPr algn="l" indent="0" marL="0">
              <a:lnSpc>
                <a:spcPct val="115000"/>
              </a:lnSpc>
              <a:buNone/>
            </a:pPr>
            <a:r>
              <a:rPr lang="en-US" sz="1800" dirty="0">
                <a:solidFill>
                  <a:srgbClr val="C3CBD6"/>
                </a:solidFill>
                <a:latin typeface="Calibri" pitchFamily="34" charset="0"/>
                <a:ea typeface="Calibri" pitchFamily="34" charset="-122"/>
                <a:cs typeface="Calibri" pitchFamily="34" charset="-120"/>
              </a:rPr>
              <a:t>Thread mechanics and tissue transcriptomes in </a:t>
            </a:r>
            <a:pPr algn="l" indent="0" marL="0">
              <a:lnSpc>
                <a:spcPct val="115000"/>
              </a:lnSpc>
              <a:buNone/>
            </a:pPr>
            <a:r>
              <a:rPr lang="en-US" sz="1800" i="1" dirty="0">
                <a:solidFill>
                  <a:srgbClr val="C3CBD6"/>
                </a:solidFill>
                <a:latin typeface="Calibri" pitchFamily="34" charset="0"/>
                <a:ea typeface="Calibri" pitchFamily="34" charset="-122"/>
                <a:cs typeface="Calibri" pitchFamily="34" charset="-120"/>
              </a:rPr>
              <a:t>Mytilus trossulus</a:t>
            </a:r>
            <a:endParaRPr lang="en-US" sz="1800" dirty="0"/>
          </a:p>
        </p:txBody>
      </p:sp>
      <p:sp>
        <p:nvSpPr>
          <p:cNvPr id="6" name="Text 3"/>
          <p:cNvSpPr txBox="1"/>
          <p:nvPr/>
        </p:nvSpPr>
        <p:spPr>
          <a:xfrm>
            <a:off x="548640" y="5806440"/>
            <a:ext cx="5943600" cy="365760"/>
          </a:xfrm>
          <a:prstGeom prst="rect">
            <a:avLst/>
          </a:prstGeom>
          <a:noFill/>
          <a:ln/>
        </p:spPr>
        <p:txBody>
          <a:bodyPr wrap="square" lIns="0" tIns="0" rIns="0" bIns="0" rtlCol="0" anchor="t"/>
          <a:lstStyle/>
          <a:p>
            <a:pPr algn="l" indent="0" marL="0">
              <a:lnSpc>
                <a:spcPct val="115000"/>
              </a:lnSpc>
              <a:buNone/>
            </a:pPr>
            <a:r>
              <a:rPr lang="en-US" sz="1400" dirty="0">
                <a:solidFill>
                  <a:srgbClr val="F2F1EC"/>
                </a:solidFill>
                <a:latin typeface="Calibri" pitchFamily="34" charset="0"/>
                <a:ea typeface="Calibri" pitchFamily="34" charset="-122"/>
                <a:cs typeface="Calibri" pitchFamily="34" charset="-120"/>
              </a:rPr>
              <a:t>Matt George  ·  [affiliation]  ·  [meeting, date]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Why byssal threads</a:t>
            </a:r>
            <a:endParaRPr lang="en-US" sz="3000" dirty="0"/>
          </a:p>
        </p:txBody>
      </p:sp>
      <p:sp>
        <p:nvSpPr>
          <p:cNvPr id="3" name="Text 1"/>
          <p:cNvSpPr txBox="1"/>
          <p:nvPr/>
        </p:nvSpPr>
        <p:spPr>
          <a:xfrm>
            <a:off x="548640" y="1371600"/>
            <a:ext cx="6035040" cy="1463040"/>
          </a:xfrm>
          <a:prstGeom prst="rect">
            <a:avLst/>
          </a:prstGeom>
          <a:noFill/>
          <a:ln/>
        </p:spPr>
        <p:txBody>
          <a:bodyPr wrap="square" lIns="0" tIns="0" rIns="0" bIns="0" rtlCol="0" anchor="t"/>
          <a:lstStyle/>
          <a:p>
            <a:pPr algn="l" indent="0" marL="0">
              <a:lnSpc>
                <a:spcPct val="120000"/>
              </a:lnSpc>
              <a:buNone/>
            </a:pPr>
            <a:r>
              <a:rPr lang="en-US" sz="2200" dirty="0">
                <a:solidFill>
                  <a:srgbClr val="1B2430"/>
                </a:solidFill>
                <a:latin typeface="Cambria" pitchFamily="34" charset="0"/>
                <a:ea typeface="Cambria" pitchFamily="34" charset="-122"/>
                <a:cs typeface="Cambria" pitchFamily="34" charset="-120"/>
              </a:rPr>
              <a:t>Mussels hold on with byssal threads. Each thread ends in an adhesive plaque, and the animal is only as secure as those plaques.</a:t>
            </a:r>
            <a:endParaRPr lang="en-US" sz="2200" dirty="0"/>
          </a:p>
        </p:txBody>
      </p:sp>
      <p:sp>
        <p:nvSpPr>
          <p:cNvPr id="4" name="Text 2"/>
          <p:cNvSpPr txBox="1"/>
          <p:nvPr/>
        </p:nvSpPr>
        <p:spPr>
          <a:xfrm>
            <a:off x="548640" y="3017520"/>
            <a:ext cx="5852160" cy="1554480"/>
          </a:xfrm>
          <a:prstGeom prst="rect">
            <a:avLst/>
          </a:prstGeom>
          <a:noFill/>
          <a:ln/>
        </p:spPr>
        <p:txBody>
          <a:bodyPr wrap="square" lIns="0" tIns="0" rIns="0" bIns="0" rtlCol="0" anchor="t"/>
          <a:lstStyle/>
          <a:p>
            <a:pPr algn="l" indent="0" marL="0">
              <a:lnSpc>
                <a:spcPct val="125000"/>
              </a:lnSpc>
              <a:buNone/>
            </a:pPr>
            <a:r>
              <a:rPr lang="en-US" sz="1500" dirty="0">
                <a:solidFill>
                  <a:srgbClr val="45505E"/>
                </a:solidFill>
                <a:latin typeface="Calibri" pitchFamily="34" charset="0"/>
                <a:ea typeface="Calibri" pitchFamily="34" charset="-122"/>
                <a:cs typeface="Calibri" pitchFamily="34" charset="-120"/>
              </a:rPr>
              <a:t>Attachment failure means loss from culture lines and wild beds. Three stressors expected to intensify in coastal waters, acidification, warming and hypoxia, could each act on the thread, on the plaque, or on both.</a:t>
            </a:r>
            <a:endParaRPr lang="en-US" sz="1500" dirty="0"/>
          </a:p>
        </p:txBody>
      </p:sp>
      <p:sp>
        <p:nvSpPr>
          <p:cNvPr id="5" name="Shape 3"/>
          <p:cNvSpPr/>
          <p:nvPr/>
        </p:nvSpPr>
        <p:spPr>
          <a:xfrm>
            <a:off x="7132320" y="1371600"/>
            <a:ext cx="4507992" cy="2011680"/>
          </a:xfrm>
          <a:prstGeom prst="roundRect">
            <a:avLst>
              <a:gd name="adj" fmla="val 3636"/>
            </a:avLst>
          </a:prstGeom>
          <a:solidFill>
            <a:srgbClr val="16233A"/>
          </a:solidFill>
          <a:ln w="12700">
            <a:solidFill>
              <a:srgbClr val="16233A"/>
            </a:solidFill>
            <a:prstDash val="solid"/>
          </a:ln>
        </p:spPr>
      </p:sp>
      <p:sp>
        <p:nvSpPr>
          <p:cNvPr id="6" name="Text 4"/>
          <p:cNvSpPr txBox="1"/>
          <p:nvPr/>
        </p:nvSpPr>
        <p:spPr>
          <a:xfrm>
            <a:off x="7452360" y="1600200"/>
            <a:ext cx="3867912" cy="274320"/>
          </a:xfrm>
          <a:prstGeom prst="rect">
            <a:avLst/>
          </a:prstGeom>
          <a:noFill/>
          <a:ln/>
        </p:spPr>
        <p:txBody>
          <a:bodyPr wrap="square" lIns="0" tIns="0" rIns="0" bIns="0" rtlCol="0" anchor="t"/>
          <a:lstStyle/>
          <a:p>
            <a:pPr algn="l" indent="0" marL="0">
              <a:lnSpc>
                <a:spcPct val="115000"/>
              </a:lnSpc>
              <a:buNone/>
            </a:pPr>
            <a:r>
              <a:rPr lang="en-US" sz="1100" b="1" spc="200" kern="0" dirty="0">
                <a:solidFill>
                  <a:srgbClr val="C3CBD6"/>
                </a:solidFill>
                <a:latin typeface="Calibri" pitchFamily="34" charset="0"/>
                <a:ea typeface="Calibri" pitchFamily="34" charset="-122"/>
                <a:cs typeface="Calibri" pitchFamily="34" charset="-120"/>
              </a:rPr>
              <a:t>QUESTION 1</a:t>
            </a:r>
            <a:endParaRPr lang="en-US" sz="1100" dirty="0"/>
          </a:p>
        </p:txBody>
      </p:sp>
      <p:sp>
        <p:nvSpPr>
          <p:cNvPr id="7" name="Text 5"/>
          <p:cNvSpPr txBox="1"/>
          <p:nvPr/>
        </p:nvSpPr>
        <p:spPr>
          <a:xfrm>
            <a:off x="7452360" y="1965960"/>
            <a:ext cx="3867912" cy="1280160"/>
          </a:xfrm>
          <a:prstGeom prst="rect">
            <a:avLst/>
          </a:prstGeom>
          <a:noFill/>
          <a:ln/>
        </p:spPr>
        <p:txBody>
          <a:bodyPr wrap="square" lIns="0" tIns="0" rIns="0" bIns="0" rtlCol="0" anchor="t"/>
          <a:lstStyle/>
          <a:p>
            <a:pPr algn="l" indent="0" marL="0">
              <a:lnSpc>
                <a:spcPct val="125000"/>
              </a:lnSpc>
              <a:buNone/>
            </a:pPr>
            <a:r>
              <a:rPr lang="en-US" sz="1600" dirty="0">
                <a:solidFill>
                  <a:srgbClr val="F2F1EC"/>
                </a:solidFill>
                <a:latin typeface="Calibri" pitchFamily="34" charset="0"/>
                <a:ea typeface="Calibri" pitchFamily="34" charset="-122"/>
                <a:cs typeface="Calibri" pitchFamily="34" charset="-120"/>
              </a:rPr>
              <a:t>Does a three-day exposure change thread strength, and where in the thread does the change sit?</a:t>
            </a:r>
            <a:endParaRPr lang="en-US" sz="1600" dirty="0"/>
          </a:p>
        </p:txBody>
      </p:sp>
      <p:sp>
        <p:nvSpPr>
          <p:cNvPr id="8" name="Shape 6"/>
          <p:cNvSpPr/>
          <p:nvPr/>
        </p:nvSpPr>
        <p:spPr>
          <a:xfrm>
            <a:off x="7132320" y="3657600"/>
            <a:ext cx="4507992" cy="2011680"/>
          </a:xfrm>
          <a:prstGeom prst="roundRect">
            <a:avLst>
              <a:gd name="adj" fmla="val 3636"/>
            </a:avLst>
          </a:prstGeom>
          <a:solidFill>
            <a:srgbClr val="16233A"/>
          </a:solidFill>
          <a:ln w="12700">
            <a:solidFill>
              <a:srgbClr val="16233A"/>
            </a:solidFill>
            <a:prstDash val="solid"/>
          </a:ln>
        </p:spPr>
      </p:sp>
      <p:sp>
        <p:nvSpPr>
          <p:cNvPr id="9" name="Text 7"/>
          <p:cNvSpPr txBox="1"/>
          <p:nvPr/>
        </p:nvSpPr>
        <p:spPr>
          <a:xfrm>
            <a:off x="7452360" y="3886200"/>
            <a:ext cx="3867912" cy="274320"/>
          </a:xfrm>
          <a:prstGeom prst="rect">
            <a:avLst/>
          </a:prstGeom>
          <a:noFill/>
          <a:ln/>
        </p:spPr>
        <p:txBody>
          <a:bodyPr wrap="square" lIns="0" tIns="0" rIns="0" bIns="0" rtlCol="0" anchor="t"/>
          <a:lstStyle/>
          <a:p>
            <a:pPr algn="l" indent="0" marL="0">
              <a:lnSpc>
                <a:spcPct val="115000"/>
              </a:lnSpc>
              <a:buNone/>
            </a:pPr>
            <a:r>
              <a:rPr lang="en-US" sz="1100" b="1" spc="200" kern="0" dirty="0">
                <a:solidFill>
                  <a:srgbClr val="C3CBD6"/>
                </a:solidFill>
                <a:latin typeface="Calibri" pitchFamily="34" charset="0"/>
                <a:ea typeface="Calibri" pitchFamily="34" charset="-122"/>
                <a:cs typeface="Calibri" pitchFamily="34" charset="-120"/>
              </a:rPr>
              <a:t>QUESTION 2</a:t>
            </a:r>
            <a:endParaRPr lang="en-US" sz="1100" dirty="0"/>
          </a:p>
        </p:txBody>
      </p:sp>
      <p:sp>
        <p:nvSpPr>
          <p:cNvPr id="10" name="Text 8"/>
          <p:cNvSpPr txBox="1"/>
          <p:nvPr/>
        </p:nvSpPr>
        <p:spPr>
          <a:xfrm>
            <a:off x="7452360" y="4251960"/>
            <a:ext cx="3867912" cy="1280160"/>
          </a:xfrm>
          <a:prstGeom prst="rect">
            <a:avLst/>
          </a:prstGeom>
          <a:noFill/>
          <a:ln/>
        </p:spPr>
        <p:txBody>
          <a:bodyPr wrap="square" lIns="0" tIns="0" rIns="0" bIns="0" rtlCol="0" anchor="t"/>
          <a:lstStyle/>
          <a:p>
            <a:pPr algn="l" indent="0" marL="0">
              <a:lnSpc>
                <a:spcPct val="125000"/>
              </a:lnSpc>
              <a:buNone/>
            </a:pPr>
            <a:r>
              <a:rPr lang="en-US" sz="1600" dirty="0">
                <a:solidFill>
                  <a:srgbClr val="F2F1EC"/>
                </a:solidFill>
                <a:latin typeface="Calibri" pitchFamily="34" charset="0"/>
                <a:ea typeface="Calibri" pitchFamily="34" charset="-122"/>
                <a:cs typeface="Calibri" pitchFamily="34" charset="-120"/>
              </a:rPr>
              <a:t>Does the foot transcriptome, or the gill’s, predict how an individual animal’s attachment responds?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Experimental design: two controls and a paired timeline</a:t>
            </a:r>
            <a:endParaRPr lang="en-US" sz="3000" dirty="0"/>
          </a:p>
        </p:txBody>
      </p:sp>
      <p:sp>
        <p:nvSpPr>
          <p:cNvPr id="3" name="Text 1"/>
          <p:cNvSpPr txBox="1"/>
          <p:nvPr/>
        </p:nvSpPr>
        <p:spPr>
          <a:xfrm>
            <a:off x="502920" y="1261872"/>
            <a:ext cx="1097280" cy="274320"/>
          </a:xfrm>
          <a:prstGeom prst="rect">
            <a:avLst/>
          </a:prstGeom>
          <a:noFill/>
          <a:ln/>
        </p:spPr>
        <p:txBody>
          <a:bodyPr wrap="square" lIns="0" tIns="0" rIns="0" bIns="0" rtlCol="0" anchor="t"/>
          <a:lstStyle/>
          <a:p>
            <a:pPr algn="ctr" indent="0" marL="0">
              <a:lnSpc>
                <a:spcPct val="115000"/>
              </a:lnSpc>
              <a:buNone/>
            </a:pPr>
            <a:r>
              <a:rPr lang="en-US" sz="1200" b="1" dirty="0">
                <a:solidFill>
                  <a:srgbClr val="6B7480"/>
                </a:solidFill>
                <a:latin typeface="Calibri" pitchFamily="34" charset="0"/>
                <a:ea typeface="Calibri" pitchFamily="34" charset="-122"/>
                <a:cs typeface="Calibri" pitchFamily="34" charset="-120"/>
              </a:rPr>
              <a:t>Day 0</a:t>
            </a:r>
            <a:endParaRPr lang="en-US" sz="1200" dirty="0"/>
          </a:p>
        </p:txBody>
      </p:sp>
      <p:sp>
        <p:nvSpPr>
          <p:cNvPr id="4" name="Text 2"/>
          <p:cNvSpPr txBox="1"/>
          <p:nvPr/>
        </p:nvSpPr>
        <p:spPr>
          <a:xfrm>
            <a:off x="3154680" y="1261872"/>
            <a:ext cx="1097280" cy="274320"/>
          </a:xfrm>
          <a:prstGeom prst="rect">
            <a:avLst/>
          </a:prstGeom>
          <a:noFill/>
          <a:ln/>
        </p:spPr>
        <p:txBody>
          <a:bodyPr wrap="square" lIns="0" tIns="0" rIns="0" bIns="0" rtlCol="0" anchor="t"/>
          <a:lstStyle/>
          <a:p>
            <a:pPr algn="ctr" indent="0" marL="0">
              <a:lnSpc>
                <a:spcPct val="115000"/>
              </a:lnSpc>
              <a:buNone/>
            </a:pPr>
            <a:r>
              <a:rPr lang="en-US" sz="1200" b="1" dirty="0">
                <a:solidFill>
                  <a:srgbClr val="6B7480"/>
                </a:solidFill>
                <a:latin typeface="Calibri" pitchFamily="34" charset="0"/>
                <a:ea typeface="Calibri" pitchFamily="34" charset="-122"/>
                <a:cs typeface="Calibri" pitchFamily="34" charset="-120"/>
              </a:rPr>
              <a:t>Day 1</a:t>
            </a:r>
            <a:endParaRPr lang="en-US" sz="1200" dirty="0"/>
          </a:p>
        </p:txBody>
      </p:sp>
      <p:sp>
        <p:nvSpPr>
          <p:cNvPr id="5" name="Text 3"/>
          <p:cNvSpPr txBox="1"/>
          <p:nvPr/>
        </p:nvSpPr>
        <p:spPr>
          <a:xfrm>
            <a:off x="8092440" y="1261872"/>
            <a:ext cx="1097280" cy="274320"/>
          </a:xfrm>
          <a:prstGeom prst="rect">
            <a:avLst/>
          </a:prstGeom>
          <a:noFill/>
          <a:ln/>
        </p:spPr>
        <p:txBody>
          <a:bodyPr wrap="square" lIns="0" tIns="0" rIns="0" bIns="0" rtlCol="0" anchor="t"/>
          <a:lstStyle/>
          <a:p>
            <a:pPr algn="ctr" indent="0" marL="0">
              <a:lnSpc>
                <a:spcPct val="115000"/>
              </a:lnSpc>
              <a:buNone/>
            </a:pPr>
            <a:r>
              <a:rPr lang="en-US" sz="1200" b="1" dirty="0">
                <a:solidFill>
                  <a:srgbClr val="6B7480"/>
                </a:solidFill>
                <a:latin typeface="Calibri" pitchFamily="34" charset="0"/>
                <a:ea typeface="Calibri" pitchFamily="34" charset="-122"/>
                <a:cs typeface="Calibri" pitchFamily="34" charset="-120"/>
              </a:rPr>
              <a:t>Day 3</a:t>
            </a:r>
            <a:endParaRPr lang="en-US" sz="1200" dirty="0"/>
          </a:p>
        </p:txBody>
      </p:sp>
      <p:sp>
        <p:nvSpPr>
          <p:cNvPr id="6" name="Shape 4"/>
          <p:cNvSpPr/>
          <p:nvPr/>
        </p:nvSpPr>
        <p:spPr>
          <a:xfrm>
            <a:off x="1051560" y="1783080"/>
            <a:ext cx="2651760" cy="0"/>
          </a:xfrm>
          <a:prstGeom prst="line">
            <a:avLst/>
          </a:prstGeom>
          <a:noFill/>
          <a:ln w="38100">
            <a:solidFill>
              <a:srgbClr val="1B2430"/>
            </a:solidFill>
            <a:prstDash val="solid"/>
          </a:ln>
        </p:spPr>
      </p:sp>
      <p:sp>
        <p:nvSpPr>
          <p:cNvPr id="7" name="Shape 5"/>
          <p:cNvSpPr/>
          <p:nvPr/>
        </p:nvSpPr>
        <p:spPr>
          <a:xfrm>
            <a:off x="932688" y="1664208"/>
            <a:ext cx="237744" cy="237744"/>
          </a:xfrm>
          <a:prstGeom prst="ellipse">
            <a:avLst/>
          </a:prstGeom>
          <a:solidFill>
            <a:srgbClr val="16233A"/>
          </a:solidFill>
          <a:ln w="12700">
            <a:solidFill>
              <a:srgbClr val="16233A"/>
            </a:solidFill>
            <a:prstDash val="solid"/>
          </a:ln>
        </p:spPr>
      </p:sp>
      <p:sp>
        <p:nvSpPr>
          <p:cNvPr id="8" name="Shape 6"/>
          <p:cNvSpPr/>
          <p:nvPr/>
        </p:nvSpPr>
        <p:spPr>
          <a:xfrm>
            <a:off x="365760" y="2103120"/>
            <a:ext cx="2103120" cy="1417320"/>
          </a:xfrm>
          <a:prstGeom prst="roundRect">
            <a:avLst>
              <a:gd name="adj" fmla="val 5161"/>
            </a:avLst>
          </a:prstGeom>
          <a:solidFill>
            <a:srgbClr val="EEF1F5"/>
          </a:solidFill>
          <a:ln w="12700">
            <a:solidFill>
              <a:srgbClr val="EEF1F5"/>
            </a:solidFill>
            <a:prstDash val="solid"/>
          </a:ln>
        </p:spPr>
      </p:sp>
      <p:sp>
        <p:nvSpPr>
          <p:cNvPr id="9" name="Text 7"/>
          <p:cNvSpPr txBox="1"/>
          <p:nvPr/>
        </p:nvSpPr>
        <p:spPr>
          <a:xfrm>
            <a:off x="502920" y="2194560"/>
            <a:ext cx="1828800" cy="274320"/>
          </a:xfrm>
          <a:prstGeom prst="rect">
            <a:avLst/>
          </a:prstGeom>
          <a:noFill/>
          <a:ln/>
        </p:spPr>
        <p:txBody>
          <a:bodyPr wrap="square" lIns="0" tIns="0" rIns="0" bIns="0" rtlCol="0" anchor="t"/>
          <a:lstStyle/>
          <a:p>
            <a:pPr algn="l" indent="0" marL="0">
              <a:lnSpc>
                <a:spcPct val="115000"/>
              </a:lnSpc>
              <a:buNone/>
            </a:pPr>
            <a:r>
              <a:rPr lang="en-US" sz="1300" b="1" dirty="0">
                <a:solidFill>
                  <a:srgbClr val="1B2430"/>
                </a:solidFill>
                <a:latin typeface="Calibri" pitchFamily="34" charset="0"/>
                <a:ea typeface="Calibri" pitchFamily="34" charset="-122"/>
                <a:cs typeface="Calibri" pitchFamily="34" charset="-120"/>
              </a:rPr>
              <a:t>Laboratory control</a:t>
            </a:r>
            <a:endParaRPr lang="en-US" sz="1300" dirty="0"/>
          </a:p>
        </p:txBody>
      </p:sp>
      <p:sp>
        <p:nvSpPr>
          <p:cNvPr id="10" name="Text 8"/>
          <p:cNvSpPr txBox="1"/>
          <p:nvPr/>
        </p:nvSpPr>
        <p:spPr>
          <a:xfrm>
            <a:off x="502920" y="2496312"/>
            <a:ext cx="1874520" cy="1005840"/>
          </a:xfrm>
          <a:prstGeom prst="rect">
            <a:avLst/>
          </a:prstGeom>
          <a:noFill/>
          <a:ln/>
        </p:spPr>
        <p:txBody>
          <a:bodyPr wrap="square" lIns="0" tIns="0" rIns="0" bIns="0" rtlCol="0" anchor="t"/>
          <a:lstStyle/>
          <a:p>
            <a:pPr algn="l" indent="0" marL="0">
              <a:lnSpc>
                <a:spcPct val="115000"/>
              </a:lnSpc>
              <a:buNone/>
            </a:pPr>
            <a:r>
              <a:rPr lang="en-US" sz="1100" dirty="0">
                <a:solidFill>
                  <a:srgbClr val="45505E"/>
                </a:solidFill>
                <a:latin typeface="Calibri" pitchFamily="34" charset="0"/>
                <a:ea typeface="Calibri" pitchFamily="34" charset="-122"/>
                <a:cs typeface="Calibri" pitchFamily="34" charset="-120"/>
              </a:rPr>
              <a:t>12 animals pulled at day 0, never enter the system. Reference for what holding and handling do to threads.</a:t>
            </a:r>
            <a:endParaRPr lang="en-US" sz="1100" dirty="0"/>
          </a:p>
        </p:txBody>
      </p:sp>
      <p:sp>
        <p:nvSpPr>
          <p:cNvPr id="11" name="Shape 9"/>
          <p:cNvSpPr/>
          <p:nvPr/>
        </p:nvSpPr>
        <p:spPr>
          <a:xfrm>
            <a:off x="3584448" y="1664208"/>
            <a:ext cx="237744" cy="237744"/>
          </a:xfrm>
          <a:prstGeom prst="ellipse">
            <a:avLst/>
          </a:prstGeom>
          <a:solidFill>
            <a:srgbClr val="16233A"/>
          </a:solidFill>
          <a:ln w="12700">
            <a:solidFill>
              <a:srgbClr val="16233A"/>
            </a:solidFill>
            <a:prstDash val="solid"/>
          </a:ln>
        </p:spPr>
      </p:sp>
      <p:sp>
        <p:nvSpPr>
          <p:cNvPr id="12" name="Text 10"/>
          <p:cNvSpPr txBox="1"/>
          <p:nvPr/>
        </p:nvSpPr>
        <p:spPr>
          <a:xfrm>
            <a:off x="3977640" y="1627632"/>
            <a:ext cx="4480560" cy="310896"/>
          </a:xfrm>
          <a:prstGeom prst="rect">
            <a:avLst/>
          </a:prstGeom>
          <a:noFill/>
          <a:ln/>
        </p:spPr>
        <p:txBody>
          <a:bodyPr wrap="square" lIns="0" tIns="0" rIns="0" bIns="0" rtlCol="0" anchor="ctr"/>
          <a:lstStyle/>
          <a:p>
            <a:pPr algn="l" indent="0" marL="0">
              <a:lnSpc>
                <a:spcPct val="115000"/>
              </a:lnSpc>
              <a:buNone/>
            </a:pPr>
            <a:r>
              <a:rPr lang="en-US" sz="1200" b="1" dirty="0">
                <a:solidFill>
                  <a:srgbClr val="1B2430"/>
                </a:solidFill>
                <a:latin typeface="Calibri" pitchFamily="34" charset="0"/>
                <a:ea typeface="Calibri" pitchFamily="34" charset="-122"/>
                <a:cs typeface="Calibri" pitchFamily="34" charset="-120"/>
              </a:rPr>
              <a:t>Baseline pull: 61 animals, threads built in the shared holding system</a:t>
            </a:r>
            <a:endParaRPr lang="en-US" sz="1200" dirty="0"/>
          </a:p>
        </p:txBody>
      </p:sp>
      <p:sp>
        <p:nvSpPr>
          <p:cNvPr id="13" name="Shape 11"/>
          <p:cNvSpPr/>
          <p:nvPr/>
        </p:nvSpPr>
        <p:spPr>
          <a:xfrm>
            <a:off x="3703320" y="1783080"/>
            <a:ext cx="0" cy="1143000"/>
          </a:xfrm>
          <a:prstGeom prst="line">
            <a:avLst/>
          </a:prstGeom>
          <a:noFill/>
          <a:ln w="19050">
            <a:solidFill>
              <a:srgbClr val="D3D8DF"/>
            </a:solidFill>
            <a:prstDash val="solid"/>
          </a:ln>
        </p:spPr>
      </p:sp>
      <p:sp>
        <p:nvSpPr>
          <p:cNvPr id="14" name="Shape 12"/>
          <p:cNvSpPr/>
          <p:nvPr/>
        </p:nvSpPr>
        <p:spPr>
          <a:xfrm>
            <a:off x="3703320" y="2926080"/>
            <a:ext cx="4937760" cy="0"/>
          </a:xfrm>
          <a:prstGeom prst="line">
            <a:avLst/>
          </a:prstGeom>
          <a:noFill/>
          <a:ln w="50800">
            <a:solidFill>
              <a:srgbClr val="2A78D6"/>
            </a:solidFill>
            <a:prstDash val="solid"/>
          </a:ln>
        </p:spPr>
      </p:sp>
      <p:sp>
        <p:nvSpPr>
          <p:cNvPr id="15" name="Shape 13"/>
          <p:cNvSpPr/>
          <p:nvPr/>
        </p:nvSpPr>
        <p:spPr>
          <a:xfrm>
            <a:off x="8522208" y="2807208"/>
            <a:ext cx="237744" cy="237744"/>
          </a:xfrm>
          <a:prstGeom prst="ellipse">
            <a:avLst/>
          </a:prstGeom>
          <a:solidFill>
            <a:srgbClr val="2A78D6"/>
          </a:solidFill>
          <a:ln w="12700">
            <a:solidFill>
              <a:srgbClr val="2A78D6"/>
            </a:solidFill>
            <a:prstDash val="solid"/>
          </a:ln>
        </p:spPr>
      </p:sp>
      <p:sp>
        <p:nvSpPr>
          <p:cNvPr id="16" name="Text 14"/>
          <p:cNvSpPr txBox="1"/>
          <p:nvPr/>
        </p:nvSpPr>
        <p:spPr>
          <a:xfrm>
            <a:off x="3977640" y="2542032"/>
            <a:ext cx="2926080" cy="292608"/>
          </a:xfrm>
          <a:prstGeom prst="rect">
            <a:avLst/>
          </a:prstGeom>
          <a:noFill/>
          <a:ln/>
        </p:spPr>
        <p:txBody>
          <a:bodyPr wrap="square" lIns="0" tIns="0" rIns="0" bIns="0" rtlCol="0" anchor="t"/>
          <a:lstStyle/>
          <a:p>
            <a:pPr algn="l" indent="0" marL="0">
              <a:lnSpc>
                <a:spcPct val="115000"/>
              </a:lnSpc>
              <a:buNone/>
            </a:pPr>
            <a:r>
              <a:rPr lang="en-US" sz="1400" b="1" dirty="0">
                <a:solidFill>
                  <a:srgbClr val="1B2430"/>
                </a:solidFill>
                <a:latin typeface="Calibri" pitchFamily="34" charset="0"/>
                <a:ea typeface="Calibri" pitchFamily="34" charset="-122"/>
                <a:cs typeface="Calibri" pitchFamily="34" charset="-120"/>
              </a:rPr>
              <a:t>Treatment control</a:t>
            </a:r>
            <a:endParaRPr lang="en-US" sz="1400" dirty="0"/>
          </a:p>
        </p:txBody>
      </p:sp>
      <p:sp>
        <p:nvSpPr>
          <p:cNvPr id="17" name="Text 15"/>
          <p:cNvSpPr txBox="1"/>
          <p:nvPr/>
        </p:nvSpPr>
        <p:spPr>
          <a:xfrm>
            <a:off x="3977640" y="2971800"/>
            <a:ext cx="4023360" cy="274320"/>
          </a:xfrm>
          <a:prstGeom prst="rect">
            <a:avLst/>
          </a:prstGeom>
          <a:noFill/>
          <a:ln/>
        </p:spPr>
        <p:txBody>
          <a:bodyPr wrap="square" lIns="0" tIns="0" rIns="0" bIns="0" rtlCol="0" anchor="t"/>
          <a:lstStyle/>
          <a:p>
            <a:pPr algn="l" indent="0" marL="0">
              <a:lnSpc>
                <a:spcPct val="115000"/>
              </a:lnSpc>
              <a:buNone/>
            </a:pPr>
            <a:r>
              <a:rPr lang="en-US" sz="1100" dirty="0">
                <a:solidFill>
                  <a:srgbClr val="6B7480"/>
                </a:solidFill>
                <a:latin typeface="Calibri" pitchFamily="34" charset="0"/>
                <a:ea typeface="Calibri" pitchFamily="34" charset="-122"/>
                <a:cs typeface="Calibri" pitchFamily="34" charset="-120"/>
              </a:rPr>
              <a:t>12.2 °C · pH 7.94 · 9.9 mg O₂/L</a:t>
            </a:r>
            <a:endParaRPr lang="en-US" sz="1100" dirty="0"/>
          </a:p>
        </p:txBody>
      </p:sp>
      <p:sp>
        <p:nvSpPr>
          <p:cNvPr id="18" name="Text 16"/>
          <p:cNvSpPr txBox="1"/>
          <p:nvPr/>
        </p:nvSpPr>
        <p:spPr>
          <a:xfrm>
            <a:off x="6812280" y="2542032"/>
            <a:ext cx="1691640" cy="292608"/>
          </a:xfrm>
          <a:prstGeom prst="rect">
            <a:avLst/>
          </a:prstGeom>
          <a:noFill/>
          <a:ln/>
        </p:spPr>
        <p:txBody>
          <a:bodyPr wrap="square" lIns="0" tIns="0" rIns="0" bIns="0" rtlCol="0" anchor="t"/>
          <a:lstStyle/>
          <a:p>
            <a:pPr algn="r" indent="0" marL="0">
              <a:lnSpc>
                <a:spcPct val="115000"/>
              </a:lnSpc>
              <a:buNone/>
            </a:pPr>
            <a:r>
              <a:rPr lang="en-US" sz="1200" b="1" dirty="0">
                <a:solidFill>
                  <a:srgbClr val="2A78D6"/>
                </a:solidFill>
                <a:latin typeface="Calibri" pitchFamily="34" charset="0"/>
                <a:ea typeface="Calibri" pitchFamily="34" charset="-122"/>
                <a:cs typeface="Calibri" pitchFamily="34" charset="-120"/>
              </a:rPr>
              <a:t>11 animals paired</a:t>
            </a:r>
            <a:endParaRPr lang="en-US" sz="1200" dirty="0"/>
          </a:p>
        </p:txBody>
      </p:sp>
      <p:sp>
        <p:nvSpPr>
          <p:cNvPr id="19" name="Shape 17"/>
          <p:cNvSpPr/>
          <p:nvPr/>
        </p:nvSpPr>
        <p:spPr>
          <a:xfrm>
            <a:off x="3703320" y="1783080"/>
            <a:ext cx="0" cy="1920240"/>
          </a:xfrm>
          <a:prstGeom prst="line">
            <a:avLst/>
          </a:prstGeom>
          <a:noFill/>
          <a:ln w="19050">
            <a:solidFill>
              <a:srgbClr val="D3D8DF"/>
            </a:solidFill>
            <a:prstDash val="solid"/>
          </a:ln>
        </p:spPr>
      </p:sp>
      <p:sp>
        <p:nvSpPr>
          <p:cNvPr id="20" name="Shape 18"/>
          <p:cNvSpPr/>
          <p:nvPr/>
        </p:nvSpPr>
        <p:spPr>
          <a:xfrm>
            <a:off x="3703320" y="3703320"/>
            <a:ext cx="4937760" cy="0"/>
          </a:xfrm>
          <a:prstGeom prst="line">
            <a:avLst/>
          </a:prstGeom>
          <a:noFill/>
          <a:ln w="50800">
            <a:solidFill>
              <a:srgbClr val="1BAF7A"/>
            </a:solidFill>
            <a:prstDash val="solid"/>
          </a:ln>
        </p:spPr>
      </p:sp>
      <p:sp>
        <p:nvSpPr>
          <p:cNvPr id="21" name="Shape 19"/>
          <p:cNvSpPr/>
          <p:nvPr/>
        </p:nvSpPr>
        <p:spPr>
          <a:xfrm>
            <a:off x="8522208" y="3584448"/>
            <a:ext cx="237744" cy="237744"/>
          </a:xfrm>
          <a:prstGeom prst="ellipse">
            <a:avLst/>
          </a:prstGeom>
          <a:solidFill>
            <a:srgbClr val="1BAF7A"/>
          </a:solidFill>
          <a:ln w="12700">
            <a:solidFill>
              <a:srgbClr val="1BAF7A"/>
            </a:solidFill>
            <a:prstDash val="solid"/>
          </a:ln>
        </p:spPr>
      </p:sp>
      <p:sp>
        <p:nvSpPr>
          <p:cNvPr id="22" name="Text 20"/>
          <p:cNvSpPr txBox="1"/>
          <p:nvPr/>
        </p:nvSpPr>
        <p:spPr>
          <a:xfrm>
            <a:off x="3977640" y="3319272"/>
            <a:ext cx="2926080" cy="292608"/>
          </a:xfrm>
          <a:prstGeom prst="rect">
            <a:avLst/>
          </a:prstGeom>
          <a:noFill/>
          <a:ln/>
        </p:spPr>
        <p:txBody>
          <a:bodyPr wrap="square" lIns="0" tIns="0" rIns="0" bIns="0" rtlCol="0" anchor="t"/>
          <a:lstStyle/>
          <a:p>
            <a:pPr algn="l" indent="0" marL="0">
              <a:lnSpc>
                <a:spcPct val="115000"/>
              </a:lnSpc>
              <a:buNone/>
            </a:pPr>
            <a:r>
              <a:rPr lang="en-US" sz="1400" b="1" dirty="0">
                <a:solidFill>
                  <a:srgbClr val="1B2430"/>
                </a:solidFill>
                <a:latin typeface="Calibri" pitchFamily="34" charset="0"/>
                <a:ea typeface="Calibri" pitchFamily="34" charset="-122"/>
                <a:cs typeface="Calibri" pitchFamily="34" charset="-120"/>
              </a:rPr>
              <a:t>Acidification</a:t>
            </a:r>
            <a:endParaRPr lang="en-US" sz="1400" dirty="0"/>
          </a:p>
        </p:txBody>
      </p:sp>
      <p:sp>
        <p:nvSpPr>
          <p:cNvPr id="23" name="Text 21"/>
          <p:cNvSpPr txBox="1"/>
          <p:nvPr/>
        </p:nvSpPr>
        <p:spPr>
          <a:xfrm>
            <a:off x="3977640" y="3749040"/>
            <a:ext cx="4023360" cy="274320"/>
          </a:xfrm>
          <a:prstGeom prst="rect">
            <a:avLst/>
          </a:prstGeom>
          <a:noFill/>
          <a:ln/>
        </p:spPr>
        <p:txBody>
          <a:bodyPr wrap="square" lIns="0" tIns="0" rIns="0" bIns="0" rtlCol="0" anchor="t"/>
          <a:lstStyle/>
          <a:p>
            <a:pPr algn="l" indent="0" marL="0">
              <a:lnSpc>
                <a:spcPct val="115000"/>
              </a:lnSpc>
              <a:buNone/>
            </a:pPr>
            <a:r>
              <a:rPr lang="en-US" sz="1100" dirty="0">
                <a:solidFill>
                  <a:srgbClr val="6B7480"/>
                </a:solidFill>
                <a:latin typeface="Calibri" pitchFamily="34" charset="0"/>
                <a:ea typeface="Calibri" pitchFamily="34" charset="-122"/>
                <a:cs typeface="Calibri" pitchFamily="34" charset="-120"/>
              </a:rPr>
              <a:t>pH 7.01</a:t>
            </a:r>
            <a:endParaRPr lang="en-US" sz="1100" dirty="0"/>
          </a:p>
        </p:txBody>
      </p:sp>
      <p:sp>
        <p:nvSpPr>
          <p:cNvPr id="24" name="Text 22"/>
          <p:cNvSpPr txBox="1"/>
          <p:nvPr/>
        </p:nvSpPr>
        <p:spPr>
          <a:xfrm>
            <a:off x="6812280" y="3319272"/>
            <a:ext cx="1691640" cy="292608"/>
          </a:xfrm>
          <a:prstGeom prst="rect">
            <a:avLst/>
          </a:prstGeom>
          <a:noFill/>
          <a:ln/>
        </p:spPr>
        <p:txBody>
          <a:bodyPr wrap="square" lIns="0" tIns="0" rIns="0" bIns="0" rtlCol="0" anchor="t"/>
          <a:lstStyle/>
          <a:p>
            <a:pPr algn="r" indent="0" marL="0">
              <a:lnSpc>
                <a:spcPct val="115000"/>
              </a:lnSpc>
              <a:buNone/>
            </a:pPr>
            <a:r>
              <a:rPr lang="en-US" sz="1200" b="1" dirty="0">
                <a:solidFill>
                  <a:srgbClr val="1BAF7A"/>
                </a:solidFill>
                <a:latin typeface="Calibri" pitchFamily="34" charset="0"/>
                <a:ea typeface="Calibri" pitchFamily="34" charset="-122"/>
                <a:cs typeface="Calibri" pitchFamily="34" charset="-120"/>
              </a:rPr>
              <a:t>12 animals paired</a:t>
            </a:r>
            <a:endParaRPr lang="en-US" sz="1200" dirty="0"/>
          </a:p>
        </p:txBody>
      </p:sp>
      <p:sp>
        <p:nvSpPr>
          <p:cNvPr id="25" name="Shape 23"/>
          <p:cNvSpPr/>
          <p:nvPr/>
        </p:nvSpPr>
        <p:spPr>
          <a:xfrm>
            <a:off x="3703320" y="1783080"/>
            <a:ext cx="0" cy="2697480"/>
          </a:xfrm>
          <a:prstGeom prst="line">
            <a:avLst/>
          </a:prstGeom>
          <a:noFill/>
          <a:ln w="19050">
            <a:solidFill>
              <a:srgbClr val="D3D8DF"/>
            </a:solidFill>
            <a:prstDash val="solid"/>
          </a:ln>
        </p:spPr>
      </p:sp>
      <p:sp>
        <p:nvSpPr>
          <p:cNvPr id="26" name="Shape 24"/>
          <p:cNvSpPr/>
          <p:nvPr/>
        </p:nvSpPr>
        <p:spPr>
          <a:xfrm>
            <a:off x="3703320" y="4480560"/>
            <a:ext cx="4937760" cy="0"/>
          </a:xfrm>
          <a:prstGeom prst="line">
            <a:avLst/>
          </a:prstGeom>
          <a:noFill/>
          <a:ln w="50800">
            <a:solidFill>
              <a:srgbClr val="EB6834"/>
            </a:solidFill>
            <a:prstDash val="solid"/>
          </a:ln>
        </p:spPr>
      </p:sp>
      <p:sp>
        <p:nvSpPr>
          <p:cNvPr id="27" name="Shape 25"/>
          <p:cNvSpPr/>
          <p:nvPr/>
        </p:nvSpPr>
        <p:spPr>
          <a:xfrm>
            <a:off x="8522208" y="4361688"/>
            <a:ext cx="237744" cy="237744"/>
          </a:xfrm>
          <a:prstGeom prst="ellipse">
            <a:avLst/>
          </a:prstGeom>
          <a:solidFill>
            <a:srgbClr val="EB6834"/>
          </a:solidFill>
          <a:ln w="12700">
            <a:solidFill>
              <a:srgbClr val="EB6834"/>
            </a:solidFill>
            <a:prstDash val="solid"/>
          </a:ln>
        </p:spPr>
      </p:sp>
      <p:sp>
        <p:nvSpPr>
          <p:cNvPr id="28" name="Text 26"/>
          <p:cNvSpPr txBox="1"/>
          <p:nvPr/>
        </p:nvSpPr>
        <p:spPr>
          <a:xfrm>
            <a:off x="3977640" y="4096512"/>
            <a:ext cx="2926080" cy="292608"/>
          </a:xfrm>
          <a:prstGeom prst="rect">
            <a:avLst/>
          </a:prstGeom>
          <a:noFill/>
          <a:ln/>
        </p:spPr>
        <p:txBody>
          <a:bodyPr wrap="square" lIns="0" tIns="0" rIns="0" bIns="0" rtlCol="0" anchor="t"/>
          <a:lstStyle/>
          <a:p>
            <a:pPr algn="l" indent="0" marL="0">
              <a:lnSpc>
                <a:spcPct val="115000"/>
              </a:lnSpc>
              <a:buNone/>
            </a:pPr>
            <a:r>
              <a:rPr lang="en-US" sz="1400" b="1" dirty="0">
                <a:solidFill>
                  <a:srgbClr val="1B2430"/>
                </a:solidFill>
                <a:latin typeface="Calibri" pitchFamily="34" charset="0"/>
                <a:ea typeface="Calibri" pitchFamily="34" charset="-122"/>
                <a:cs typeface="Calibri" pitchFamily="34" charset="-120"/>
              </a:rPr>
              <a:t>Warming</a:t>
            </a:r>
            <a:endParaRPr lang="en-US" sz="1400" dirty="0"/>
          </a:p>
        </p:txBody>
      </p:sp>
      <p:sp>
        <p:nvSpPr>
          <p:cNvPr id="29" name="Text 27"/>
          <p:cNvSpPr txBox="1"/>
          <p:nvPr/>
        </p:nvSpPr>
        <p:spPr>
          <a:xfrm>
            <a:off x="3977640" y="4526280"/>
            <a:ext cx="4023360" cy="274320"/>
          </a:xfrm>
          <a:prstGeom prst="rect">
            <a:avLst/>
          </a:prstGeom>
          <a:noFill/>
          <a:ln/>
        </p:spPr>
        <p:txBody>
          <a:bodyPr wrap="square" lIns="0" tIns="0" rIns="0" bIns="0" rtlCol="0" anchor="t"/>
          <a:lstStyle/>
          <a:p>
            <a:pPr algn="l" indent="0" marL="0">
              <a:lnSpc>
                <a:spcPct val="115000"/>
              </a:lnSpc>
              <a:buNone/>
            </a:pPr>
            <a:r>
              <a:rPr lang="en-US" sz="1100" dirty="0">
                <a:solidFill>
                  <a:srgbClr val="6B7480"/>
                </a:solidFill>
                <a:latin typeface="Calibri" pitchFamily="34" charset="0"/>
                <a:ea typeface="Calibri" pitchFamily="34" charset="-122"/>
                <a:cs typeface="Calibri" pitchFamily="34" charset="-120"/>
              </a:rPr>
              <a:t>20.1 °C</a:t>
            </a:r>
            <a:endParaRPr lang="en-US" sz="1100" dirty="0"/>
          </a:p>
        </p:txBody>
      </p:sp>
      <p:sp>
        <p:nvSpPr>
          <p:cNvPr id="30" name="Text 28"/>
          <p:cNvSpPr txBox="1"/>
          <p:nvPr/>
        </p:nvSpPr>
        <p:spPr>
          <a:xfrm>
            <a:off x="6812280" y="4096512"/>
            <a:ext cx="1691640" cy="292608"/>
          </a:xfrm>
          <a:prstGeom prst="rect">
            <a:avLst/>
          </a:prstGeom>
          <a:noFill/>
          <a:ln/>
        </p:spPr>
        <p:txBody>
          <a:bodyPr wrap="square" lIns="0" tIns="0" rIns="0" bIns="0" rtlCol="0" anchor="t"/>
          <a:lstStyle/>
          <a:p>
            <a:pPr algn="r" indent="0" marL="0">
              <a:lnSpc>
                <a:spcPct val="115000"/>
              </a:lnSpc>
              <a:buNone/>
            </a:pPr>
            <a:r>
              <a:rPr lang="en-US" sz="1200" b="1" dirty="0">
                <a:solidFill>
                  <a:srgbClr val="EB6834"/>
                </a:solidFill>
                <a:latin typeface="Calibri" pitchFamily="34" charset="0"/>
                <a:ea typeface="Calibri" pitchFamily="34" charset="-122"/>
                <a:cs typeface="Calibri" pitchFamily="34" charset="-120"/>
              </a:rPr>
              <a:t>12 animals paired</a:t>
            </a:r>
            <a:endParaRPr lang="en-US" sz="1200" dirty="0"/>
          </a:p>
        </p:txBody>
      </p:sp>
      <p:sp>
        <p:nvSpPr>
          <p:cNvPr id="31" name="Shape 29"/>
          <p:cNvSpPr/>
          <p:nvPr/>
        </p:nvSpPr>
        <p:spPr>
          <a:xfrm>
            <a:off x="3703320" y="1783080"/>
            <a:ext cx="0" cy="3474720"/>
          </a:xfrm>
          <a:prstGeom prst="line">
            <a:avLst/>
          </a:prstGeom>
          <a:noFill/>
          <a:ln w="19050">
            <a:solidFill>
              <a:srgbClr val="D3D8DF"/>
            </a:solidFill>
            <a:prstDash val="solid"/>
          </a:ln>
        </p:spPr>
      </p:sp>
      <p:sp>
        <p:nvSpPr>
          <p:cNvPr id="32" name="Shape 30"/>
          <p:cNvSpPr/>
          <p:nvPr/>
        </p:nvSpPr>
        <p:spPr>
          <a:xfrm>
            <a:off x="3703320" y="5257800"/>
            <a:ext cx="4937760" cy="0"/>
          </a:xfrm>
          <a:prstGeom prst="line">
            <a:avLst/>
          </a:prstGeom>
          <a:noFill/>
          <a:ln w="50800">
            <a:solidFill>
              <a:srgbClr val="4A3AA7"/>
            </a:solidFill>
            <a:prstDash val="solid"/>
          </a:ln>
        </p:spPr>
      </p:sp>
      <p:sp>
        <p:nvSpPr>
          <p:cNvPr id="33" name="Shape 31"/>
          <p:cNvSpPr/>
          <p:nvPr/>
        </p:nvSpPr>
        <p:spPr>
          <a:xfrm>
            <a:off x="8522208" y="5138928"/>
            <a:ext cx="237744" cy="237744"/>
          </a:xfrm>
          <a:prstGeom prst="ellipse">
            <a:avLst/>
          </a:prstGeom>
          <a:solidFill>
            <a:srgbClr val="4A3AA7"/>
          </a:solidFill>
          <a:ln w="12700">
            <a:solidFill>
              <a:srgbClr val="4A3AA7"/>
            </a:solidFill>
            <a:prstDash val="solid"/>
          </a:ln>
        </p:spPr>
      </p:sp>
      <p:sp>
        <p:nvSpPr>
          <p:cNvPr id="34" name="Text 32"/>
          <p:cNvSpPr txBox="1"/>
          <p:nvPr/>
        </p:nvSpPr>
        <p:spPr>
          <a:xfrm>
            <a:off x="3977640" y="4873752"/>
            <a:ext cx="2926080" cy="292608"/>
          </a:xfrm>
          <a:prstGeom prst="rect">
            <a:avLst/>
          </a:prstGeom>
          <a:noFill/>
          <a:ln/>
        </p:spPr>
        <p:txBody>
          <a:bodyPr wrap="square" lIns="0" tIns="0" rIns="0" bIns="0" rtlCol="0" anchor="t"/>
          <a:lstStyle/>
          <a:p>
            <a:pPr algn="l" indent="0" marL="0">
              <a:lnSpc>
                <a:spcPct val="115000"/>
              </a:lnSpc>
              <a:buNone/>
            </a:pPr>
            <a:r>
              <a:rPr lang="en-US" sz="1400" b="1" dirty="0">
                <a:solidFill>
                  <a:srgbClr val="1B2430"/>
                </a:solidFill>
                <a:latin typeface="Calibri" pitchFamily="34" charset="0"/>
                <a:ea typeface="Calibri" pitchFamily="34" charset="-122"/>
                <a:cs typeface="Calibri" pitchFamily="34" charset="-120"/>
              </a:rPr>
              <a:t>Hypoxia</a:t>
            </a:r>
            <a:endParaRPr lang="en-US" sz="1400" dirty="0"/>
          </a:p>
        </p:txBody>
      </p:sp>
      <p:sp>
        <p:nvSpPr>
          <p:cNvPr id="35" name="Text 33"/>
          <p:cNvSpPr txBox="1"/>
          <p:nvPr/>
        </p:nvSpPr>
        <p:spPr>
          <a:xfrm>
            <a:off x="3977640" y="5303520"/>
            <a:ext cx="4023360" cy="274320"/>
          </a:xfrm>
          <a:prstGeom prst="rect">
            <a:avLst/>
          </a:prstGeom>
          <a:noFill/>
          <a:ln/>
        </p:spPr>
        <p:txBody>
          <a:bodyPr wrap="square" lIns="0" tIns="0" rIns="0" bIns="0" rtlCol="0" anchor="t"/>
          <a:lstStyle/>
          <a:p>
            <a:pPr algn="l" indent="0" marL="0">
              <a:lnSpc>
                <a:spcPct val="115000"/>
              </a:lnSpc>
              <a:buNone/>
            </a:pPr>
            <a:r>
              <a:rPr lang="en-US" sz="1100" dirty="0">
                <a:solidFill>
                  <a:srgbClr val="6B7480"/>
                </a:solidFill>
                <a:latin typeface="Calibri" pitchFamily="34" charset="0"/>
                <a:ea typeface="Calibri" pitchFamily="34" charset="-122"/>
                <a:cs typeface="Calibri" pitchFamily="34" charset="-120"/>
              </a:rPr>
              <a:t>3.8 mg O₂/L</a:t>
            </a:r>
            <a:endParaRPr lang="en-US" sz="1100" dirty="0"/>
          </a:p>
        </p:txBody>
      </p:sp>
      <p:sp>
        <p:nvSpPr>
          <p:cNvPr id="36" name="Text 34"/>
          <p:cNvSpPr txBox="1"/>
          <p:nvPr/>
        </p:nvSpPr>
        <p:spPr>
          <a:xfrm>
            <a:off x="6812280" y="4873752"/>
            <a:ext cx="1691640" cy="292608"/>
          </a:xfrm>
          <a:prstGeom prst="rect">
            <a:avLst/>
          </a:prstGeom>
          <a:noFill/>
          <a:ln/>
        </p:spPr>
        <p:txBody>
          <a:bodyPr wrap="square" lIns="0" tIns="0" rIns="0" bIns="0" rtlCol="0" anchor="t"/>
          <a:lstStyle/>
          <a:p>
            <a:pPr algn="r" indent="0" marL="0">
              <a:lnSpc>
                <a:spcPct val="115000"/>
              </a:lnSpc>
              <a:buNone/>
            </a:pPr>
            <a:r>
              <a:rPr lang="en-US" sz="1200" b="1" dirty="0">
                <a:solidFill>
                  <a:srgbClr val="4A3AA7"/>
                </a:solidFill>
                <a:latin typeface="Calibri" pitchFamily="34" charset="0"/>
                <a:ea typeface="Calibri" pitchFamily="34" charset="-122"/>
                <a:cs typeface="Calibri" pitchFamily="34" charset="-120"/>
              </a:rPr>
              <a:t>12 animals paired</a:t>
            </a:r>
            <a:endParaRPr lang="en-US" sz="1200" dirty="0"/>
          </a:p>
        </p:txBody>
      </p:sp>
      <p:sp>
        <p:nvSpPr>
          <p:cNvPr id="37" name="Shape 35"/>
          <p:cNvSpPr/>
          <p:nvPr/>
        </p:nvSpPr>
        <p:spPr>
          <a:xfrm>
            <a:off x="8961120" y="2514600"/>
            <a:ext cx="2606040" cy="2148840"/>
          </a:xfrm>
          <a:prstGeom prst="roundRect">
            <a:avLst>
              <a:gd name="adj" fmla="val 3404"/>
            </a:avLst>
          </a:prstGeom>
          <a:solidFill>
            <a:srgbClr val="EEF1F5"/>
          </a:solidFill>
          <a:ln w="12700">
            <a:solidFill>
              <a:srgbClr val="EEF1F5"/>
            </a:solidFill>
            <a:prstDash val="solid"/>
          </a:ln>
        </p:spPr>
      </p:sp>
      <p:sp>
        <p:nvSpPr>
          <p:cNvPr id="38" name="Text 36"/>
          <p:cNvSpPr txBox="1"/>
          <p:nvPr/>
        </p:nvSpPr>
        <p:spPr>
          <a:xfrm>
            <a:off x="9098280" y="2633472"/>
            <a:ext cx="2377440" cy="292608"/>
          </a:xfrm>
          <a:prstGeom prst="rect">
            <a:avLst/>
          </a:prstGeom>
          <a:noFill/>
          <a:ln/>
        </p:spPr>
        <p:txBody>
          <a:bodyPr wrap="square" lIns="0" tIns="0" rIns="0" bIns="0" rtlCol="0" anchor="t"/>
          <a:lstStyle/>
          <a:p>
            <a:pPr algn="l" indent="0" marL="0">
              <a:lnSpc>
                <a:spcPct val="115000"/>
              </a:lnSpc>
              <a:buNone/>
            </a:pPr>
            <a:r>
              <a:rPr lang="en-US" sz="1300" b="1" dirty="0">
                <a:solidFill>
                  <a:srgbClr val="1B2430"/>
                </a:solidFill>
                <a:latin typeface="Calibri" pitchFamily="34" charset="0"/>
                <a:ea typeface="Calibri" pitchFamily="34" charset="-122"/>
                <a:cs typeface="Calibri" pitchFamily="34" charset="-120"/>
              </a:rPr>
              <a:t>Day-3 pull, same animals</a:t>
            </a:r>
            <a:endParaRPr lang="en-US" sz="1300" dirty="0"/>
          </a:p>
        </p:txBody>
      </p:sp>
      <p:sp>
        <p:nvSpPr>
          <p:cNvPr id="39" name="Text 37"/>
          <p:cNvSpPr txBox="1"/>
          <p:nvPr/>
        </p:nvSpPr>
        <p:spPr>
          <a:xfrm>
            <a:off x="9098280" y="2944368"/>
            <a:ext cx="2377440" cy="1645920"/>
          </a:xfrm>
          <a:prstGeom prst="rect">
            <a:avLst/>
          </a:prstGeom>
          <a:noFill/>
          <a:ln/>
        </p:spPr>
        <p:txBody>
          <a:bodyPr wrap="square" lIns="0" tIns="0" rIns="0" bIns="0" rtlCol="0" anchor="t"/>
          <a:lstStyle/>
          <a:p>
            <a:pPr algn="l" indent="0" marL="0">
              <a:lnSpc>
                <a:spcPct val="115000"/>
              </a:lnSpc>
              <a:buNone/>
            </a:pPr>
            <a:r>
              <a:rPr lang="en-US" sz="1100" dirty="0">
                <a:solidFill>
                  <a:srgbClr val="45505E"/>
                </a:solidFill>
                <a:latin typeface="Calibri" pitchFamily="34" charset="0"/>
                <a:ea typeface="Calibri" pitchFamily="34" charset="-122"/>
                <a:cs typeface="Calibri" pitchFamily="34" charset="-120"/>
              </a:rPr>
              <a:t>Every animal is pulled again after exposure, then foot and gill are sampled for Tag-seq. The treatment control experienced the same handling and tank change without a stressor.</a:t>
            </a:r>
            <a:endParaRPr lang="en-US" sz="1100" dirty="0"/>
          </a:p>
        </p:txBody>
      </p:sp>
      <p:sp>
        <p:nvSpPr>
          <p:cNvPr id="40" name="Text 38"/>
          <p:cNvSpPr txBox="1"/>
          <p:nvPr/>
        </p:nvSpPr>
        <p:spPr>
          <a:xfrm>
            <a:off x="3977640" y="2103120"/>
            <a:ext cx="4572000" cy="274320"/>
          </a:xfrm>
          <a:prstGeom prst="rect">
            <a:avLst/>
          </a:prstGeom>
          <a:noFill/>
          <a:ln/>
        </p:spPr>
        <p:txBody>
          <a:bodyPr wrap="square" lIns="0" tIns="0" rIns="0" bIns="0" rtlCol="0" anchor="t"/>
          <a:lstStyle/>
          <a:p>
            <a:pPr algn="l" indent="0" marL="0">
              <a:lnSpc>
                <a:spcPct val="115000"/>
              </a:lnSpc>
              <a:buNone/>
            </a:pPr>
            <a:r>
              <a:rPr lang="en-US" sz="1100" i="1" dirty="0">
                <a:solidFill>
                  <a:srgbClr val="6B7480"/>
                </a:solidFill>
                <a:latin typeface="Calibri" pitchFamily="34" charset="0"/>
                <a:ea typeface="Calibri" pitchFamily="34" charset="-122"/>
                <a:cs typeface="Calibri" pitchFamily="34" charset="-120"/>
              </a:rPr>
              <a:t>3-day exposure in separate flow-through tanks</a:t>
            </a:r>
            <a:endParaRPr lang="en-US" sz="1100" dirty="0"/>
          </a:p>
        </p:txBody>
      </p:sp>
      <p:sp>
        <p:nvSpPr>
          <p:cNvPr id="41" name="Shape 39"/>
          <p:cNvSpPr/>
          <p:nvPr/>
        </p:nvSpPr>
        <p:spPr>
          <a:xfrm>
            <a:off x="548640" y="5852160"/>
            <a:ext cx="11094415" cy="658368"/>
          </a:xfrm>
          <a:prstGeom prst="roundRect">
            <a:avLst>
              <a:gd name="adj" fmla="val 11111"/>
            </a:avLst>
          </a:prstGeom>
          <a:solidFill>
            <a:srgbClr val="EEF1F5"/>
          </a:solidFill>
          <a:ln w="12700">
            <a:solidFill>
              <a:srgbClr val="EEF1F5"/>
            </a:solidFill>
            <a:prstDash val="solid"/>
          </a:ln>
        </p:spPr>
      </p:sp>
      <p:sp>
        <p:nvSpPr>
          <p:cNvPr id="42" name="Text 40"/>
          <p:cNvSpPr txBox="1"/>
          <p:nvPr/>
        </p:nvSpPr>
        <p:spPr>
          <a:xfrm>
            <a:off x="777240" y="5897880"/>
            <a:ext cx="10637215" cy="566928"/>
          </a:xfrm>
          <a:prstGeom prst="rect">
            <a:avLst/>
          </a:prstGeom>
          <a:noFill/>
          <a:ln/>
        </p:spPr>
        <p:txBody>
          <a:bodyPr wrap="square" lIns="0" tIns="0" rIns="0" bIns="0" rtlCol="0" anchor="ctr"/>
          <a:lstStyle/>
          <a:p>
            <a:pPr algn="l" indent="0" marL="0">
              <a:lnSpc>
                <a:spcPct val="115000"/>
              </a:lnSpc>
              <a:buNone/>
            </a:pPr>
            <a:r>
              <a:rPr lang="en-US" sz="1200" dirty="0">
                <a:solidFill>
                  <a:srgbClr val="1B2430"/>
                </a:solidFill>
                <a:latin typeface="Calibri" pitchFamily="34" charset="0"/>
                <a:ea typeface="Calibri" pitchFamily="34" charset="-122"/>
                <a:cs typeface="Calibri" pitchFamily="34" charset="-120"/>
              </a:rPr>
              <a:t>Neither control moved: lab reference 77.0 kPa (day 0), baseline 77.3 kPa (day 1), treatment control 79.5 kPa (day 3); Welch p = 0.97 and 0.76 on per-animal means. The stressor effects are therefore judged against a control trajectory that is flat.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Paired observations: what they buy us statistically</a:t>
            </a:r>
            <a:endParaRPr lang="en-US" sz="3000" dirty="0"/>
          </a:p>
        </p:txBody>
      </p:sp>
      <p:sp>
        <p:nvSpPr>
          <p:cNvPr id="3" name="Text 1"/>
          <p:cNvSpPr txBox="1"/>
          <p:nvPr/>
        </p:nvSpPr>
        <p:spPr>
          <a:xfrm>
            <a:off x="548640" y="1280160"/>
            <a:ext cx="2697480" cy="274320"/>
          </a:xfrm>
          <a:prstGeom prst="rect">
            <a:avLst/>
          </a:prstGeom>
          <a:noFill/>
          <a:ln/>
        </p:spPr>
        <p:txBody>
          <a:bodyPr wrap="square" lIns="0" tIns="0" rIns="0" bIns="0" rtlCol="0" anchor="t"/>
          <a:lstStyle/>
          <a:p>
            <a:pPr algn="ctr" indent="0" marL="0">
              <a:lnSpc>
                <a:spcPct val="115000"/>
              </a:lnSpc>
              <a:buNone/>
            </a:pPr>
            <a:r>
              <a:rPr lang="en-US" sz="1300" b="1" dirty="0">
                <a:solidFill>
                  <a:srgbClr val="2A78D6"/>
                </a:solidFill>
                <a:latin typeface="Calibri" pitchFamily="34" charset="0"/>
                <a:ea typeface="Calibri" pitchFamily="34" charset="-122"/>
                <a:cs typeface="Calibri" pitchFamily="34" charset="-120"/>
              </a:rPr>
              <a:t>Control (n = 11)</a:t>
            </a:r>
            <a:endParaRPr lang="en-US" sz="1300" dirty="0"/>
          </a:p>
        </p:txBody>
      </p:sp>
      <p:graphicFrame>
        <p:nvGraphicFramePr>
          <p:cNvPr id="4" name="Chart 0" descr=""/>
          <p:cNvGraphicFramePr/>
          <p:nvPr/>
        </p:nvGraphicFramePr>
        <p:xfrm>
          <a:off x="548640" y="1554480"/>
          <a:ext cx="2697480" cy="26517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3364992" y="1280160"/>
            <a:ext cx="2697480" cy="274320"/>
          </a:xfrm>
          <a:prstGeom prst="rect">
            <a:avLst/>
          </a:prstGeom>
          <a:noFill/>
          <a:ln/>
        </p:spPr>
        <p:txBody>
          <a:bodyPr wrap="square" lIns="0" tIns="0" rIns="0" bIns="0" rtlCol="0" anchor="t"/>
          <a:lstStyle/>
          <a:p>
            <a:pPr algn="ctr" indent="0" marL="0">
              <a:lnSpc>
                <a:spcPct val="115000"/>
              </a:lnSpc>
              <a:buNone/>
            </a:pPr>
            <a:r>
              <a:rPr lang="en-US" sz="1300" b="1" dirty="0">
                <a:solidFill>
                  <a:srgbClr val="1BAF7A"/>
                </a:solidFill>
                <a:latin typeface="Calibri" pitchFamily="34" charset="0"/>
                <a:ea typeface="Calibri" pitchFamily="34" charset="-122"/>
                <a:cs typeface="Calibri" pitchFamily="34" charset="-120"/>
              </a:rPr>
              <a:t>Acidification (n = 12)</a:t>
            </a:r>
            <a:endParaRPr lang="en-US" sz="1300" dirty="0"/>
          </a:p>
        </p:txBody>
      </p:sp>
      <p:graphicFrame>
        <p:nvGraphicFramePr>
          <p:cNvPr id="6" name="Chart 1" descr=""/>
          <p:cNvGraphicFramePr/>
          <p:nvPr/>
        </p:nvGraphicFramePr>
        <p:xfrm>
          <a:off x="3364992" y="1554480"/>
          <a:ext cx="2697480" cy="265176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6181344" y="1280160"/>
            <a:ext cx="2697480" cy="274320"/>
          </a:xfrm>
          <a:prstGeom prst="rect">
            <a:avLst/>
          </a:prstGeom>
          <a:noFill/>
          <a:ln/>
        </p:spPr>
        <p:txBody>
          <a:bodyPr wrap="square" lIns="0" tIns="0" rIns="0" bIns="0" rtlCol="0" anchor="t"/>
          <a:lstStyle/>
          <a:p>
            <a:pPr algn="ctr" indent="0" marL="0">
              <a:lnSpc>
                <a:spcPct val="115000"/>
              </a:lnSpc>
              <a:buNone/>
            </a:pPr>
            <a:r>
              <a:rPr lang="en-US" sz="1300" b="1" dirty="0">
                <a:solidFill>
                  <a:srgbClr val="EB6834"/>
                </a:solidFill>
                <a:latin typeface="Calibri" pitchFamily="34" charset="0"/>
                <a:ea typeface="Calibri" pitchFamily="34" charset="-122"/>
                <a:cs typeface="Calibri" pitchFamily="34" charset="-120"/>
              </a:rPr>
              <a:t>Warming (n = 12)</a:t>
            </a:r>
            <a:endParaRPr lang="en-US" sz="1300" dirty="0"/>
          </a:p>
        </p:txBody>
      </p:sp>
      <p:graphicFrame>
        <p:nvGraphicFramePr>
          <p:cNvPr id="8" name="Chart 2" descr=""/>
          <p:cNvGraphicFramePr/>
          <p:nvPr/>
        </p:nvGraphicFramePr>
        <p:xfrm>
          <a:off x="6181344" y="1554480"/>
          <a:ext cx="2697480" cy="2651760"/>
        </p:xfrm>
        <a:graphic xmlns:a="http://schemas.openxmlformats.org/drawingml/2006/main">
          <a:graphicData uri="http://schemas.openxmlformats.org/drawingml/2006/chart">
            <c:chart xmlns:c="http://schemas.openxmlformats.org/drawingml/2006/chart" r:id="rId3"/>
          </a:graphicData>
        </a:graphic>
      </p:graphicFrame>
      <p:sp>
        <p:nvSpPr>
          <p:cNvPr id="9" name="Text 4"/>
          <p:cNvSpPr txBox="1"/>
          <p:nvPr/>
        </p:nvSpPr>
        <p:spPr>
          <a:xfrm>
            <a:off x="8997696" y="1280160"/>
            <a:ext cx="2697480" cy="274320"/>
          </a:xfrm>
          <a:prstGeom prst="rect">
            <a:avLst/>
          </a:prstGeom>
          <a:noFill/>
          <a:ln/>
        </p:spPr>
        <p:txBody>
          <a:bodyPr wrap="square" lIns="0" tIns="0" rIns="0" bIns="0" rtlCol="0" anchor="t"/>
          <a:lstStyle/>
          <a:p>
            <a:pPr algn="ctr" indent="0" marL="0">
              <a:lnSpc>
                <a:spcPct val="115000"/>
              </a:lnSpc>
              <a:buNone/>
            </a:pPr>
            <a:r>
              <a:rPr lang="en-US" sz="1300" b="1" dirty="0">
                <a:solidFill>
                  <a:srgbClr val="4A3AA7"/>
                </a:solidFill>
                <a:latin typeface="Calibri" pitchFamily="34" charset="0"/>
                <a:ea typeface="Calibri" pitchFamily="34" charset="-122"/>
                <a:cs typeface="Calibri" pitchFamily="34" charset="-120"/>
              </a:rPr>
              <a:t>Hypoxia (n = 12)</a:t>
            </a:r>
            <a:endParaRPr lang="en-US" sz="1300" dirty="0"/>
          </a:p>
        </p:txBody>
      </p:sp>
      <p:graphicFrame>
        <p:nvGraphicFramePr>
          <p:cNvPr id="10" name="Chart 3" descr=""/>
          <p:cNvGraphicFramePr/>
          <p:nvPr/>
        </p:nvGraphicFramePr>
        <p:xfrm>
          <a:off x="8997696" y="1554480"/>
          <a:ext cx="2697480" cy="2651760"/>
        </p:xfrm>
        <a:graphic xmlns:a="http://schemas.openxmlformats.org/drawingml/2006/main">
          <a:graphicData uri="http://schemas.openxmlformats.org/drawingml/2006/chart">
            <c:chart xmlns:c="http://schemas.openxmlformats.org/drawingml/2006/chart" r:id="rId4"/>
          </a:graphicData>
        </a:graphic>
      </p:graphicFrame>
      <p:sp>
        <p:nvSpPr>
          <p:cNvPr id="11" name="Text 5"/>
          <p:cNvSpPr txBox="1"/>
          <p:nvPr/>
        </p:nvSpPr>
        <p:spPr>
          <a:xfrm>
            <a:off x="548640" y="4270248"/>
            <a:ext cx="11094415" cy="274320"/>
          </a:xfrm>
          <a:prstGeom prst="rect">
            <a:avLst/>
          </a:prstGeom>
          <a:noFill/>
          <a:ln/>
        </p:spPr>
        <p:txBody>
          <a:bodyPr wrap="square" lIns="0" tIns="0" rIns="0" bIns="0" rtlCol="0" anchor="t"/>
          <a:lstStyle/>
          <a:p>
            <a:pPr algn="l" indent="0" marL="0">
              <a:lnSpc>
                <a:spcPct val="115000"/>
              </a:lnSpc>
              <a:buNone/>
            </a:pPr>
            <a:r>
              <a:rPr lang="en-US" sz="1000" dirty="0">
                <a:solidFill>
                  <a:srgbClr val="6B7480"/>
                </a:solidFill>
                <a:latin typeface="Calibri" pitchFamily="34" charset="0"/>
                <a:ea typeface="Calibri" pitchFamily="34" charset="-122"/>
                <a:cs typeface="Calibri" pitchFamily="34" charset="-120"/>
              </a:rPr>
              <a:t>Thin lines: individual animals (mean of their threads at each pull); bold line: arm mean.</a:t>
            </a:r>
            <a:endParaRPr lang="en-US" sz="1000" dirty="0"/>
          </a:p>
        </p:txBody>
      </p:sp>
      <p:sp>
        <p:nvSpPr>
          <p:cNvPr id="12" name="Shape 6"/>
          <p:cNvSpPr/>
          <p:nvPr/>
        </p:nvSpPr>
        <p:spPr>
          <a:xfrm>
            <a:off x="548640" y="4709160"/>
            <a:ext cx="2670734" cy="1600200"/>
          </a:xfrm>
          <a:prstGeom prst="roundRect">
            <a:avLst>
              <a:gd name="adj" fmla="val 4571"/>
            </a:avLst>
          </a:prstGeom>
          <a:solidFill>
            <a:srgbClr val="EEF1F5"/>
          </a:solidFill>
          <a:ln w="12700">
            <a:solidFill>
              <a:srgbClr val="EEF1F5"/>
            </a:solidFill>
            <a:prstDash val="solid"/>
          </a:ln>
        </p:spPr>
      </p:sp>
      <p:sp>
        <p:nvSpPr>
          <p:cNvPr id="13" name="Text 7"/>
          <p:cNvSpPr txBox="1"/>
          <p:nvPr/>
        </p:nvSpPr>
        <p:spPr>
          <a:xfrm>
            <a:off x="713232" y="4818888"/>
            <a:ext cx="2341550" cy="457200"/>
          </a:xfrm>
          <a:prstGeom prst="rect">
            <a:avLst/>
          </a:prstGeom>
          <a:noFill/>
          <a:ln/>
        </p:spPr>
        <p:txBody>
          <a:bodyPr wrap="square" lIns="0" tIns="0" rIns="0" bIns="0" rtlCol="0" anchor="t"/>
          <a:lstStyle/>
          <a:p>
            <a:pPr algn="l" indent="0" marL="0">
              <a:lnSpc>
                <a:spcPct val="110000"/>
              </a:lnSpc>
              <a:buNone/>
            </a:pPr>
            <a:r>
              <a:rPr lang="en-US" sz="1250" b="1" dirty="0">
                <a:solidFill>
                  <a:srgbClr val="1B2430"/>
                </a:solidFill>
                <a:latin typeface="Calibri" pitchFamily="34" charset="0"/>
                <a:ea typeface="Calibri" pitchFamily="34" charset="-122"/>
                <a:cs typeface="Calibri" pitchFamily="34" charset="-120"/>
              </a:rPr>
              <a:t>1. Each animal is its own baseline</a:t>
            </a:r>
            <a:endParaRPr lang="en-US" sz="1250" dirty="0"/>
          </a:p>
        </p:txBody>
      </p:sp>
      <p:sp>
        <p:nvSpPr>
          <p:cNvPr id="14" name="Text 8"/>
          <p:cNvSpPr txBox="1"/>
          <p:nvPr/>
        </p:nvSpPr>
        <p:spPr>
          <a:xfrm>
            <a:off x="713232" y="5276088"/>
            <a:ext cx="2341550" cy="1005840"/>
          </a:xfrm>
          <a:prstGeom prst="rect">
            <a:avLst/>
          </a:prstGeom>
          <a:noFill/>
          <a:ln/>
        </p:spPr>
        <p:txBody>
          <a:bodyPr wrap="square" lIns="0" tIns="0" rIns="0" bIns="0" rtlCol="0" anchor="t"/>
          <a:lstStyle/>
          <a:p>
            <a:pPr algn="l" indent="0" marL="0">
              <a:lnSpc>
                <a:spcPct val="112000"/>
              </a:lnSpc>
              <a:buNone/>
            </a:pPr>
            <a:r>
              <a:rPr lang="en-US" sz="1050" dirty="0">
                <a:solidFill>
                  <a:srgbClr val="45505E"/>
                </a:solidFill>
                <a:latin typeface="Calibri" pitchFamily="34" charset="0"/>
                <a:ea typeface="Calibri" pitchFamily="34" charset="-122"/>
                <a:cs typeface="Calibri" pitchFamily="34" charset="-120"/>
              </a:rPr>
              <a:t>The outcome is the change within an animal, so the stressor arms are compared against the control arm’s own trajectory (arm × time interaction), not against a different set of animals.</a:t>
            </a:r>
            <a:endParaRPr lang="en-US" sz="1050" dirty="0"/>
          </a:p>
        </p:txBody>
      </p:sp>
      <p:sp>
        <p:nvSpPr>
          <p:cNvPr id="15" name="Shape 9"/>
          <p:cNvSpPr/>
          <p:nvPr/>
        </p:nvSpPr>
        <p:spPr>
          <a:xfrm>
            <a:off x="3356534" y="4709160"/>
            <a:ext cx="2670734" cy="1600200"/>
          </a:xfrm>
          <a:prstGeom prst="roundRect">
            <a:avLst>
              <a:gd name="adj" fmla="val 4571"/>
            </a:avLst>
          </a:prstGeom>
          <a:solidFill>
            <a:srgbClr val="EEF1F5"/>
          </a:solidFill>
          <a:ln w="12700">
            <a:solidFill>
              <a:srgbClr val="EEF1F5"/>
            </a:solidFill>
            <a:prstDash val="solid"/>
          </a:ln>
        </p:spPr>
      </p:sp>
      <p:sp>
        <p:nvSpPr>
          <p:cNvPr id="16" name="Text 10"/>
          <p:cNvSpPr txBox="1"/>
          <p:nvPr/>
        </p:nvSpPr>
        <p:spPr>
          <a:xfrm>
            <a:off x="3521126" y="4818888"/>
            <a:ext cx="2341550" cy="457200"/>
          </a:xfrm>
          <a:prstGeom prst="rect">
            <a:avLst/>
          </a:prstGeom>
          <a:noFill/>
          <a:ln/>
        </p:spPr>
        <p:txBody>
          <a:bodyPr wrap="square" lIns="0" tIns="0" rIns="0" bIns="0" rtlCol="0" anchor="t"/>
          <a:lstStyle/>
          <a:p>
            <a:pPr algn="l" indent="0" marL="0">
              <a:lnSpc>
                <a:spcPct val="110000"/>
              </a:lnSpc>
              <a:buNone/>
            </a:pPr>
            <a:r>
              <a:rPr lang="en-US" sz="1250" b="1" dirty="0">
                <a:solidFill>
                  <a:srgbClr val="1B2430"/>
                </a:solidFill>
                <a:latin typeface="Calibri" pitchFamily="34" charset="0"/>
                <a:ea typeface="Calibri" pitchFamily="34" charset="-122"/>
                <a:cs typeface="Calibri" pitchFamily="34" charset="-120"/>
              </a:rPr>
              <a:t>2. Baseline imbalance is absorbed</a:t>
            </a:r>
            <a:endParaRPr lang="en-US" sz="1250" dirty="0"/>
          </a:p>
        </p:txBody>
      </p:sp>
      <p:sp>
        <p:nvSpPr>
          <p:cNvPr id="17" name="Text 11"/>
          <p:cNvSpPr txBox="1"/>
          <p:nvPr/>
        </p:nvSpPr>
        <p:spPr>
          <a:xfrm>
            <a:off x="3521126" y="5276088"/>
            <a:ext cx="2341550" cy="1005840"/>
          </a:xfrm>
          <a:prstGeom prst="rect">
            <a:avLst/>
          </a:prstGeom>
          <a:noFill/>
          <a:ln/>
        </p:spPr>
        <p:txBody>
          <a:bodyPr wrap="square" lIns="0" tIns="0" rIns="0" bIns="0" rtlCol="0" anchor="t"/>
          <a:lstStyle/>
          <a:p>
            <a:pPr algn="l" indent="0" marL="0">
              <a:lnSpc>
                <a:spcPct val="112000"/>
              </a:lnSpc>
              <a:buNone/>
            </a:pPr>
            <a:r>
              <a:rPr lang="en-US" sz="1050" dirty="0">
                <a:solidFill>
                  <a:srgbClr val="45505E"/>
                </a:solidFill>
                <a:latin typeface="Calibri" pitchFamily="34" charset="0"/>
                <a:ea typeface="Calibri" pitchFamily="34" charset="-122"/>
                <a:cs typeface="Calibri" pitchFamily="34" charset="-120"/>
              </a:rPr>
              <a:t>Arms did not start identical: control animals averaged 89 kPa at baseline, hypoxia 71 kPa (p = 0.19). A day-3-only comparison would carry that difference; the paired design removes it.</a:t>
            </a:r>
            <a:endParaRPr lang="en-US" sz="1050" dirty="0"/>
          </a:p>
        </p:txBody>
      </p:sp>
      <p:sp>
        <p:nvSpPr>
          <p:cNvPr id="18" name="Shape 12"/>
          <p:cNvSpPr/>
          <p:nvPr/>
        </p:nvSpPr>
        <p:spPr>
          <a:xfrm>
            <a:off x="6164428" y="4709160"/>
            <a:ext cx="2670734" cy="1600200"/>
          </a:xfrm>
          <a:prstGeom prst="roundRect">
            <a:avLst>
              <a:gd name="adj" fmla="val 4571"/>
            </a:avLst>
          </a:prstGeom>
          <a:solidFill>
            <a:srgbClr val="EEF1F5"/>
          </a:solidFill>
          <a:ln w="12700">
            <a:solidFill>
              <a:srgbClr val="EEF1F5"/>
            </a:solidFill>
            <a:prstDash val="solid"/>
          </a:ln>
        </p:spPr>
      </p:sp>
      <p:sp>
        <p:nvSpPr>
          <p:cNvPr id="19" name="Text 13"/>
          <p:cNvSpPr txBox="1"/>
          <p:nvPr/>
        </p:nvSpPr>
        <p:spPr>
          <a:xfrm>
            <a:off x="6329020" y="4818888"/>
            <a:ext cx="2341550" cy="457200"/>
          </a:xfrm>
          <a:prstGeom prst="rect">
            <a:avLst/>
          </a:prstGeom>
          <a:noFill/>
          <a:ln/>
        </p:spPr>
        <p:txBody>
          <a:bodyPr wrap="square" lIns="0" tIns="0" rIns="0" bIns="0" rtlCol="0" anchor="t"/>
          <a:lstStyle/>
          <a:p>
            <a:pPr algn="l" indent="0" marL="0">
              <a:lnSpc>
                <a:spcPct val="110000"/>
              </a:lnSpc>
              <a:buNone/>
            </a:pPr>
            <a:r>
              <a:rPr lang="en-US" sz="1250" b="1" dirty="0">
                <a:solidFill>
                  <a:srgbClr val="1B2430"/>
                </a:solidFill>
                <a:latin typeface="Calibri" pitchFamily="34" charset="0"/>
                <a:ea typeface="Calibri" pitchFamily="34" charset="-122"/>
                <a:cs typeface="Calibri" pitchFamily="34" charset="-120"/>
              </a:rPr>
              <a:t>3. Animal-level variance is modelled</a:t>
            </a:r>
            <a:endParaRPr lang="en-US" sz="1250" dirty="0"/>
          </a:p>
        </p:txBody>
      </p:sp>
      <p:sp>
        <p:nvSpPr>
          <p:cNvPr id="20" name="Text 14"/>
          <p:cNvSpPr txBox="1"/>
          <p:nvPr/>
        </p:nvSpPr>
        <p:spPr>
          <a:xfrm>
            <a:off x="6329020" y="5276088"/>
            <a:ext cx="2341550" cy="1005840"/>
          </a:xfrm>
          <a:prstGeom prst="rect">
            <a:avLst/>
          </a:prstGeom>
          <a:noFill/>
          <a:ln/>
        </p:spPr>
        <p:txBody>
          <a:bodyPr wrap="square" lIns="0" tIns="0" rIns="0" bIns="0" rtlCol="0" anchor="t"/>
          <a:lstStyle/>
          <a:p>
            <a:pPr algn="l" indent="0" marL="0">
              <a:lnSpc>
                <a:spcPct val="112000"/>
              </a:lnSpc>
              <a:buNone/>
            </a:pPr>
            <a:r>
              <a:rPr lang="en-US" sz="1050" dirty="0">
                <a:solidFill>
                  <a:srgbClr val="45505E"/>
                </a:solidFill>
                <a:latin typeface="Calibri" pitchFamily="34" charset="0"/>
                <a:ea typeface="Calibri" pitchFamily="34" charset="-122"/>
                <a:cs typeface="Calibri" pitchFamily="34" charset="-120"/>
              </a:rPr>
              <a:t>A random intercept per animal separates between-animal differences (30 to 60 % of thread-to-thread variance) from thread noise, and paired t-tests give a second, model-free check.</a:t>
            </a:r>
            <a:endParaRPr lang="en-US" sz="1050" dirty="0"/>
          </a:p>
        </p:txBody>
      </p:sp>
      <p:sp>
        <p:nvSpPr>
          <p:cNvPr id="21" name="Shape 15"/>
          <p:cNvSpPr/>
          <p:nvPr/>
        </p:nvSpPr>
        <p:spPr>
          <a:xfrm>
            <a:off x="8972321" y="4709160"/>
            <a:ext cx="2670734" cy="1600200"/>
          </a:xfrm>
          <a:prstGeom prst="roundRect">
            <a:avLst>
              <a:gd name="adj" fmla="val 4571"/>
            </a:avLst>
          </a:prstGeom>
          <a:solidFill>
            <a:srgbClr val="EEF1F5"/>
          </a:solidFill>
          <a:ln w="12700">
            <a:solidFill>
              <a:srgbClr val="EEF1F5"/>
            </a:solidFill>
            <a:prstDash val="solid"/>
          </a:ln>
        </p:spPr>
      </p:sp>
      <p:sp>
        <p:nvSpPr>
          <p:cNvPr id="22" name="Text 16"/>
          <p:cNvSpPr txBox="1"/>
          <p:nvPr/>
        </p:nvSpPr>
        <p:spPr>
          <a:xfrm>
            <a:off x="9136913" y="4818888"/>
            <a:ext cx="2341550" cy="457200"/>
          </a:xfrm>
          <a:prstGeom prst="rect">
            <a:avLst/>
          </a:prstGeom>
          <a:noFill/>
          <a:ln/>
        </p:spPr>
        <p:txBody>
          <a:bodyPr wrap="square" lIns="0" tIns="0" rIns="0" bIns="0" rtlCol="0" anchor="t"/>
          <a:lstStyle/>
          <a:p>
            <a:pPr algn="l" indent="0" marL="0">
              <a:lnSpc>
                <a:spcPct val="110000"/>
              </a:lnSpc>
              <a:buNone/>
            </a:pPr>
            <a:r>
              <a:rPr lang="en-US" sz="1250" b="1" dirty="0">
                <a:solidFill>
                  <a:srgbClr val="1B2430"/>
                </a:solidFill>
                <a:latin typeface="Calibri" pitchFamily="34" charset="0"/>
                <a:ea typeface="Calibri" pitchFamily="34" charset="-122"/>
                <a:cs typeface="Calibri" pitchFamily="34" charset="-120"/>
              </a:rPr>
              <a:t>4. Where the gain is smaller</a:t>
            </a:r>
            <a:endParaRPr lang="en-US" sz="1250" dirty="0"/>
          </a:p>
        </p:txBody>
      </p:sp>
      <p:sp>
        <p:nvSpPr>
          <p:cNvPr id="23" name="Text 17"/>
          <p:cNvSpPr txBox="1"/>
          <p:nvPr/>
        </p:nvSpPr>
        <p:spPr>
          <a:xfrm>
            <a:off x="9136913" y="5276088"/>
            <a:ext cx="2341550" cy="1005840"/>
          </a:xfrm>
          <a:prstGeom prst="rect">
            <a:avLst/>
          </a:prstGeom>
          <a:noFill/>
          <a:ln/>
        </p:spPr>
        <p:txBody>
          <a:bodyPr wrap="square" lIns="0" tIns="0" rIns="0" bIns="0" rtlCol="0" anchor="t"/>
          <a:lstStyle/>
          <a:p>
            <a:pPr algn="l" indent="0" marL="0">
              <a:lnSpc>
                <a:spcPct val="112000"/>
              </a:lnSpc>
              <a:buNone/>
            </a:pPr>
            <a:r>
              <a:rPr lang="en-US" sz="1050" dirty="0">
                <a:solidFill>
                  <a:srgbClr val="45505E"/>
                </a:solidFill>
                <a:latin typeface="Calibri" pitchFamily="34" charset="0"/>
                <a:ea typeface="Calibri" pitchFamily="34" charset="-122"/>
                <a:cs typeface="Calibri" pitchFamily="34" charset="-120"/>
              </a:rPr>
              <a:t>An animal’s adhesion at day 3 is only weakly related to its baseline (r = 0.0 to 0.4 by arm), so pairing sharpens plaque area (repeatability 0.6) more than it sharpens adhesion.</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What we measured on each animal</a:t>
            </a:r>
            <a:endParaRPr lang="en-US" sz="3000" dirty="0"/>
          </a:p>
        </p:txBody>
      </p:sp>
      <p:sp>
        <p:nvSpPr>
          <p:cNvPr id="3" name="Shape 1"/>
          <p:cNvSpPr/>
          <p:nvPr/>
        </p:nvSpPr>
        <p:spPr>
          <a:xfrm>
            <a:off x="548640" y="1417320"/>
            <a:ext cx="3515258" cy="4480560"/>
          </a:xfrm>
          <a:prstGeom prst="roundRect">
            <a:avLst>
              <a:gd name="adj" fmla="val 2081"/>
            </a:avLst>
          </a:prstGeom>
          <a:solidFill>
            <a:srgbClr val="EEF1F5"/>
          </a:solidFill>
          <a:ln w="12700">
            <a:solidFill>
              <a:srgbClr val="EEF1F5"/>
            </a:solidFill>
            <a:prstDash val="solid"/>
          </a:ln>
        </p:spPr>
      </p:sp>
      <p:sp>
        <p:nvSpPr>
          <p:cNvPr id="4" name="Text 2"/>
          <p:cNvSpPr txBox="1"/>
          <p:nvPr/>
        </p:nvSpPr>
        <p:spPr>
          <a:xfrm>
            <a:off x="822960" y="1673352"/>
            <a:ext cx="2966618" cy="411480"/>
          </a:xfrm>
          <a:prstGeom prst="rect">
            <a:avLst/>
          </a:prstGeom>
          <a:noFill/>
          <a:ln/>
        </p:spPr>
        <p:txBody>
          <a:bodyPr wrap="square" lIns="0" tIns="0" rIns="0" bIns="0" rtlCol="0" anchor="t"/>
          <a:lstStyle/>
          <a:p>
            <a:pPr algn="l" indent="0" marL="0">
              <a:lnSpc>
                <a:spcPct val="115000"/>
              </a:lnSpc>
              <a:buNone/>
            </a:pPr>
            <a:r>
              <a:rPr lang="en-US" sz="2000" b="1" dirty="0">
                <a:solidFill>
                  <a:srgbClr val="1B2430"/>
                </a:solidFill>
                <a:latin typeface="Cambria" pitchFamily="34" charset="0"/>
                <a:ea typeface="Cambria" pitchFamily="34" charset="-122"/>
                <a:cs typeface="Cambria" pitchFamily="34" charset="-120"/>
              </a:rPr>
              <a:t>Thread mechanics</a:t>
            </a:r>
            <a:endParaRPr lang="en-US" sz="2000" dirty="0"/>
          </a:p>
        </p:txBody>
      </p:sp>
      <p:sp>
        <p:nvSpPr>
          <p:cNvPr id="5" name="Text 3"/>
          <p:cNvSpPr txBox="1"/>
          <p:nvPr/>
        </p:nvSpPr>
        <p:spPr>
          <a:xfrm>
            <a:off x="822960" y="2148840"/>
            <a:ext cx="2966618" cy="502920"/>
          </a:xfrm>
          <a:prstGeom prst="rect">
            <a:avLst/>
          </a:prstGeom>
          <a:noFill/>
          <a:ln/>
        </p:spPr>
        <p:txBody>
          <a:bodyPr wrap="square" lIns="0" tIns="0" rIns="0" bIns="0" rtlCol="0" anchor="t"/>
          <a:lstStyle/>
          <a:p>
            <a:pPr algn="l" indent="0" marL="0">
              <a:lnSpc>
                <a:spcPct val="115000"/>
              </a:lnSpc>
              <a:buNone/>
            </a:pPr>
            <a:r>
              <a:rPr lang="en-US" sz="1900" b="1" dirty="0">
                <a:solidFill>
                  <a:srgbClr val="1F6F8B"/>
                </a:solidFill>
                <a:latin typeface="Calibri" pitchFamily="34" charset="0"/>
                <a:ea typeface="Calibri" pitchFamily="34" charset="-122"/>
                <a:cs typeface="Calibri" pitchFamily="34" charset="-120"/>
              </a:rPr>
              <a:t>380 threads · 86 animals</a:t>
            </a:r>
            <a:endParaRPr lang="en-US" sz="1900" dirty="0"/>
          </a:p>
        </p:txBody>
      </p:sp>
      <p:sp>
        <p:nvSpPr>
          <p:cNvPr id="6" name="Text 4"/>
          <p:cNvSpPr txBox="1"/>
          <p:nvPr/>
        </p:nvSpPr>
        <p:spPr>
          <a:xfrm>
            <a:off x="822960" y="2834640"/>
            <a:ext cx="2966618" cy="29260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Tensometer pull test on every thread: peak force (N) and extension at break (mm).</a:t>
            </a:r>
            <a:endParaRPr lang="en-US" sz="1300" dirty="0"/>
          </a:p>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Plaque area (mm²) from a microscope image of the footprint; failure mode scored.</a:t>
            </a:r>
            <a:endParaRPr lang="en-US" sz="1300" dirty="0"/>
          </a:p>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Adhesion = peak force / plaque area (kPa), a derived quantity.</a:t>
            </a:r>
            <a:endParaRPr lang="en-US" sz="1300" dirty="0"/>
          </a:p>
        </p:txBody>
      </p:sp>
      <p:sp>
        <p:nvSpPr>
          <p:cNvPr id="7" name="Shape 5"/>
          <p:cNvSpPr/>
          <p:nvPr/>
        </p:nvSpPr>
        <p:spPr>
          <a:xfrm>
            <a:off x="4338218" y="1417320"/>
            <a:ext cx="3515258" cy="4480560"/>
          </a:xfrm>
          <a:prstGeom prst="roundRect">
            <a:avLst>
              <a:gd name="adj" fmla="val 2081"/>
            </a:avLst>
          </a:prstGeom>
          <a:solidFill>
            <a:srgbClr val="EEF1F5"/>
          </a:solidFill>
          <a:ln w="12700">
            <a:solidFill>
              <a:srgbClr val="EEF1F5"/>
            </a:solidFill>
            <a:prstDash val="solid"/>
          </a:ln>
        </p:spPr>
      </p:sp>
      <p:sp>
        <p:nvSpPr>
          <p:cNvPr id="8" name="Text 6"/>
          <p:cNvSpPr txBox="1"/>
          <p:nvPr/>
        </p:nvSpPr>
        <p:spPr>
          <a:xfrm>
            <a:off x="4612538" y="1673352"/>
            <a:ext cx="2966618" cy="411480"/>
          </a:xfrm>
          <a:prstGeom prst="rect">
            <a:avLst/>
          </a:prstGeom>
          <a:noFill/>
          <a:ln/>
        </p:spPr>
        <p:txBody>
          <a:bodyPr wrap="square" lIns="0" tIns="0" rIns="0" bIns="0" rtlCol="0" anchor="t"/>
          <a:lstStyle/>
          <a:p>
            <a:pPr algn="l" indent="0" marL="0">
              <a:lnSpc>
                <a:spcPct val="115000"/>
              </a:lnSpc>
              <a:buNone/>
            </a:pPr>
            <a:r>
              <a:rPr lang="en-US" sz="2000" b="1" dirty="0">
                <a:solidFill>
                  <a:srgbClr val="1B2430"/>
                </a:solidFill>
                <a:latin typeface="Cambria" pitchFamily="34" charset="0"/>
                <a:ea typeface="Cambria" pitchFamily="34" charset="-122"/>
                <a:cs typeface="Cambria" pitchFamily="34" charset="-120"/>
              </a:rPr>
              <a:t>Before and after</a:t>
            </a:r>
            <a:endParaRPr lang="en-US" sz="2000" dirty="0"/>
          </a:p>
        </p:txBody>
      </p:sp>
      <p:sp>
        <p:nvSpPr>
          <p:cNvPr id="9" name="Text 7"/>
          <p:cNvSpPr txBox="1"/>
          <p:nvPr/>
        </p:nvSpPr>
        <p:spPr>
          <a:xfrm>
            <a:off x="4612538" y="2148840"/>
            <a:ext cx="2966618" cy="502920"/>
          </a:xfrm>
          <a:prstGeom prst="rect">
            <a:avLst/>
          </a:prstGeom>
          <a:noFill/>
          <a:ln/>
        </p:spPr>
        <p:txBody>
          <a:bodyPr wrap="square" lIns="0" tIns="0" rIns="0" bIns="0" rtlCol="0" anchor="t"/>
          <a:lstStyle/>
          <a:p>
            <a:pPr algn="l" indent="0" marL="0">
              <a:lnSpc>
                <a:spcPct val="115000"/>
              </a:lnSpc>
              <a:buNone/>
            </a:pPr>
            <a:r>
              <a:rPr lang="en-US" sz="1900" b="1" dirty="0">
                <a:solidFill>
                  <a:srgbClr val="1F6F8B"/>
                </a:solidFill>
                <a:latin typeface="Calibri" pitchFamily="34" charset="0"/>
                <a:ea typeface="Calibri" pitchFamily="34" charset="-122"/>
                <a:cs typeface="Calibri" pitchFamily="34" charset="-120"/>
              </a:rPr>
              <a:t>47 animals paired</a:t>
            </a:r>
            <a:endParaRPr lang="en-US" sz="1900" dirty="0"/>
          </a:p>
        </p:txBody>
      </p:sp>
      <p:sp>
        <p:nvSpPr>
          <p:cNvPr id="10" name="Text 8"/>
          <p:cNvSpPr txBox="1"/>
          <p:nvPr/>
        </p:nvSpPr>
        <p:spPr>
          <a:xfrm>
            <a:off x="4612538" y="2834640"/>
            <a:ext cx="2966618" cy="29260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Day-1 baseline threads and day-3 threads from the same animal, usually three per pull.</a:t>
            </a:r>
            <a:endParaRPr lang="en-US" sz="1300" dirty="0"/>
          </a:p>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Paired animals: control 11, acidification 12, warming 12, hypoxia 12.</a:t>
            </a:r>
            <a:endParaRPr lang="en-US" sz="1300" dirty="0"/>
          </a:p>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Arm × timepoint mixed models on the log scale, one random intercept per animal.</a:t>
            </a:r>
            <a:endParaRPr lang="en-US" sz="1300" dirty="0"/>
          </a:p>
        </p:txBody>
      </p:sp>
      <p:sp>
        <p:nvSpPr>
          <p:cNvPr id="11" name="Shape 9"/>
          <p:cNvSpPr/>
          <p:nvPr/>
        </p:nvSpPr>
        <p:spPr>
          <a:xfrm>
            <a:off x="8127797" y="1417320"/>
            <a:ext cx="3515258" cy="4480560"/>
          </a:xfrm>
          <a:prstGeom prst="roundRect">
            <a:avLst>
              <a:gd name="adj" fmla="val 2081"/>
            </a:avLst>
          </a:prstGeom>
          <a:solidFill>
            <a:srgbClr val="EEF1F5"/>
          </a:solidFill>
          <a:ln w="12700">
            <a:solidFill>
              <a:srgbClr val="EEF1F5"/>
            </a:solidFill>
            <a:prstDash val="solid"/>
          </a:ln>
        </p:spPr>
      </p:sp>
      <p:sp>
        <p:nvSpPr>
          <p:cNvPr id="12" name="Text 10"/>
          <p:cNvSpPr txBox="1"/>
          <p:nvPr/>
        </p:nvSpPr>
        <p:spPr>
          <a:xfrm>
            <a:off x="8402117" y="1673352"/>
            <a:ext cx="2966618" cy="411480"/>
          </a:xfrm>
          <a:prstGeom prst="rect">
            <a:avLst/>
          </a:prstGeom>
          <a:noFill/>
          <a:ln/>
        </p:spPr>
        <p:txBody>
          <a:bodyPr wrap="square" lIns="0" tIns="0" rIns="0" bIns="0" rtlCol="0" anchor="t"/>
          <a:lstStyle/>
          <a:p>
            <a:pPr algn="l" indent="0" marL="0">
              <a:lnSpc>
                <a:spcPct val="115000"/>
              </a:lnSpc>
              <a:buNone/>
            </a:pPr>
            <a:r>
              <a:rPr lang="en-US" sz="2000" b="1" dirty="0">
                <a:solidFill>
                  <a:srgbClr val="1B2430"/>
                </a:solidFill>
                <a:latin typeface="Cambria" pitchFamily="34" charset="0"/>
                <a:ea typeface="Cambria" pitchFamily="34" charset="-122"/>
                <a:cs typeface="Cambria" pitchFamily="34" charset="-120"/>
              </a:rPr>
              <a:t>Transcriptomes</a:t>
            </a:r>
            <a:endParaRPr lang="en-US" sz="2000" dirty="0"/>
          </a:p>
        </p:txBody>
      </p:sp>
      <p:sp>
        <p:nvSpPr>
          <p:cNvPr id="13" name="Text 11"/>
          <p:cNvSpPr txBox="1"/>
          <p:nvPr/>
        </p:nvSpPr>
        <p:spPr>
          <a:xfrm>
            <a:off x="8402117" y="2148840"/>
            <a:ext cx="2966618" cy="502920"/>
          </a:xfrm>
          <a:prstGeom prst="rect">
            <a:avLst/>
          </a:prstGeom>
          <a:noFill/>
          <a:ln/>
        </p:spPr>
        <p:txBody>
          <a:bodyPr wrap="square" lIns="0" tIns="0" rIns="0" bIns="0" rtlCol="0" anchor="t"/>
          <a:lstStyle/>
          <a:p>
            <a:pPr algn="l" indent="0" marL="0">
              <a:lnSpc>
                <a:spcPct val="115000"/>
              </a:lnSpc>
              <a:buNone/>
            </a:pPr>
            <a:r>
              <a:rPr lang="en-US" sz="1900" b="1" dirty="0">
                <a:solidFill>
                  <a:srgbClr val="1F6F8B"/>
                </a:solidFill>
                <a:latin typeface="Calibri" pitchFamily="34" charset="0"/>
                <a:ea typeface="Calibri" pitchFamily="34" charset="-122"/>
                <a:cs typeface="Calibri" pitchFamily="34" charset="-120"/>
              </a:rPr>
              <a:t>2 tissues × 3 contrasts</a:t>
            </a:r>
            <a:endParaRPr lang="en-US" sz="1900" dirty="0"/>
          </a:p>
        </p:txBody>
      </p:sp>
      <p:sp>
        <p:nvSpPr>
          <p:cNvPr id="14" name="Text 12"/>
          <p:cNvSpPr txBox="1"/>
          <p:nvPr/>
        </p:nvSpPr>
        <p:spPr>
          <a:xfrm>
            <a:off x="8402117" y="2834640"/>
            <a:ext cx="2966618" cy="292608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Tag-seq of foot and gill at day 3; 129 libraries after QC.</a:t>
            </a:r>
            <a:endParaRPr lang="en-US" sz="1300" dirty="0"/>
          </a:p>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Each stressor vs the day-3 control arm, 12 vs 12 animals (hypoxia 10 to 11); DESeq2 with apeglm shrinkage, padj &lt; 0.05.</a:t>
            </a:r>
            <a:endParaRPr lang="en-US" sz="1300" dirty="0"/>
          </a:p>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45 animals have both foot RNA and paired threads.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Adhesion fell under acidification and warming, not hypoxia</a:t>
            </a:r>
            <a:endParaRPr lang="en-US" sz="3000" dirty="0"/>
          </a:p>
        </p:txBody>
      </p:sp>
      <p:sp>
        <p:nvSpPr>
          <p:cNvPr id="3" name="Text 1"/>
          <p:cNvSpPr txBox="1"/>
          <p:nvPr/>
        </p:nvSpPr>
        <p:spPr>
          <a:xfrm>
            <a:off x="548640" y="1280160"/>
            <a:ext cx="6400800" cy="274320"/>
          </a:xfrm>
          <a:prstGeom prst="rect">
            <a:avLst/>
          </a:prstGeom>
          <a:noFill/>
          <a:ln/>
        </p:spPr>
        <p:txBody>
          <a:bodyPr wrap="square" lIns="0" tIns="0" rIns="0" bIns="0" rtlCol="0" anchor="t"/>
          <a:lstStyle/>
          <a:p>
            <a:pPr algn="l" indent="0" marL="0">
              <a:lnSpc>
                <a:spcPct val="115000"/>
              </a:lnSpc>
              <a:buNone/>
            </a:pPr>
            <a:r>
              <a:rPr lang="en-US" sz="1100" b="1" spc="200" kern="0" dirty="0">
                <a:solidFill>
                  <a:srgbClr val="1F6F8B"/>
                </a:solidFill>
                <a:latin typeface="Calibri" pitchFamily="34" charset="0"/>
                <a:ea typeface="Calibri" pitchFamily="34" charset="-122"/>
                <a:cs typeface="Calibri" pitchFamily="34" charset="-120"/>
              </a:rPr>
              <a:t>DAY 3 VS BASELINE, KPA, MODEL ESTIMATE WITH 95 % CI</a:t>
            </a:r>
            <a:endParaRPr lang="en-US" sz="1100" dirty="0"/>
          </a:p>
        </p:txBody>
      </p:sp>
      <p:graphicFrame>
        <p:nvGraphicFramePr>
          <p:cNvPr id="4" name="Chart 0" descr=""/>
          <p:cNvGraphicFramePr/>
          <p:nvPr/>
        </p:nvGraphicFramePr>
        <p:xfrm>
          <a:off x="457200" y="1554480"/>
          <a:ext cx="6675120" cy="402336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223760" y="1371600"/>
            <a:ext cx="4419295" cy="1005840"/>
          </a:xfrm>
          <a:prstGeom prst="rect">
            <a:avLst/>
          </a:prstGeom>
          <a:noFill/>
          <a:ln/>
        </p:spPr>
        <p:txBody>
          <a:bodyPr wrap="square" lIns="0" tIns="0" rIns="0" bIns="0" rtlCol="0" anchor="t"/>
          <a:lstStyle/>
          <a:p>
            <a:pPr algn="l" indent="0" marL="0">
              <a:lnSpc>
                <a:spcPct val="120000"/>
              </a:lnSpc>
              <a:buNone/>
            </a:pPr>
            <a:r>
              <a:rPr lang="en-US" sz="1900" dirty="0">
                <a:solidFill>
                  <a:srgbClr val="1B2430"/>
                </a:solidFill>
                <a:latin typeface="Cambria" pitchFamily="34" charset="0"/>
                <a:ea typeface="Cambria" pitchFamily="34" charset="-122"/>
                <a:cs typeface="Cambria" pitchFamily="34" charset="-120"/>
              </a:rPr>
              <a:t>The arms did not decline in parallel: arm × time interaction p = 0.006.</a:t>
            </a:r>
            <a:endParaRPr lang="en-US" sz="1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7223760" y="2514600"/>
          <a:ext cx="4419295" cy="914400"/>
        </p:xfrm>
        <a:graphic>
          <a:graphicData uri="http://schemas.openxmlformats.org/drawingml/2006/table">
            <a:tbl>
              <a:tblPr/>
              <a:tblGrid>
                <a:gridCol w="1554480"/>
                <a:gridCol w="914400"/>
                <a:gridCol w="1417320"/>
                <a:gridCol w="914400"/>
              </a:tblGrid>
              <a:tr h="310896">
                <a:tc>
                  <a:txBody>
                    <a:bodyPr/>
                    <a:lstStyle/>
                    <a:p>
                      <a:pPr algn="l" indent="0" marL="0">
                        <a:buNone/>
                      </a:pPr>
                      <a:r>
                        <a:rPr lang="en-US" sz="1200" b="1" dirty="0">
                          <a:solidFill>
                            <a:srgbClr val="1B2430"/>
                          </a:solidFill>
                          <a:latin typeface="Calibri" pitchFamily="34" charset="0"/>
                          <a:ea typeface="Calibri" pitchFamily="34" charset="-122"/>
                          <a:cs typeface="Calibri" pitchFamily="34" charset="-120"/>
                        </a:rPr>
                        <a:t>Arm</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200" b="1" dirty="0">
                          <a:solidFill>
                            <a:srgbClr val="1B2430"/>
                          </a:solidFill>
                          <a:latin typeface="Calibri" pitchFamily="34" charset="0"/>
                          <a:ea typeface="Calibri" pitchFamily="34" charset="-122"/>
                          <a:cs typeface="Calibri" pitchFamily="34" charset="-120"/>
                        </a:rPr>
                        <a:t>Change</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200" b="1" dirty="0">
                          <a:solidFill>
                            <a:srgbClr val="1B2430"/>
                          </a:solidFill>
                          <a:latin typeface="Calibri" pitchFamily="34" charset="0"/>
                          <a:ea typeface="Calibri" pitchFamily="34" charset="-122"/>
                          <a:cs typeface="Calibri" pitchFamily="34" charset="-120"/>
                        </a:rPr>
                        <a:t>95 % CI</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200" b="1" dirty="0">
                          <a:solidFill>
                            <a:srgbClr val="1B2430"/>
                          </a:solidFill>
                          <a:latin typeface="Calibri" pitchFamily="34" charset="0"/>
                          <a:ea typeface="Calibri" pitchFamily="34" charset="-122"/>
                          <a:cs typeface="Calibri" pitchFamily="34" charset="-120"/>
                        </a:rPr>
                        <a:t>p</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310896">
                <a:tc>
                  <a:txBody>
                    <a:bodyPr/>
                    <a:lstStyle/>
                    <a:p>
                      <a:pPr algn="l" indent="0" marL="0">
                        <a:buNone/>
                      </a:pPr>
                      <a:r>
                        <a:rPr lang="en-US" sz="1200" dirty="0">
                          <a:solidFill>
                            <a:srgbClr val="45505E"/>
                          </a:solidFill>
                          <a:latin typeface="Calibri" pitchFamily="34" charset="0"/>
                          <a:ea typeface="Calibri" pitchFamily="34" charset="-122"/>
                          <a:cs typeface="Calibri" pitchFamily="34" charset="-120"/>
                        </a:rPr>
                        <a:t>Control</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-9 %</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-30 to +17</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0.46</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45505E"/>
                          </a:solidFill>
                          <a:latin typeface="Calibri" pitchFamily="34" charset="0"/>
                          <a:ea typeface="Calibri" pitchFamily="34" charset="-122"/>
                          <a:cs typeface="Calibri" pitchFamily="34" charset="-120"/>
                        </a:rPr>
                        <a:t>Acidification</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-36 %</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-49 to -21</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&lt; 0.0001</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45505E"/>
                          </a:solidFill>
                          <a:latin typeface="Calibri" pitchFamily="34" charset="0"/>
                          <a:ea typeface="Calibri" pitchFamily="34" charset="-122"/>
                          <a:cs typeface="Calibri" pitchFamily="34" charset="-120"/>
                        </a:rPr>
                        <a:t>Warming</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-45 %</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-56 to -32</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&lt; 0.0001</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10896">
                <a:tc>
                  <a:txBody>
                    <a:bodyPr/>
                    <a:lstStyle/>
                    <a:p>
                      <a:pPr algn="l" indent="0" marL="0">
                        <a:buNone/>
                      </a:pPr>
                      <a:r>
                        <a:rPr lang="en-US" sz="1200" dirty="0">
                          <a:solidFill>
                            <a:srgbClr val="45505E"/>
                          </a:solidFill>
                          <a:latin typeface="Calibri" pitchFamily="34" charset="0"/>
                          <a:ea typeface="Calibri" pitchFamily="34" charset="-122"/>
                          <a:cs typeface="Calibri" pitchFamily="34" charset="-120"/>
                        </a:rPr>
                        <a:t>Hypoxia</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-14 %</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-31 to +7</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0.18</a:t>
                      </a:r>
                      <a:endParaRPr lang="en-US" sz="120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7223760" y="4343400"/>
            <a:ext cx="4419295" cy="822960"/>
          </a:xfrm>
          <a:prstGeom prst="rect">
            <a:avLst/>
          </a:prstGeom>
          <a:noFill/>
          <a:ln/>
        </p:spPr>
        <p:txBody>
          <a:bodyPr wrap="square" lIns="0" tIns="0" rIns="0" bIns="0" rtlCol="0" anchor="t"/>
          <a:lstStyle/>
          <a:p>
            <a:pPr algn="l" indent="0" marL="0">
              <a:lnSpc>
                <a:spcPct val="120000"/>
              </a:lnSpc>
              <a:buNone/>
            </a:pPr>
            <a:r>
              <a:rPr lang="en-US" sz="1250" dirty="0">
                <a:solidFill>
                  <a:srgbClr val="45505E"/>
                </a:solidFill>
                <a:latin typeface="Calibri" pitchFamily="34" charset="0"/>
                <a:ea typeface="Calibri" pitchFamily="34" charset="-122"/>
                <a:cs typeface="Calibri" pitchFamily="34" charset="-120"/>
              </a:rPr>
              <a:t>Paired t-tests on per-animal means agree: OA p = 0.003, OW p = 0.02, DO p = 0.67, control p = 0.28.</a:t>
            </a:r>
            <a:endParaRPr lang="en-US" sz="1250" dirty="0"/>
          </a:p>
        </p:txBody>
      </p:sp>
      <p:sp>
        <p:nvSpPr>
          <p:cNvPr id="8" name="Text 4"/>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Mixed model on log adhesion, all pre and post threads, random intercept per animal; bars are post/baseline ratios with 95 % CI. n = 11, 12, 12, 12 paired animals.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Force and plaque area respond differently to each stressor</a:t>
            </a:r>
            <a:endParaRPr lang="en-US" sz="3000" dirty="0"/>
          </a:p>
        </p:txBody>
      </p:sp>
      <p:sp>
        <p:nvSpPr>
          <p:cNvPr id="3" name="Text 1"/>
          <p:cNvSpPr txBox="1"/>
          <p:nvPr/>
        </p:nvSpPr>
        <p:spPr>
          <a:xfrm>
            <a:off x="548640" y="1234440"/>
            <a:ext cx="2743200" cy="320040"/>
          </a:xfrm>
          <a:prstGeom prst="rect">
            <a:avLst/>
          </a:prstGeom>
          <a:noFill/>
          <a:ln/>
        </p:spPr>
        <p:txBody>
          <a:bodyPr wrap="square" lIns="0" tIns="0" rIns="0" bIns="0" rtlCol="0" anchor="t"/>
          <a:lstStyle/>
          <a:p>
            <a:pPr algn="l" indent="0" marL="0">
              <a:lnSpc>
                <a:spcPct val="115000"/>
              </a:lnSpc>
              <a:buNone/>
            </a:pPr>
            <a:r>
              <a:rPr lang="en-US" sz="1800" b="1" dirty="0">
                <a:solidFill>
                  <a:srgbClr val="1B2430"/>
                </a:solidFill>
                <a:latin typeface="Cambria" pitchFamily="34" charset="0"/>
                <a:ea typeface="Cambria" pitchFamily="34" charset="-122"/>
                <a:cs typeface="Cambria" pitchFamily="34" charset="-120"/>
              </a:rPr>
              <a:t>Peak force</a:t>
            </a:r>
            <a:endParaRPr lang="en-US" sz="1800" dirty="0"/>
          </a:p>
        </p:txBody>
      </p:sp>
      <p:sp>
        <p:nvSpPr>
          <p:cNvPr id="4" name="Text 2"/>
          <p:cNvSpPr txBox="1"/>
          <p:nvPr/>
        </p:nvSpPr>
        <p:spPr>
          <a:xfrm>
            <a:off x="2286000" y="1280160"/>
            <a:ext cx="2743200" cy="274320"/>
          </a:xfrm>
          <a:prstGeom prst="rect">
            <a:avLst/>
          </a:prstGeom>
          <a:noFill/>
          <a:ln/>
        </p:spPr>
        <p:txBody>
          <a:bodyPr wrap="square" lIns="0" tIns="0" rIns="0" bIns="0" rtlCol="0" anchor="t"/>
          <a:lstStyle/>
          <a:p>
            <a:pPr algn="l" indent="0" marL="0">
              <a:lnSpc>
                <a:spcPct val="115000"/>
              </a:lnSpc>
              <a:buNone/>
            </a:pPr>
            <a:r>
              <a:rPr lang="en-US" sz="1100" dirty="0">
                <a:solidFill>
                  <a:srgbClr val="6B7480"/>
                </a:solidFill>
                <a:latin typeface="Calibri" pitchFamily="34" charset="0"/>
                <a:ea typeface="Calibri" pitchFamily="34" charset="-122"/>
                <a:cs typeface="Calibri" pitchFamily="34" charset="-120"/>
              </a:rPr>
              <a:t>arm × time p = 3 × 10⁻⁵</a:t>
            </a:r>
            <a:endParaRPr lang="en-US" sz="1100" dirty="0"/>
          </a:p>
        </p:txBody>
      </p:sp>
      <p:graphicFrame>
        <p:nvGraphicFramePr>
          <p:cNvPr id="5" name="Chart 0" descr=""/>
          <p:cNvGraphicFramePr/>
          <p:nvPr/>
        </p:nvGraphicFramePr>
        <p:xfrm>
          <a:off x="457200" y="1554480"/>
          <a:ext cx="5455768" cy="3429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278728" y="1234440"/>
            <a:ext cx="2743200" cy="320040"/>
          </a:xfrm>
          <a:prstGeom prst="rect">
            <a:avLst/>
          </a:prstGeom>
          <a:noFill/>
          <a:ln/>
        </p:spPr>
        <p:txBody>
          <a:bodyPr wrap="square" lIns="0" tIns="0" rIns="0" bIns="0" rtlCol="0" anchor="t"/>
          <a:lstStyle/>
          <a:p>
            <a:pPr algn="l" indent="0" marL="0">
              <a:lnSpc>
                <a:spcPct val="115000"/>
              </a:lnSpc>
              <a:buNone/>
            </a:pPr>
            <a:r>
              <a:rPr lang="en-US" sz="1800" b="1" dirty="0">
                <a:solidFill>
                  <a:srgbClr val="1B2430"/>
                </a:solidFill>
                <a:latin typeface="Cambria" pitchFamily="34" charset="0"/>
                <a:ea typeface="Cambria" pitchFamily="34" charset="-122"/>
                <a:cs typeface="Cambria" pitchFamily="34" charset="-120"/>
              </a:rPr>
              <a:t>Plaque area</a:t>
            </a:r>
            <a:endParaRPr lang="en-US" sz="1800" dirty="0"/>
          </a:p>
        </p:txBody>
      </p:sp>
      <p:sp>
        <p:nvSpPr>
          <p:cNvPr id="7" name="Text 4"/>
          <p:cNvSpPr txBox="1"/>
          <p:nvPr/>
        </p:nvSpPr>
        <p:spPr>
          <a:xfrm>
            <a:off x="8107528" y="1280160"/>
            <a:ext cx="2743200" cy="274320"/>
          </a:xfrm>
          <a:prstGeom prst="rect">
            <a:avLst/>
          </a:prstGeom>
          <a:noFill/>
          <a:ln/>
        </p:spPr>
        <p:txBody>
          <a:bodyPr wrap="square" lIns="0" tIns="0" rIns="0" bIns="0" rtlCol="0" anchor="t"/>
          <a:lstStyle/>
          <a:p>
            <a:pPr algn="l" indent="0" marL="0">
              <a:lnSpc>
                <a:spcPct val="115000"/>
              </a:lnSpc>
              <a:buNone/>
            </a:pPr>
            <a:r>
              <a:rPr lang="en-US" sz="1100" dirty="0">
                <a:solidFill>
                  <a:srgbClr val="6B7480"/>
                </a:solidFill>
                <a:latin typeface="Calibri" pitchFamily="34" charset="0"/>
                <a:ea typeface="Calibri" pitchFamily="34" charset="-122"/>
                <a:cs typeface="Calibri" pitchFamily="34" charset="-120"/>
              </a:rPr>
              <a:t>arm × time p = 3 × 10⁻¹¹</a:t>
            </a:r>
            <a:endParaRPr lang="en-US" sz="1100" dirty="0"/>
          </a:p>
        </p:txBody>
      </p:sp>
      <p:graphicFrame>
        <p:nvGraphicFramePr>
          <p:cNvPr id="8" name="Chart 1" descr=""/>
          <p:cNvGraphicFramePr/>
          <p:nvPr/>
        </p:nvGraphicFramePr>
        <p:xfrm>
          <a:off x="6187288" y="1554480"/>
          <a:ext cx="5455768" cy="342900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548640" y="5029200"/>
            <a:ext cx="5364328" cy="274320"/>
          </a:xfrm>
          <a:prstGeom prst="rect">
            <a:avLst/>
          </a:prstGeom>
          <a:noFill/>
          <a:ln/>
        </p:spPr>
        <p:txBody>
          <a:bodyPr wrap="square" lIns="0" tIns="0" rIns="0" bIns="0" rtlCol="0" anchor="t"/>
          <a:lstStyle/>
          <a:p>
            <a:pPr algn="ctr" indent="0" marL="0">
              <a:lnSpc>
                <a:spcPct val="115000"/>
              </a:lnSpc>
              <a:buNone/>
            </a:pPr>
            <a:r>
              <a:rPr lang="en-US" sz="1100" dirty="0">
                <a:solidFill>
                  <a:srgbClr val="1B2430"/>
                </a:solidFill>
                <a:latin typeface="Calibri" pitchFamily="34" charset="0"/>
                <a:ea typeface="Calibri" pitchFamily="34" charset="-122"/>
                <a:cs typeface="Calibri" pitchFamily="34" charset="-120"/>
              </a:rPr>
              <a:t>Control -0 %   ·   Acidification -33 %   ·   Warming -55 %   ·   Hypoxia -46 %</a:t>
            </a:r>
            <a:endParaRPr lang="en-US" sz="1100" dirty="0"/>
          </a:p>
        </p:txBody>
      </p:sp>
      <p:sp>
        <p:nvSpPr>
          <p:cNvPr id="10" name="Text 6"/>
          <p:cNvSpPr txBox="1"/>
          <p:nvPr/>
        </p:nvSpPr>
        <p:spPr>
          <a:xfrm>
            <a:off x="6278728" y="5029200"/>
            <a:ext cx="5364328" cy="274320"/>
          </a:xfrm>
          <a:prstGeom prst="rect">
            <a:avLst/>
          </a:prstGeom>
          <a:noFill/>
          <a:ln/>
        </p:spPr>
        <p:txBody>
          <a:bodyPr wrap="square" lIns="0" tIns="0" rIns="0" bIns="0" rtlCol="0" anchor="t"/>
          <a:lstStyle/>
          <a:p>
            <a:pPr algn="ctr" indent="0" marL="0">
              <a:lnSpc>
                <a:spcPct val="115000"/>
              </a:lnSpc>
              <a:buNone/>
            </a:pPr>
            <a:r>
              <a:rPr lang="en-US" sz="1100" dirty="0">
                <a:solidFill>
                  <a:srgbClr val="1B2430"/>
                </a:solidFill>
                <a:latin typeface="Calibri" pitchFamily="34" charset="0"/>
                <a:ea typeface="Calibri" pitchFamily="34" charset="-122"/>
                <a:cs typeface="Calibri" pitchFamily="34" charset="-120"/>
              </a:rPr>
              <a:t>Control +10 %   ·   Acidification +7 %   ·   Warming -18 %   ·   Hypoxia -37 %</a:t>
            </a:r>
            <a:endParaRPr lang="en-US" sz="1100" dirty="0"/>
          </a:p>
        </p:txBody>
      </p:sp>
      <p:sp>
        <p:nvSpPr>
          <p:cNvPr id="11" name="Text 7"/>
          <p:cNvSpPr txBox="1"/>
          <p:nvPr/>
        </p:nvSpPr>
        <p:spPr>
          <a:xfrm>
            <a:off x="548640" y="5394960"/>
            <a:ext cx="11094415" cy="731520"/>
          </a:xfrm>
          <a:prstGeom prst="rect">
            <a:avLst/>
          </a:prstGeom>
          <a:noFill/>
          <a:ln/>
        </p:spPr>
        <p:txBody>
          <a:bodyPr wrap="square" lIns="0" tIns="0" rIns="0" bIns="0" rtlCol="0" anchor="t"/>
          <a:lstStyle/>
          <a:p>
            <a:pPr algn="l" indent="0" marL="0">
              <a:lnSpc>
                <a:spcPct val="120000"/>
              </a:lnSpc>
              <a:buNone/>
            </a:pPr>
            <a:r>
              <a:rPr lang="en-US" sz="1350" dirty="0">
                <a:solidFill>
                  <a:srgbClr val="45505E"/>
                </a:solidFill>
                <a:latin typeface="Calibri" pitchFamily="34" charset="0"/>
                <a:ea typeface="Calibri" pitchFamily="34" charset="-122"/>
                <a:cs typeface="Calibri" pitchFamily="34" charset="-120"/>
              </a:rPr>
              <a:t>Warming and hypoxia animals built </a:t>
            </a:r>
            <a:pPr algn="l" indent="0" marL="0">
              <a:lnSpc>
                <a:spcPct val="120000"/>
              </a:lnSpc>
              <a:buNone/>
            </a:pPr>
            <a:r>
              <a:rPr lang="en-US" sz="1350" b="1" dirty="0">
                <a:solidFill>
                  <a:srgbClr val="45505E"/>
                </a:solidFill>
                <a:latin typeface="Calibri" pitchFamily="34" charset="0"/>
                <a:ea typeface="Calibri" pitchFamily="34" charset="-122"/>
                <a:cs typeface="Calibri" pitchFamily="34" charset="-120"/>
              </a:rPr>
              <a:t>smaller plaques that held less force</a:t>
            </a:r>
            <a:pPr algn="l" indent="0" marL="0">
              <a:lnSpc>
                <a:spcPct val="120000"/>
              </a:lnSpc>
              <a:buNone/>
            </a:pPr>
            <a:r>
              <a:rPr lang="en-US" sz="1350" dirty="0">
                <a:solidFill>
                  <a:srgbClr val="45505E"/>
                </a:solidFill>
                <a:latin typeface="Calibri" pitchFamily="34" charset="0"/>
                <a:ea typeface="Calibri" pitchFamily="34" charset="-122"/>
                <a:cs typeface="Calibri" pitchFamily="34" charset="-120"/>
              </a:rPr>
              <a:t>; acidification animals built </a:t>
            </a:r>
            <a:pPr algn="l" indent="0" marL="0">
              <a:lnSpc>
                <a:spcPct val="120000"/>
              </a:lnSpc>
              <a:buNone/>
            </a:pPr>
            <a:r>
              <a:rPr lang="en-US" sz="1350" b="1" dirty="0">
                <a:solidFill>
                  <a:srgbClr val="45505E"/>
                </a:solidFill>
                <a:latin typeface="Calibri" pitchFamily="34" charset="0"/>
                <a:ea typeface="Calibri" pitchFamily="34" charset="-122"/>
                <a:cs typeface="Calibri" pitchFamily="34" charset="-120"/>
              </a:rPr>
              <a:t>slightly larger plaques that held a third less force</a:t>
            </a:r>
            <a:pPr algn="l" indent="0" marL="0">
              <a:lnSpc>
                <a:spcPct val="120000"/>
              </a:lnSpc>
              <a:buNone/>
            </a:pPr>
            <a:r>
              <a:rPr lang="en-US" sz="1350" dirty="0">
                <a:solidFill>
                  <a:srgbClr val="45505E"/>
                </a:solidFill>
                <a:latin typeface="Calibri" pitchFamily="34" charset="0"/>
                <a:ea typeface="Calibri" pitchFamily="34" charset="-122"/>
                <a:cs typeface="Calibri" pitchFamily="34" charset="-120"/>
              </a:rPr>
              <a:t>; controls changed neither. Adhesion is force over area, so hypoxia’s two losses cancel in the ratio.</a:t>
            </a:r>
            <a:endParaRPr lang="en-US" sz="1350" dirty="0"/>
          </a:p>
        </p:txBody>
      </p:sp>
      <p:sp>
        <p:nvSpPr>
          <p:cNvPr id="12" name="Text 8"/>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Same mixed model on log peak force and log plaque area; bars are post/baseline ratios with 95 % CI. Adhesion change = force change − area change on the log scale.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Every paired animal, force against plaque area</a:t>
            </a:r>
            <a:endParaRPr lang="en-US" sz="3000" dirty="0"/>
          </a:p>
        </p:txBody>
      </p:sp>
      <p:pic>
        <p:nvPicPr>
          <p:cNvPr id="3" name="Image 0" descr="/tmp/claude-0/-home-claude/fa38c821-d5df-5634-b427-ea4108142d83/scratchpad/deck/assets/animal_force_area.png">    </p:cNvPr>
          <p:cNvPicPr>
            <a:picLocks noChangeAspect="1"/>
          </p:cNvPicPr>
          <p:nvPr/>
        </p:nvPicPr>
        <p:blipFill>
          <a:blip r:embed="rId1"/>
          <a:stretch>
            <a:fillRect/>
          </a:stretch>
        </p:blipFill>
        <p:spPr>
          <a:xfrm>
            <a:off x="548640" y="1280160"/>
            <a:ext cx="6035040" cy="4828032"/>
          </a:xfrm>
          <a:prstGeom prst="rect">
            <a:avLst/>
          </a:prstGeom>
        </p:spPr>
      </p:pic>
      <p:sp>
        <p:nvSpPr>
          <p:cNvPr id="4" name="Text 1"/>
          <p:cNvSpPr txBox="1"/>
          <p:nvPr/>
        </p:nvSpPr>
        <p:spPr>
          <a:xfrm>
            <a:off x="6903720" y="1371600"/>
            <a:ext cx="4739335" cy="1371600"/>
          </a:xfrm>
          <a:prstGeom prst="rect">
            <a:avLst/>
          </a:prstGeom>
          <a:noFill/>
          <a:ln/>
        </p:spPr>
        <p:txBody>
          <a:bodyPr wrap="square" lIns="0" tIns="0" rIns="0" bIns="0" rtlCol="0" anchor="t"/>
          <a:lstStyle/>
          <a:p>
            <a:pPr algn="l" indent="0" marL="0">
              <a:lnSpc>
                <a:spcPct val="120000"/>
              </a:lnSpc>
              <a:buNone/>
            </a:pPr>
            <a:r>
              <a:rPr lang="en-US" sz="1900" dirty="0">
                <a:solidFill>
                  <a:srgbClr val="1B2430"/>
                </a:solidFill>
                <a:latin typeface="Cambria" pitchFamily="34" charset="0"/>
                <a:ea typeface="Cambria" pitchFamily="34" charset="-122"/>
                <a:cs typeface="Cambria" pitchFamily="34" charset="-120"/>
              </a:rPr>
              <a:t>Warming and hypoxia animals sit in the lower left, acidification animals in the lower right, controls around the origin.</a:t>
            </a:r>
            <a:endParaRPr lang="en-US" sz="1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03720" y="2971800"/>
          <a:ext cx="4739335" cy="914400"/>
        </p:xfrm>
        <a:graphic>
          <a:graphicData uri="http://schemas.openxmlformats.org/drawingml/2006/table">
            <a:tbl>
              <a:tblPr/>
              <a:tblGrid>
                <a:gridCol w="2011680"/>
                <a:gridCol w="1371600"/>
                <a:gridCol w="1371600"/>
              </a:tblGrid>
              <a:tr h="329184">
                <a:tc>
                  <a:txBody>
                    <a:bodyPr/>
                    <a:lstStyle/>
                    <a:p>
                      <a:pPr algn="l" indent="0" marL="0">
                        <a:buNone/>
                      </a:pPr>
                      <a:r>
                        <a:rPr lang="en-US" sz="1250" b="1" dirty="0">
                          <a:solidFill>
                            <a:srgbClr val="1B2430"/>
                          </a:solidFill>
                          <a:latin typeface="Calibri" pitchFamily="34" charset="0"/>
                          <a:ea typeface="Calibri" pitchFamily="34" charset="-122"/>
                          <a:cs typeface="Calibri" pitchFamily="34" charset="-120"/>
                        </a:rPr>
                        <a:t>Animals with</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250" b="1" dirty="0">
                          <a:solidFill>
                            <a:srgbClr val="1B2430"/>
                          </a:solidFill>
                          <a:latin typeface="Calibri" pitchFamily="34" charset="0"/>
                          <a:ea typeface="Calibri" pitchFamily="34" charset="-122"/>
                          <a:cs typeface="Calibri" pitchFamily="34" charset="-120"/>
                        </a:rPr>
                        <a:t>force down</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250" b="1" dirty="0">
                          <a:solidFill>
                            <a:srgbClr val="1B2430"/>
                          </a:solidFill>
                          <a:latin typeface="Calibri" pitchFamily="34" charset="0"/>
                          <a:ea typeface="Calibri" pitchFamily="34" charset="-122"/>
                          <a:cs typeface="Calibri" pitchFamily="34" charset="-120"/>
                        </a:rPr>
                        <a:t>area down</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329184">
                <a:tc>
                  <a:txBody>
                    <a:bodyPr/>
                    <a:lstStyle/>
                    <a:p>
                      <a:pPr algn="l" indent="0" marL="0">
                        <a:buNone/>
                      </a:pPr>
                      <a:r>
                        <a:rPr lang="en-US" sz="1250" dirty="0">
                          <a:solidFill>
                            <a:srgbClr val="45505E"/>
                          </a:solidFill>
                          <a:latin typeface="Calibri" pitchFamily="34" charset="0"/>
                          <a:ea typeface="Calibri" pitchFamily="34" charset="-122"/>
                          <a:cs typeface="Calibri" pitchFamily="34" charset="-120"/>
                        </a:rPr>
                        <a:t>Control</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5505E"/>
                          </a:solidFill>
                          <a:latin typeface="Calibri" pitchFamily="34" charset="0"/>
                          <a:ea typeface="Calibri" pitchFamily="34" charset="-122"/>
                          <a:cs typeface="Calibri" pitchFamily="34" charset="-120"/>
                        </a:rPr>
                        <a:t>5 of 11</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5505E"/>
                          </a:solidFill>
                          <a:latin typeface="Calibri" pitchFamily="34" charset="0"/>
                          <a:ea typeface="Calibri" pitchFamily="34" charset="-122"/>
                          <a:cs typeface="Calibri" pitchFamily="34" charset="-120"/>
                        </a:rPr>
                        <a:t>4 of 11</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45505E"/>
                          </a:solidFill>
                          <a:latin typeface="Calibri" pitchFamily="34" charset="0"/>
                          <a:ea typeface="Calibri" pitchFamily="34" charset="-122"/>
                          <a:cs typeface="Calibri" pitchFamily="34" charset="-120"/>
                        </a:rPr>
                        <a:t>Acidification</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5505E"/>
                          </a:solidFill>
                          <a:latin typeface="Calibri" pitchFamily="34" charset="0"/>
                          <a:ea typeface="Calibri" pitchFamily="34" charset="-122"/>
                          <a:cs typeface="Calibri" pitchFamily="34" charset="-120"/>
                        </a:rPr>
                        <a:t>10 of 12</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5505E"/>
                          </a:solidFill>
                          <a:latin typeface="Calibri" pitchFamily="34" charset="0"/>
                          <a:ea typeface="Calibri" pitchFamily="34" charset="-122"/>
                          <a:cs typeface="Calibri" pitchFamily="34" charset="-120"/>
                        </a:rPr>
                        <a:t>3 of 12</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45505E"/>
                          </a:solidFill>
                          <a:latin typeface="Calibri" pitchFamily="34" charset="0"/>
                          <a:ea typeface="Calibri" pitchFamily="34" charset="-122"/>
                          <a:cs typeface="Calibri" pitchFamily="34" charset="-120"/>
                        </a:rPr>
                        <a:t>Warming</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5505E"/>
                          </a:solidFill>
                          <a:latin typeface="Calibri" pitchFamily="34" charset="0"/>
                          <a:ea typeface="Calibri" pitchFamily="34" charset="-122"/>
                          <a:cs typeface="Calibri" pitchFamily="34" charset="-120"/>
                        </a:rPr>
                        <a:t>11 of 12</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5505E"/>
                          </a:solidFill>
                          <a:latin typeface="Calibri" pitchFamily="34" charset="0"/>
                          <a:ea typeface="Calibri" pitchFamily="34" charset="-122"/>
                          <a:cs typeface="Calibri" pitchFamily="34" charset="-120"/>
                        </a:rPr>
                        <a:t>9 of 12</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29184">
                <a:tc>
                  <a:txBody>
                    <a:bodyPr/>
                    <a:lstStyle/>
                    <a:p>
                      <a:pPr algn="l" indent="0" marL="0">
                        <a:buNone/>
                      </a:pPr>
                      <a:r>
                        <a:rPr lang="en-US" sz="1250" dirty="0">
                          <a:solidFill>
                            <a:srgbClr val="45505E"/>
                          </a:solidFill>
                          <a:latin typeface="Calibri" pitchFamily="34" charset="0"/>
                          <a:ea typeface="Calibri" pitchFamily="34" charset="-122"/>
                          <a:cs typeface="Calibri" pitchFamily="34" charset="-120"/>
                        </a:rPr>
                        <a:t>Hypoxia</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5505E"/>
                          </a:solidFill>
                          <a:latin typeface="Calibri" pitchFamily="34" charset="0"/>
                          <a:ea typeface="Calibri" pitchFamily="34" charset="-122"/>
                          <a:cs typeface="Calibri" pitchFamily="34" charset="-120"/>
                        </a:rPr>
                        <a:t>10 of 12</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50" dirty="0">
                          <a:solidFill>
                            <a:srgbClr val="45505E"/>
                          </a:solidFill>
                          <a:latin typeface="Calibri" pitchFamily="34" charset="0"/>
                          <a:ea typeface="Calibri" pitchFamily="34" charset="-122"/>
                          <a:cs typeface="Calibri" pitchFamily="34" charset="-120"/>
                        </a:rPr>
                        <a:t>11 of 12</a:t>
                      </a:r>
                      <a:endParaRPr lang="en-US" sz="1250" dirty="0">
                        <a:latin typeface="Calibri" charset="0"/>
                        <a:ea typeface="Calibri" charset="0"/>
                        <a:cs typeface="Calibri" charset="0"/>
                      </a:endParaRPr>
                    </a:p>
                  </a:txBody>
                  <a:tcPr marL="76200" marR="76200" marT="38100" marB="38100">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Per-animal means of threads at each timepoint; triangles point down for animals whose force and adhesion both fell. Blue control, green acidification, orange warming, purple hypoxia.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Hypoxia shifts failure toward peeling</a:t>
            </a:r>
            <a:endParaRPr lang="en-US" sz="3000" dirty="0"/>
          </a:p>
        </p:txBody>
      </p:sp>
      <p:graphicFrame>
        <p:nvGraphicFramePr>
          <p:cNvPr id="3" name="Chart 0" descr=""/>
          <p:cNvGraphicFramePr/>
          <p:nvPr/>
        </p:nvGraphicFramePr>
        <p:xfrm>
          <a:off x="457200" y="132588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7315200" y="1371600"/>
            <a:ext cx="4327855" cy="1463040"/>
          </a:xfrm>
          <a:prstGeom prst="rect">
            <a:avLst/>
          </a:prstGeom>
          <a:noFill/>
          <a:ln/>
        </p:spPr>
        <p:txBody>
          <a:bodyPr wrap="square" lIns="0" tIns="0" rIns="0" bIns="0" rtlCol="0" anchor="t"/>
          <a:lstStyle/>
          <a:p>
            <a:pPr algn="l" indent="0" marL="0">
              <a:lnSpc>
                <a:spcPct val="120000"/>
              </a:lnSpc>
              <a:buNone/>
            </a:pPr>
            <a:r>
              <a:rPr lang="en-US" sz="1900" dirty="0">
                <a:solidFill>
                  <a:srgbClr val="1B2430"/>
                </a:solidFill>
                <a:latin typeface="Cambria" pitchFamily="34" charset="0"/>
                <a:ea typeface="Cambria" pitchFamily="34" charset="-122"/>
                <a:cs typeface="Cambria" pitchFamily="34" charset="-120"/>
              </a:rPr>
              <a:t>Peeling is the weak mode: peeling threads hold 55 kPa on average against 79 kPa for cohesive failures.</a:t>
            </a:r>
            <a:endParaRPr lang="en-US" sz="1900" dirty="0"/>
          </a:p>
        </p:txBody>
      </p:sp>
      <p:sp>
        <p:nvSpPr>
          <p:cNvPr id="5" name="Text 2"/>
          <p:cNvSpPr txBox="1"/>
          <p:nvPr/>
        </p:nvSpPr>
        <p:spPr>
          <a:xfrm>
            <a:off x="7315200" y="3108960"/>
            <a:ext cx="4327855" cy="1645920"/>
          </a:xfrm>
          <a:prstGeom prst="rect">
            <a:avLst/>
          </a:prstGeom>
          <a:noFill/>
          <a:ln/>
        </p:spPr>
        <p:txBody>
          <a:bodyPr wrap="square" lIns="0" tIns="0" rIns="0" bIns="0" rtlCol="0" anchor="t"/>
          <a:lstStyle/>
          <a:p>
            <a:pPr algn="l" indent="0" marL="0">
              <a:lnSpc>
                <a:spcPct val="125000"/>
              </a:lnSpc>
              <a:buNone/>
            </a:pPr>
            <a:r>
              <a:rPr lang="en-US" sz="1350" dirty="0">
                <a:solidFill>
                  <a:srgbClr val="45505E"/>
                </a:solidFill>
                <a:latin typeface="Calibri" pitchFamily="34" charset="0"/>
                <a:ea typeface="Calibri" pitchFamily="34" charset="-122"/>
                <a:cs typeface="Calibri" pitchFamily="34" charset="-120"/>
              </a:rPr>
              <a:t>Day-3 controls fail cohesively two thirds of the time. Hypoxia threads peel most (49 %) and almost never tear. Composition differs among the day-3 arms, χ² = 18.6, df = 9, p = 0.03.</a:t>
            </a:r>
            <a:endParaRPr lang="en-US" sz="1350" dirty="0"/>
          </a:p>
        </p:txBody>
      </p:sp>
      <p:sp>
        <p:nvSpPr>
          <p:cNvPr id="6" name="Text 3"/>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Failure mode scored per thread from the pull trace and the plaque image; baseline n = 161 threads, day-3 arms n = 34, 39, 67, 41. Means by mode across all 380 threads.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Transcriptional responses are tissue-specific</a:t>
            </a:r>
            <a:endParaRPr lang="en-US" sz="3000" dirty="0"/>
          </a:p>
        </p:txBody>
      </p:sp>
      <p:sp>
        <p:nvSpPr>
          <p:cNvPr id="3" name="Text 1"/>
          <p:cNvSpPr txBox="1"/>
          <p:nvPr/>
        </p:nvSpPr>
        <p:spPr>
          <a:xfrm>
            <a:off x="548640" y="1234440"/>
            <a:ext cx="2743200" cy="320040"/>
          </a:xfrm>
          <a:prstGeom prst="rect">
            <a:avLst/>
          </a:prstGeom>
          <a:noFill/>
          <a:ln/>
        </p:spPr>
        <p:txBody>
          <a:bodyPr wrap="square" lIns="0" tIns="0" rIns="0" bIns="0" rtlCol="0" anchor="t"/>
          <a:lstStyle/>
          <a:p>
            <a:pPr algn="l" indent="0" marL="0">
              <a:lnSpc>
                <a:spcPct val="115000"/>
              </a:lnSpc>
              <a:buNone/>
            </a:pPr>
            <a:r>
              <a:rPr lang="en-US" sz="1800" b="1" dirty="0">
                <a:solidFill>
                  <a:srgbClr val="1B2430"/>
                </a:solidFill>
                <a:latin typeface="Cambria" pitchFamily="34" charset="0"/>
                <a:ea typeface="Cambria" pitchFamily="34" charset="-122"/>
                <a:cs typeface="Cambria" pitchFamily="34" charset="-120"/>
              </a:rPr>
              <a:t>Foot</a:t>
            </a:r>
            <a:endParaRPr lang="en-US" sz="1800" dirty="0"/>
          </a:p>
        </p:txBody>
      </p:sp>
      <p:sp>
        <p:nvSpPr>
          <p:cNvPr id="4" name="Text 2"/>
          <p:cNvSpPr txBox="1"/>
          <p:nvPr/>
        </p:nvSpPr>
        <p:spPr>
          <a:xfrm>
            <a:off x="1463040" y="1280160"/>
            <a:ext cx="3657600" cy="274320"/>
          </a:xfrm>
          <a:prstGeom prst="rect">
            <a:avLst/>
          </a:prstGeom>
          <a:noFill/>
          <a:ln/>
        </p:spPr>
        <p:txBody>
          <a:bodyPr wrap="square" lIns="0" tIns="0" rIns="0" bIns="0" rtlCol="0" anchor="t"/>
          <a:lstStyle/>
          <a:p>
            <a:pPr algn="l" indent="0" marL="0">
              <a:lnSpc>
                <a:spcPct val="115000"/>
              </a:lnSpc>
              <a:buNone/>
            </a:pPr>
            <a:r>
              <a:rPr lang="en-US" sz="1100" dirty="0">
                <a:solidFill>
                  <a:srgbClr val="6B7480"/>
                </a:solidFill>
                <a:latin typeface="Calibri" pitchFamily="34" charset="0"/>
                <a:ea typeface="Calibri" pitchFamily="34" charset="-122"/>
                <a:cs typeface="Calibri" pitchFamily="34" charset="-120"/>
              </a:rPr>
              <a:t>differentially expressed genes vs control</a:t>
            </a:r>
            <a:endParaRPr lang="en-US" sz="1100" dirty="0"/>
          </a:p>
        </p:txBody>
      </p:sp>
      <p:graphicFrame>
        <p:nvGraphicFramePr>
          <p:cNvPr id="5" name="Chart 0" descr=""/>
          <p:cNvGraphicFramePr/>
          <p:nvPr/>
        </p:nvGraphicFramePr>
        <p:xfrm>
          <a:off x="457200" y="1554480"/>
          <a:ext cx="5455768" cy="34290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6278728" y="1234440"/>
            <a:ext cx="2743200" cy="320040"/>
          </a:xfrm>
          <a:prstGeom prst="rect">
            <a:avLst/>
          </a:prstGeom>
          <a:noFill/>
          <a:ln/>
        </p:spPr>
        <p:txBody>
          <a:bodyPr wrap="square" lIns="0" tIns="0" rIns="0" bIns="0" rtlCol="0" anchor="t"/>
          <a:lstStyle/>
          <a:p>
            <a:pPr algn="l" indent="0" marL="0">
              <a:lnSpc>
                <a:spcPct val="115000"/>
              </a:lnSpc>
              <a:buNone/>
            </a:pPr>
            <a:r>
              <a:rPr lang="en-US" sz="1800" b="1" dirty="0">
                <a:solidFill>
                  <a:srgbClr val="1B2430"/>
                </a:solidFill>
                <a:latin typeface="Cambria" pitchFamily="34" charset="0"/>
                <a:ea typeface="Cambria" pitchFamily="34" charset="-122"/>
                <a:cs typeface="Cambria" pitchFamily="34" charset="-120"/>
              </a:rPr>
              <a:t>Gill</a:t>
            </a:r>
            <a:endParaRPr lang="en-US" sz="1800" dirty="0"/>
          </a:p>
        </p:txBody>
      </p:sp>
      <p:sp>
        <p:nvSpPr>
          <p:cNvPr id="7" name="Text 4"/>
          <p:cNvSpPr txBox="1"/>
          <p:nvPr/>
        </p:nvSpPr>
        <p:spPr>
          <a:xfrm>
            <a:off x="7193128" y="1280160"/>
            <a:ext cx="3657600" cy="274320"/>
          </a:xfrm>
          <a:prstGeom prst="rect">
            <a:avLst/>
          </a:prstGeom>
          <a:noFill/>
          <a:ln/>
        </p:spPr>
        <p:txBody>
          <a:bodyPr wrap="square" lIns="0" tIns="0" rIns="0" bIns="0" rtlCol="0" anchor="t"/>
          <a:lstStyle/>
          <a:p>
            <a:pPr algn="l" indent="0" marL="0">
              <a:lnSpc>
                <a:spcPct val="115000"/>
              </a:lnSpc>
              <a:buNone/>
            </a:pPr>
            <a:r>
              <a:rPr lang="en-US" sz="1100" dirty="0">
                <a:solidFill>
                  <a:srgbClr val="6B7480"/>
                </a:solidFill>
                <a:latin typeface="Calibri" pitchFamily="34" charset="0"/>
                <a:ea typeface="Calibri" pitchFamily="34" charset="-122"/>
                <a:cs typeface="Calibri" pitchFamily="34" charset="-120"/>
              </a:rPr>
              <a:t>differentially expressed genes vs control</a:t>
            </a:r>
            <a:endParaRPr lang="en-US" sz="1100" dirty="0"/>
          </a:p>
        </p:txBody>
      </p:sp>
      <p:graphicFrame>
        <p:nvGraphicFramePr>
          <p:cNvPr id="8" name="Chart 1" descr=""/>
          <p:cNvGraphicFramePr/>
          <p:nvPr/>
        </p:nvGraphicFramePr>
        <p:xfrm>
          <a:off x="6187288" y="1554480"/>
          <a:ext cx="5455768" cy="3429000"/>
        </p:xfrm>
        <a:graphic xmlns:a="http://schemas.openxmlformats.org/drawingml/2006/main">
          <a:graphicData uri="http://schemas.openxmlformats.org/drawingml/2006/chart">
            <c:chart xmlns:c="http://schemas.openxmlformats.org/drawingml/2006/chart" r:id="rId2"/>
          </a:graphicData>
        </a:graphic>
      </p:graphicFrame>
      <p:sp>
        <p:nvSpPr>
          <p:cNvPr id="9" name="Text 5"/>
          <p:cNvSpPr txBox="1"/>
          <p:nvPr/>
        </p:nvSpPr>
        <p:spPr>
          <a:xfrm>
            <a:off x="548640" y="5212080"/>
            <a:ext cx="11094415" cy="822960"/>
          </a:xfrm>
          <a:prstGeom prst="rect">
            <a:avLst/>
          </a:prstGeom>
          <a:noFill/>
          <a:ln/>
        </p:spPr>
        <p:txBody>
          <a:bodyPr wrap="square" lIns="0" tIns="0" rIns="0" bIns="0" rtlCol="0" anchor="t"/>
          <a:lstStyle/>
          <a:p>
            <a:pPr algn="l" indent="0" marL="0">
              <a:lnSpc>
                <a:spcPct val="120000"/>
              </a:lnSpc>
              <a:buNone/>
            </a:pPr>
            <a:r>
              <a:rPr lang="en-US" sz="1350" dirty="0">
                <a:solidFill>
                  <a:srgbClr val="45505E"/>
                </a:solidFill>
                <a:latin typeface="Calibri" pitchFamily="34" charset="0"/>
                <a:ea typeface="Calibri" pitchFamily="34" charset="-122"/>
                <a:cs typeface="Calibri" pitchFamily="34" charset="-120"/>
              </a:rPr>
              <a:t>The foot responds most to hypoxia, the gill most to acidification. Gill acidification and gill hypoxia share 123 genes, every one in the same direction; overlap between tissues within a stressor is small (9 to 34 genes).</a:t>
            </a:r>
            <a:endParaRPr lang="en-US" sz="1350" dirty="0"/>
          </a:p>
        </p:txBody>
      </p:sp>
      <p:sp>
        <p:nvSpPr>
          <p:cNvPr id="10" name="Text 6"/>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DESeq2, each stressor vs the day-3 control arm, 12 vs 12 animals (hypoxia 10 to 11); apeglm shrinkage; padj &lt; 0.05, no fold-change threshold. All six lists reproduce exactly from the committed count matrix.</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What the differentially expressed genes point to</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914400"/>
        </p:xfrm>
        <a:graphic>
          <a:graphicData uri="http://schemas.openxmlformats.org/drawingml/2006/table">
            <a:tbl>
              <a:tblPr/>
              <a:tblGrid>
                <a:gridCol w="2103120"/>
                <a:gridCol w="5669280"/>
                <a:gridCol w="3319272"/>
              </a:tblGrid>
              <a:tr h="0">
                <a:tc>
                  <a:txBody>
                    <a:bodyPr/>
                    <a:lstStyle/>
                    <a:p>
                      <a:pPr indent="0" marL="0">
                        <a:buNone/>
                      </a:pPr>
                      <a:r>
                        <a:rPr lang="en-US" sz="1300" b="1" dirty="0">
                          <a:solidFill>
                            <a:srgbClr val="F2F1EC"/>
                          </a:solidFill>
                          <a:latin typeface="Calibri" pitchFamily="34" charset="0"/>
                          <a:ea typeface="Calibri" pitchFamily="34" charset="-122"/>
                          <a:cs typeface="Calibri" pitchFamily="34" charset="-120"/>
                        </a:rPr>
                        <a:t>Contrast</a:t>
                      </a:r>
                      <a:endParaRPr lang="en-US" sz="130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indent="0" marL="0">
                        <a:buNone/>
                      </a:pPr>
                      <a:r>
                        <a:rPr lang="en-US" sz="1300" b="1" dirty="0">
                          <a:solidFill>
                            <a:srgbClr val="F2F1EC"/>
                          </a:solidFill>
                          <a:latin typeface="Calibri" pitchFamily="34" charset="0"/>
                          <a:ea typeface="Calibri" pitchFamily="34" charset="-122"/>
                          <a:cs typeface="Calibri" pitchFamily="34" charset="-120"/>
                        </a:rPr>
                        <a:t>Leading genes</a:t>
                      </a:r>
                      <a:endParaRPr lang="en-US" sz="130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indent="0" marL="0">
                        <a:buNone/>
                      </a:pPr>
                      <a:r>
                        <a:rPr lang="en-US" sz="1300" b="1" dirty="0">
                          <a:solidFill>
                            <a:srgbClr val="F2F1EC"/>
                          </a:solidFill>
                          <a:latin typeface="Calibri" pitchFamily="34" charset="0"/>
                          <a:ea typeface="Calibri" pitchFamily="34" charset="-122"/>
                          <a:cs typeface="Calibri" pitchFamily="34" charset="-120"/>
                        </a:rPr>
                        <a:t>Reading</a:t>
                      </a:r>
                      <a:endParaRPr lang="en-US" sz="130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r>
              <a:tr h="0">
                <a:tc>
                  <a:txBody>
                    <a:bodyPr/>
                    <a:lstStyle/>
                    <a:p>
                      <a:pPr indent="0" marL="0">
                        <a:buNone/>
                      </a:pPr>
                      <a:r>
                        <a:rPr lang="en-US" sz="1250" b="1" dirty="0">
                          <a:solidFill>
                            <a:srgbClr val="1B2430"/>
                          </a:solidFill>
                          <a:latin typeface="Calibri" pitchFamily="34" charset="0"/>
                          <a:ea typeface="Calibri" pitchFamily="34" charset="-122"/>
                          <a:cs typeface="Calibri" pitchFamily="34" charset="-120"/>
                        </a:rPr>
                        <a:t>Foot, hypoxia</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indent="0" marL="0">
                        <a:buNone/>
                      </a:pPr>
                      <a:r>
                        <a:rPr lang="en-US" sz="1250" dirty="0">
                          <a:solidFill>
                            <a:srgbClr val="45505E"/>
                          </a:solidFill>
                          <a:latin typeface="Calibri" pitchFamily="34" charset="0"/>
                          <a:ea typeface="Calibri" pitchFamily="34" charset="-122"/>
                          <a:cs typeface="Calibri" pitchFamily="34" charset="-120"/>
                        </a:rPr>
                        <a:t>A low-count copy of Byssal HSP-like protein 1 up 33-fold (log₂FC +5.05, padj 2 × 10⁻¹⁰); phospholipase A2, EGLN1 up; arginase-1, calmodulin, transglutaminase down</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indent="0" marL="0">
                        <a:buNone/>
                      </a:pPr>
                      <a:r>
                        <a:rPr lang="en-US" sz="1250" dirty="0">
                          <a:solidFill>
                            <a:srgbClr val="45505E"/>
                          </a:solidFill>
                          <a:latin typeface="Calibri" pitchFamily="34" charset="0"/>
                          <a:ea typeface="Calibri" pitchFamily="34" charset="-122"/>
                          <a:cs typeface="Calibri" pitchFamily="34" charset="-120"/>
                        </a:rPr>
                        <a:t>The strongest single effect in the study is a foot-specific byssal accessory protein.</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B2430"/>
                          </a:solidFill>
                          <a:latin typeface="Calibri" pitchFamily="34" charset="0"/>
                          <a:ea typeface="Calibri" pitchFamily="34" charset="-122"/>
                          <a:cs typeface="Calibri" pitchFamily="34" charset="-120"/>
                        </a:rPr>
                        <a:t>Gill, acidification and hypoxia</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indent="0" marL="0">
                        <a:buNone/>
                      </a:pPr>
                      <a:r>
                        <a:rPr lang="en-US" sz="1250" dirty="0">
                          <a:solidFill>
                            <a:srgbClr val="45505E"/>
                          </a:solidFill>
                          <a:latin typeface="Calibri" pitchFamily="34" charset="0"/>
                          <a:ea typeface="Calibri" pitchFamily="34" charset="-122"/>
                          <a:cs typeface="Calibri" pitchFamily="34" charset="-120"/>
                        </a:rPr>
                        <a:t>Glutathione-S-transferases, dual oxidase 1 and its maturation factor, byssal peroxidase-like protein 2 up; ACDC byssal EP-like proteins and metallothionein 10-IV down</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indent="0" marL="0">
                        <a:buNone/>
                      </a:pPr>
                      <a:r>
                        <a:rPr lang="en-US" sz="1250" dirty="0">
                          <a:solidFill>
                            <a:srgbClr val="45505E"/>
                          </a:solidFill>
                          <a:latin typeface="Calibri" pitchFamily="34" charset="0"/>
                          <a:ea typeface="Calibri" pitchFamily="34" charset="-122"/>
                          <a:cs typeface="Calibri" pitchFamily="34" charset="-120"/>
                        </a:rPr>
                        <a:t>A shared oxidative and peroxidase programme; 123 genes in common, all concordant.</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0">
                <a:tc>
                  <a:txBody>
                    <a:bodyPr/>
                    <a:lstStyle/>
                    <a:p>
                      <a:pPr indent="0" marL="0">
                        <a:buNone/>
                      </a:pPr>
                      <a:r>
                        <a:rPr lang="en-US" sz="1250" b="1" dirty="0">
                          <a:solidFill>
                            <a:srgbClr val="1B2430"/>
                          </a:solidFill>
                          <a:latin typeface="Calibri" pitchFamily="34" charset="0"/>
                          <a:ea typeface="Calibri" pitchFamily="34" charset="-122"/>
                          <a:cs typeface="Calibri" pitchFamily="34" charset="-120"/>
                        </a:rPr>
                        <a:t>Warming, both tissues</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indent="0" marL="0">
                        <a:buNone/>
                      </a:pPr>
                      <a:r>
                        <a:rPr lang="en-US" sz="1250" dirty="0">
                          <a:solidFill>
                            <a:srgbClr val="45505E"/>
                          </a:solidFill>
                          <a:latin typeface="Calibri" pitchFamily="34" charset="0"/>
                          <a:ea typeface="Calibri" pitchFamily="34" charset="-122"/>
                          <a:cs typeface="Calibri" pitchFamily="34" charset="-120"/>
                        </a:rPr>
                        <a:t>Tubulin beta and HMG protein DSP1 down (padj to 10⁻²⁰); HSP90-α modestly up (log₂FC +0.4 to +0.5); cytochrome P450 10 up</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indent="0" marL="0">
                        <a:buNone/>
                      </a:pPr>
                      <a:r>
                        <a:rPr lang="en-US" sz="1250" dirty="0">
                          <a:solidFill>
                            <a:srgbClr val="45505E"/>
                          </a:solidFill>
                          <a:latin typeface="Calibri" pitchFamily="34" charset="0"/>
                          <a:ea typeface="Calibri" pitchFamily="34" charset="-122"/>
                          <a:cs typeface="Calibri" pitchFamily="34" charset="-120"/>
                        </a:rPr>
                        <a:t>Cytoskeletal and chromatin repression with only a modest heat-shock signal.</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0">
                <a:tc>
                  <a:txBody>
                    <a:bodyPr/>
                    <a:lstStyle/>
                    <a:p>
                      <a:pPr indent="0" marL="0">
                        <a:buNone/>
                      </a:pPr>
                      <a:r>
                        <a:rPr lang="en-US" sz="1250" b="1" dirty="0">
                          <a:solidFill>
                            <a:srgbClr val="1B2430"/>
                          </a:solidFill>
                          <a:latin typeface="Calibri" pitchFamily="34" charset="0"/>
                          <a:ea typeface="Calibri" pitchFamily="34" charset="-122"/>
                          <a:cs typeface="Calibri" pitchFamily="34" charset="-120"/>
                        </a:rPr>
                        <a:t>Across stressors</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indent="0" marL="0">
                        <a:buNone/>
                      </a:pPr>
                      <a:r>
                        <a:rPr lang="en-US" sz="1250" dirty="0">
                          <a:solidFill>
                            <a:srgbClr val="45505E"/>
                          </a:solidFill>
                          <a:latin typeface="Calibri" pitchFamily="34" charset="0"/>
                          <a:ea typeface="Calibri" pitchFamily="34" charset="-122"/>
                          <a:cs typeface="Calibri" pitchFamily="34" charset="-120"/>
                        </a:rPr>
                        <a:t>Amino-acid transporter LAT2 up in foot OA and gill OW and DO; ferric-chelate reductase 1 down in foot OW and DO and gill DO</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indent="0" marL="0">
                        <a:buNone/>
                      </a:pPr>
                      <a:r>
                        <a:rPr lang="en-US" sz="1250" dirty="0">
                          <a:solidFill>
                            <a:srgbClr val="45505E"/>
                          </a:solidFill>
                          <a:latin typeface="Calibri" pitchFamily="34" charset="0"/>
                          <a:ea typeface="Calibri" pitchFamily="34" charset="-122"/>
                          <a:cs typeface="Calibri" pitchFamily="34" charset="-120"/>
                        </a:rPr>
                        <a:t>Amino-acid transport and iron handling recur across arms and tissues.</a:t>
                      </a:r>
                      <a:endParaRPr lang="en-US" sz="1250" dirty="0">
                        <a:latin typeface="Calibri" charset="0"/>
                        <a:ea typeface="Calibri" charset="0"/>
                        <a:cs typeface="Calibri" charset="0"/>
                      </a:endParaRPr>
                    </a:p>
                  </a:txBody>
                  <a:tcPr marL="101600" marR="101600" marT="76200" marB="762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bl>
          </a:graphicData>
        </a:graphic>
      </p:graphicFrame>
      <p:sp>
        <p:nvSpPr>
          <p:cNvPr id="4" name="Text 1"/>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Top-50 annotated DEG tables per contrast (BLAST / UniProt annotation of the genome-based counts); log₂ fold changes are apeglm-shrunken.</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Byssal protein transcripts did not respond to any stressor</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400800" cy="914400"/>
        </p:xfrm>
        <a:graphic>
          <a:graphicData uri="http://schemas.openxmlformats.org/drawingml/2006/table">
            <a:tbl>
              <a:tblPr/>
              <a:tblGrid>
                <a:gridCol w="2514600"/>
                <a:gridCol w="1051560"/>
                <a:gridCol w="914400"/>
                <a:gridCol w="1051560"/>
                <a:gridCol w="868680"/>
              </a:tblGrid>
              <a:tr h="301752">
                <a:tc>
                  <a:txBody>
                    <a:bodyPr/>
                    <a:lstStyle/>
                    <a:p>
                      <a:pPr algn="l" indent="0" marL="0">
                        <a:buNone/>
                      </a:pPr>
                      <a:r>
                        <a:rPr lang="en-US" sz="1150" b="1" dirty="0">
                          <a:solidFill>
                            <a:srgbClr val="F2F1EC"/>
                          </a:solidFill>
                          <a:latin typeface="Calibri" pitchFamily="34" charset="0"/>
                          <a:ea typeface="Calibri" pitchFamily="34" charset="-122"/>
                          <a:cs typeface="Calibri" pitchFamily="34" charset="-120"/>
                        </a:rPr>
                        <a:t>Foot protein gene</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r" indent="0" marL="0">
                        <a:buNone/>
                      </a:pPr>
                      <a:r>
                        <a:rPr lang="en-US" sz="1150" b="1" dirty="0">
                          <a:solidFill>
                            <a:srgbClr val="F2F1EC"/>
                          </a:solidFill>
                          <a:latin typeface="Calibri" pitchFamily="34" charset="0"/>
                          <a:ea typeface="Calibri" pitchFamily="34" charset="-122"/>
                          <a:cs typeface="Calibri" pitchFamily="34" charset="-120"/>
                        </a:rPr>
                        <a:t>OA log₂FC</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r" indent="0" marL="0">
                        <a:buNone/>
                      </a:pPr>
                      <a:r>
                        <a:rPr lang="en-US" sz="1150" b="1" dirty="0">
                          <a:solidFill>
                            <a:srgbClr val="F2F1EC"/>
                          </a:solidFill>
                          <a:latin typeface="Calibri" pitchFamily="34" charset="0"/>
                          <a:ea typeface="Calibri" pitchFamily="34" charset="-122"/>
                          <a:cs typeface="Calibri" pitchFamily="34" charset="-120"/>
                        </a:rPr>
                        <a:t>OW log₂FC</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r" indent="0" marL="0">
                        <a:buNone/>
                      </a:pPr>
                      <a:r>
                        <a:rPr lang="en-US" sz="1150" b="1" dirty="0">
                          <a:solidFill>
                            <a:srgbClr val="F2F1EC"/>
                          </a:solidFill>
                          <a:latin typeface="Calibri" pitchFamily="34" charset="0"/>
                          <a:ea typeface="Calibri" pitchFamily="34" charset="-122"/>
                          <a:cs typeface="Calibri" pitchFamily="34" charset="-120"/>
                        </a:rPr>
                        <a:t>DO log₂FC</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r" indent="0" marL="0">
                        <a:buNone/>
                      </a:pPr>
                      <a:r>
                        <a:rPr lang="en-US" sz="1150" b="1" dirty="0">
                          <a:solidFill>
                            <a:srgbClr val="F2F1EC"/>
                          </a:solidFill>
                          <a:latin typeface="Calibri" pitchFamily="34" charset="0"/>
                          <a:ea typeface="Calibri" pitchFamily="34" charset="-122"/>
                          <a:cs typeface="Calibri" pitchFamily="34" charset="-120"/>
                        </a:rPr>
                        <a:t>Median CPM</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r>
              <a:tr h="301752">
                <a:tc>
                  <a:txBody>
                    <a:bodyPr/>
                    <a:lstStyle/>
                    <a:p>
                      <a:pPr algn="l" indent="0" marL="0">
                        <a:buNone/>
                      </a:pPr>
                      <a:r>
                        <a:rPr lang="en-US" sz="1150" dirty="0">
                          <a:solidFill>
                            <a:srgbClr val="45505E"/>
                          </a:solidFill>
                          <a:latin typeface="Calibri" pitchFamily="34" charset="0"/>
                          <a:ea typeface="Calibri" pitchFamily="34" charset="-122"/>
                          <a:cs typeface="Calibri" pitchFamily="34" charset="-120"/>
                        </a:rPr>
                        <a:t>mfp-1, adhesive plaque matrix protein</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n.t.</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n.t.</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45505E"/>
                          </a:solidFill>
                          <a:latin typeface="Calibri" pitchFamily="34" charset="0"/>
                          <a:ea typeface="Calibri" pitchFamily="34" charset="-122"/>
                          <a:cs typeface="Calibri" pitchFamily="34" charset="-120"/>
                        </a:rPr>
                        <a:t>mfp-2, plaque matrix protein</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301752">
                <a:tc>
                  <a:txBody>
                    <a:bodyPr/>
                    <a:lstStyle/>
                    <a:p>
                      <a:pPr algn="l" indent="0" marL="0">
                        <a:buNone/>
                      </a:pPr>
                      <a:r>
                        <a:rPr lang="en-US" sz="1150" dirty="0">
                          <a:solidFill>
                            <a:srgbClr val="45505E"/>
                          </a:solidFill>
                          <a:latin typeface="Calibri" pitchFamily="34" charset="0"/>
                          <a:ea typeface="Calibri" pitchFamily="34" charset="-122"/>
                          <a:cs typeface="Calibri" pitchFamily="34" charset="-120"/>
                        </a:rPr>
                        <a:t>mfp-4</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n.t.</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45505E"/>
                          </a:solidFill>
                          <a:latin typeface="Calibri" pitchFamily="34" charset="0"/>
                          <a:ea typeface="Calibri" pitchFamily="34" charset="-122"/>
                          <a:cs typeface="Calibri" pitchFamily="34" charset="-120"/>
                        </a:rPr>
                        <a:t>preCol-D, byssal collagen</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−0.04</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−0.07</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−0.09</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301752">
                <a:tc>
                  <a:txBody>
                    <a:bodyPr/>
                    <a:lstStyle/>
                    <a:p>
                      <a:pPr algn="l" indent="0" marL="0">
                        <a:buNone/>
                      </a:pPr>
                      <a:r>
                        <a:rPr lang="en-US" sz="1150" dirty="0">
                          <a:solidFill>
                            <a:srgbClr val="45505E"/>
                          </a:solidFill>
                          <a:latin typeface="Calibri" pitchFamily="34" charset="0"/>
                          <a:ea typeface="Calibri" pitchFamily="34" charset="-122"/>
                          <a:cs typeface="Calibri" pitchFamily="34" charset="-120"/>
                        </a:rPr>
                        <a:t>Foot protein 10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16</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45505E"/>
                          </a:solidFill>
                          <a:latin typeface="Calibri" pitchFamily="34" charset="0"/>
                          <a:ea typeface="Calibri" pitchFamily="34" charset="-122"/>
                          <a:cs typeface="Calibri" pitchFamily="34" charset="-120"/>
                        </a:rPr>
                        <a:t>Foot protein 12</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+0.01</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301752">
                <a:tc>
                  <a:txBody>
                    <a:bodyPr/>
                    <a:lstStyle/>
                    <a:p>
                      <a:pPr algn="l" indent="0" marL="0">
                        <a:buNone/>
                      </a:pPr>
                      <a:r>
                        <a:rPr lang="en-US" sz="1150" dirty="0">
                          <a:solidFill>
                            <a:srgbClr val="45505E"/>
                          </a:solidFill>
                          <a:latin typeface="Calibri" pitchFamily="34" charset="0"/>
                          <a:ea typeface="Calibri" pitchFamily="34" charset="-122"/>
                          <a:cs typeface="Calibri" pitchFamily="34" charset="-120"/>
                        </a:rPr>
                        <a:t>ACDC, byssal EP-like protein 1</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−0.02</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−0.08</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+0.08</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01752">
                <a:tc>
                  <a:txBody>
                    <a:bodyPr/>
                    <a:lstStyle/>
                    <a:p>
                      <a:pPr algn="l" indent="0" marL="0">
                        <a:buNone/>
                      </a:pPr>
                      <a:r>
                        <a:rPr lang="en-US" sz="1150" dirty="0">
                          <a:solidFill>
                            <a:srgbClr val="45505E"/>
                          </a:solidFill>
                          <a:latin typeface="Calibri" pitchFamily="34" charset="0"/>
                          <a:ea typeface="Calibri" pitchFamily="34" charset="-122"/>
                          <a:cs typeface="Calibri" pitchFamily="34" charset="-120"/>
                        </a:rPr>
                        <a:t>Byssal HSP-like protein 1</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+0.56 (padj 0.09)</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+0.07</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+0.62 (padj 0.06)</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50" dirty="0">
                          <a:solidFill>
                            <a:srgbClr val="45505E"/>
                          </a:solidFill>
                          <a:latin typeface="Calibri" pitchFamily="34" charset="0"/>
                          <a:ea typeface="Calibri" pitchFamily="34" charset="-122"/>
                          <a:cs typeface="Calibri" pitchFamily="34" charset="-120"/>
                        </a:rPr>
                        <a:t>1,591</a:t>
                      </a:r>
                      <a:endParaRPr lang="en-US" sz="115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bl>
          </a:graphicData>
        </a:graphic>
      </p:graphicFrame>
      <p:sp>
        <p:nvSpPr>
          <p:cNvPr id="4" name="Text 1"/>
          <p:cNvSpPr txBox="1"/>
          <p:nvPr/>
        </p:nvSpPr>
        <p:spPr>
          <a:xfrm>
            <a:off x="7269480" y="1280160"/>
            <a:ext cx="4373575" cy="274320"/>
          </a:xfrm>
          <a:prstGeom prst="rect">
            <a:avLst/>
          </a:prstGeom>
          <a:noFill/>
          <a:ln/>
        </p:spPr>
        <p:txBody>
          <a:bodyPr wrap="square" lIns="0" tIns="0" rIns="0" bIns="0" rtlCol="0" anchor="t"/>
          <a:lstStyle/>
          <a:p>
            <a:pPr algn="l" indent="0" marL="0">
              <a:lnSpc>
                <a:spcPct val="115000"/>
              </a:lnSpc>
              <a:buNone/>
            </a:pPr>
            <a:r>
              <a:rPr lang="en-US" sz="1500" b="1" dirty="0">
                <a:solidFill>
                  <a:srgbClr val="1B2430"/>
                </a:solidFill>
                <a:latin typeface="Cambria" pitchFamily="34" charset="0"/>
                <a:ea typeface="Cambria" pitchFamily="34" charset="-122"/>
                <a:cs typeface="Cambria" pitchFamily="34" charset="-120"/>
              </a:rPr>
              <a:t>mfp-2 per animal, log₁₀(CPM + 1)</a:t>
            </a:r>
            <a:endParaRPr lang="en-US" sz="1500" dirty="0"/>
          </a:p>
        </p:txBody>
      </p:sp>
      <p:graphicFrame>
        <p:nvGraphicFramePr>
          <p:cNvPr id="5" name="Chart 0" descr=""/>
          <p:cNvGraphicFramePr/>
          <p:nvPr/>
        </p:nvGraphicFramePr>
        <p:xfrm>
          <a:off x="7178040" y="1554480"/>
          <a:ext cx="4465015" cy="31089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589520" y="4663440"/>
            <a:ext cx="979094" cy="274320"/>
          </a:xfrm>
          <a:prstGeom prst="rect">
            <a:avLst/>
          </a:prstGeom>
          <a:noFill/>
          <a:ln/>
        </p:spPr>
        <p:txBody>
          <a:bodyPr wrap="square" lIns="0" tIns="0" rIns="0" bIns="0" rtlCol="0" anchor="t"/>
          <a:lstStyle/>
          <a:p>
            <a:pPr algn="ctr" indent="0" marL="0">
              <a:lnSpc>
                <a:spcPct val="115000"/>
              </a:lnSpc>
              <a:buNone/>
            </a:pPr>
            <a:r>
              <a:rPr lang="en-US" sz="1100" b="1" dirty="0">
                <a:solidFill>
                  <a:srgbClr val="2A78D6"/>
                </a:solidFill>
                <a:latin typeface="Calibri" pitchFamily="34" charset="0"/>
                <a:ea typeface="Calibri" pitchFamily="34" charset="-122"/>
                <a:cs typeface="Calibri" pitchFamily="34" charset="-120"/>
              </a:rPr>
              <a:t>Control</a:t>
            </a:r>
            <a:endParaRPr lang="en-US" sz="1100" dirty="0"/>
          </a:p>
        </p:txBody>
      </p:sp>
      <p:sp>
        <p:nvSpPr>
          <p:cNvPr id="7" name="Text 3"/>
          <p:cNvSpPr txBox="1"/>
          <p:nvPr/>
        </p:nvSpPr>
        <p:spPr>
          <a:xfrm>
            <a:off x="8568614" y="4663440"/>
            <a:ext cx="979094" cy="274320"/>
          </a:xfrm>
          <a:prstGeom prst="rect">
            <a:avLst/>
          </a:prstGeom>
          <a:noFill/>
          <a:ln/>
        </p:spPr>
        <p:txBody>
          <a:bodyPr wrap="square" lIns="0" tIns="0" rIns="0" bIns="0" rtlCol="0" anchor="t"/>
          <a:lstStyle/>
          <a:p>
            <a:pPr algn="ctr" indent="0" marL="0">
              <a:lnSpc>
                <a:spcPct val="115000"/>
              </a:lnSpc>
              <a:buNone/>
            </a:pPr>
            <a:r>
              <a:rPr lang="en-US" sz="1100" b="1" dirty="0">
                <a:solidFill>
                  <a:srgbClr val="1BAF7A"/>
                </a:solidFill>
                <a:latin typeface="Calibri" pitchFamily="34" charset="0"/>
                <a:ea typeface="Calibri" pitchFamily="34" charset="-122"/>
                <a:cs typeface="Calibri" pitchFamily="34" charset="-120"/>
              </a:rPr>
              <a:t>Acidification</a:t>
            </a:r>
            <a:endParaRPr lang="en-US" sz="1100" dirty="0"/>
          </a:p>
        </p:txBody>
      </p:sp>
      <p:sp>
        <p:nvSpPr>
          <p:cNvPr id="8" name="Text 4"/>
          <p:cNvSpPr txBox="1"/>
          <p:nvPr/>
        </p:nvSpPr>
        <p:spPr>
          <a:xfrm>
            <a:off x="9547708" y="4663440"/>
            <a:ext cx="979094" cy="274320"/>
          </a:xfrm>
          <a:prstGeom prst="rect">
            <a:avLst/>
          </a:prstGeom>
          <a:noFill/>
          <a:ln/>
        </p:spPr>
        <p:txBody>
          <a:bodyPr wrap="square" lIns="0" tIns="0" rIns="0" bIns="0" rtlCol="0" anchor="t"/>
          <a:lstStyle/>
          <a:p>
            <a:pPr algn="ctr" indent="0" marL="0">
              <a:lnSpc>
                <a:spcPct val="115000"/>
              </a:lnSpc>
              <a:buNone/>
            </a:pPr>
            <a:r>
              <a:rPr lang="en-US" sz="1100" b="1" dirty="0">
                <a:solidFill>
                  <a:srgbClr val="EB6834"/>
                </a:solidFill>
                <a:latin typeface="Calibri" pitchFamily="34" charset="0"/>
                <a:ea typeface="Calibri" pitchFamily="34" charset="-122"/>
                <a:cs typeface="Calibri" pitchFamily="34" charset="-120"/>
              </a:rPr>
              <a:t>Warming</a:t>
            </a:r>
            <a:endParaRPr lang="en-US" sz="1100" dirty="0"/>
          </a:p>
        </p:txBody>
      </p:sp>
      <p:sp>
        <p:nvSpPr>
          <p:cNvPr id="9" name="Text 5"/>
          <p:cNvSpPr txBox="1"/>
          <p:nvPr/>
        </p:nvSpPr>
        <p:spPr>
          <a:xfrm>
            <a:off x="10526801" y="4663440"/>
            <a:ext cx="979094" cy="274320"/>
          </a:xfrm>
          <a:prstGeom prst="rect">
            <a:avLst/>
          </a:prstGeom>
          <a:noFill/>
          <a:ln/>
        </p:spPr>
        <p:txBody>
          <a:bodyPr wrap="square" lIns="0" tIns="0" rIns="0" bIns="0" rtlCol="0" anchor="t"/>
          <a:lstStyle/>
          <a:p>
            <a:pPr algn="ctr" indent="0" marL="0">
              <a:lnSpc>
                <a:spcPct val="115000"/>
              </a:lnSpc>
              <a:buNone/>
            </a:pPr>
            <a:r>
              <a:rPr lang="en-US" sz="1100" b="1" dirty="0">
                <a:solidFill>
                  <a:srgbClr val="4A3AA7"/>
                </a:solidFill>
                <a:latin typeface="Calibri" pitchFamily="34" charset="0"/>
                <a:ea typeface="Calibri" pitchFamily="34" charset="-122"/>
                <a:cs typeface="Calibri" pitchFamily="34" charset="-120"/>
              </a:rPr>
              <a:t>Hypoxia</a:t>
            </a:r>
            <a:endParaRPr lang="en-US" sz="1100" dirty="0"/>
          </a:p>
        </p:txBody>
      </p:sp>
      <p:sp>
        <p:nvSpPr>
          <p:cNvPr id="10" name="Text 6"/>
          <p:cNvSpPr txBox="1"/>
          <p:nvPr/>
        </p:nvSpPr>
        <p:spPr>
          <a:xfrm>
            <a:off x="548640" y="5074920"/>
            <a:ext cx="11094415" cy="960120"/>
          </a:xfrm>
          <a:prstGeom prst="rect">
            <a:avLst/>
          </a:prstGeom>
          <a:noFill/>
          <a:ln/>
        </p:spPr>
        <p:txBody>
          <a:bodyPr wrap="square" lIns="0" tIns="0" rIns="0" bIns="0" rtlCol="0" anchor="t"/>
          <a:lstStyle/>
          <a:p>
            <a:pPr algn="l" indent="0" marL="0">
              <a:lnSpc>
                <a:spcPct val="120000"/>
              </a:lnSpc>
              <a:buNone/>
            </a:pPr>
            <a:r>
              <a:rPr lang="en-US" sz="1300" dirty="0">
                <a:solidFill>
                  <a:srgbClr val="45505E"/>
                </a:solidFill>
                <a:latin typeface="Calibri" pitchFamily="34" charset="0"/>
                <a:ea typeface="Calibri" pitchFamily="34" charset="-122"/>
                <a:cs typeface="Calibri" pitchFamily="34" charset="-120"/>
              </a:rPr>
              <a:t>mfp-2, mfp-4, foot proteins 10, 12 and 15 and tyrosinase-like 1 switch on together (ρ = 0.8 to 0.96) in 10 of 46 animals spread over every arm, controls included, and the module is unrelated to force or plaque area (|ρ| ≤ 0.19): a marker of active thread secretion at sampling, not of stress.</a:t>
            </a:r>
            <a:endParaRPr lang="en-US" sz="1300" dirty="0"/>
          </a:p>
        </p:txBody>
      </p:sp>
      <p:sp>
        <p:nvSpPr>
          <p:cNvPr id="11" name="Text 7"/>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Foot, day 3, stressor vs control (DESeq2, apeglm); no value differs from zero at padj &lt; 0.05; n.t. = below the count filter. Exception: a low-count second copy of Byssal HSP-like protein 1 (+5.05 under hypoxia). Other studies report large stressor effects on these genes [refs].</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Byssal programme: on at day 0, off by day 3 in every arm</a:t>
            </a:r>
            <a:endParaRPr lang="en-US" sz="3000" dirty="0"/>
          </a:p>
        </p:txBody>
      </p:sp>
      <p:sp>
        <p:nvSpPr>
          <p:cNvPr id="3" name="Text 1"/>
          <p:cNvSpPr txBox="1"/>
          <p:nvPr/>
        </p:nvSpPr>
        <p:spPr>
          <a:xfrm>
            <a:off x="548640" y="1280160"/>
            <a:ext cx="6309360" cy="274320"/>
          </a:xfrm>
          <a:prstGeom prst="rect">
            <a:avLst/>
          </a:prstGeom>
          <a:noFill/>
          <a:ln/>
        </p:spPr>
        <p:txBody>
          <a:bodyPr wrap="square" lIns="0" tIns="0" rIns="0" bIns="0" rtlCol="0" anchor="t"/>
          <a:lstStyle/>
          <a:p>
            <a:pPr algn="l" indent="0" marL="0">
              <a:lnSpc>
                <a:spcPct val="115000"/>
              </a:lnSpc>
              <a:buNone/>
            </a:pPr>
            <a:r>
              <a:rPr lang="en-US" sz="1500" b="1" dirty="0">
                <a:solidFill>
                  <a:srgbClr val="1B2430"/>
                </a:solidFill>
                <a:latin typeface="Cambria" pitchFamily="34" charset="0"/>
                <a:ea typeface="Cambria" pitchFamily="34" charset="-122"/>
                <a:cs typeface="Cambria" pitchFamily="34" charset="-120"/>
              </a:rPr>
              <a:t>mfp-2 per animal, log₁₀(CPM + 1)</a:t>
            </a:r>
            <a:endParaRPr lang="en-US" sz="1500" dirty="0"/>
          </a:p>
        </p:txBody>
      </p:sp>
      <p:graphicFrame>
        <p:nvGraphicFramePr>
          <p:cNvPr id="4" name="Chart 0" descr=""/>
          <p:cNvGraphicFramePr/>
          <p:nvPr/>
        </p:nvGraphicFramePr>
        <p:xfrm>
          <a:off x="457200" y="1554480"/>
          <a:ext cx="6400800" cy="3200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960120" y="4754880"/>
            <a:ext cx="1161288" cy="274320"/>
          </a:xfrm>
          <a:prstGeom prst="rect">
            <a:avLst/>
          </a:prstGeom>
          <a:noFill/>
          <a:ln/>
        </p:spPr>
        <p:txBody>
          <a:bodyPr wrap="square" lIns="0" tIns="0" rIns="0" bIns="0" rtlCol="0" anchor="t"/>
          <a:lstStyle/>
          <a:p>
            <a:pPr algn="ctr" indent="0" marL="0">
              <a:lnSpc>
                <a:spcPct val="115000"/>
              </a:lnSpc>
              <a:buNone/>
            </a:pPr>
            <a:r>
              <a:rPr lang="en-US" sz="1050" b="1" dirty="0">
                <a:solidFill>
                  <a:srgbClr val="16233A"/>
                </a:solidFill>
                <a:latin typeface="Calibri" pitchFamily="34" charset="0"/>
                <a:ea typeface="Calibri" pitchFamily="34" charset="-122"/>
                <a:cs typeface="Calibri" pitchFamily="34" charset="-120"/>
              </a:rPr>
              <a:t>Day-0 lab control</a:t>
            </a:r>
            <a:endParaRPr lang="en-US" sz="1050" dirty="0"/>
          </a:p>
        </p:txBody>
      </p:sp>
      <p:sp>
        <p:nvSpPr>
          <p:cNvPr id="6" name="Text 3"/>
          <p:cNvSpPr txBox="1"/>
          <p:nvPr/>
        </p:nvSpPr>
        <p:spPr>
          <a:xfrm>
            <a:off x="960120" y="4983480"/>
            <a:ext cx="1161288" cy="256032"/>
          </a:xfrm>
          <a:prstGeom prst="rect">
            <a:avLst/>
          </a:prstGeom>
          <a:noFill/>
          <a:ln/>
        </p:spPr>
        <p:txBody>
          <a:bodyPr wrap="square" lIns="0" tIns="0" rIns="0" bIns="0" rtlCol="0" anchor="t"/>
          <a:lstStyle/>
          <a:p>
            <a:pPr algn="ctr" indent="0" marL="0">
              <a:lnSpc>
                <a:spcPct val="115000"/>
              </a:lnSpc>
              <a:buNone/>
            </a:pPr>
            <a:r>
              <a:rPr lang="en-US" sz="1000" dirty="0">
                <a:solidFill>
                  <a:srgbClr val="6B7480"/>
                </a:solidFill>
                <a:latin typeface="Calibri" pitchFamily="34" charset="0"/>
                <a:ea typeface="Calibri" pitchFamily="34" charset="-122"/>
                <a:cs typeface="Calibri" pitchFamily="34" charset="-120"/>
              </a:rPr>
              <a:t>on in 10 of 12</a:t>
            </a:r>
            <a:endParaRPr lang="en-US" sz="1000" dirty="0"/>
          </a:p>
        </p:txBody>
      </p:sp>
      <p:sp>
        <p:nvSpPr>
          <p:cNvPr id="7" name="Text 4"/>
          <p:cNvSpPr txBox="1"/>
          <p:nvPr/>
        </p:nvSpPr>
        <p:spPr>
          <a:xfrm>
            <a:off x="2121408" y="4754880"/>
            <a:ext cx="1161288" cy="274320"/>
          </a:xfrm>
          <a:prstGeom prst="rect">
            <a:avLst/>
          </a:prstGeom>
          <a:noFill/>
          <a:ln/>
        </p:spPr>
        <p:txBody>
          <a:bodyPr wrap="square" lIns="0" tIns="0" rIns="0" bIns="0" rtlCol="0" anchor="t"/>
          <a:lstStyle/>
          <a:p>
            <a:pPr algn="ctr" indent="0" marL="0">
              <a:lnSpc>
                <a:spcPct val="115000"/>
              </a:lnSpc>
              <a:buNone/>
            </a:pPr>
            <a:r>
              <a:rPr lang="en-US" sz="1050" b="1" dirty="0">
                <a:solidFill>
                  <a:srgbClr val="2A78D6"/>
                </a:solidFill>
                <a:latin typeface="Calibri" pitchFamily="34" charset="0"/>
                <a:ea typeface="Calibri" pitchFamily="34" charset="-122"/>
                <a:cs typeface="Calibri" pitchFamily="34" charset="-120"/>
              </a:rPr>
              <a:t>Day-3 control</a:t>
            </a:r>
            <a:endParaRPr lang="en-US" sz="1050" dirty="0"/>
          </a:p>
        </p:txBody>
      </p:sp>
      <p:sp>
        <p:nvSpPr>
          <p:cNvPr id="8" name="Text 5"/>
          <p:cNvSpPr txBox="1"/>
          <p:nvPr/>
        </p:nvSpPr>
        <p:spPr>
          <a:xfrm>
            <a:off x="2121408" y="4983480"/>
            <a:ext cx="1161288" cy="256032"/>
          </a:xfrm>
          <a:prstGeom prst="rect">
            <a:avLst/>
          </a:prstGeom>
          <a:noFill/>
          <a:ln/>
        </p:spPr>
        <p:txBody>
          <a:bodyPr wrap="square" lIns="0" tIns="0" rIns="0" bIns="0" rtlCol="0" anchor="t"/>
          <a:lstStyle/>
          <a:p>
            <a:pPr algn="ctr" indent="0" marL="0">
              <a:lnSpc>
                <a:spcPct val="115000"/>
              </a:lnSpc>
              <a:buNone/>
            </a:pPr>
            <a:r>
              <a:rPr lang="en-US" sz="1000" dirty="0">
                <a:solidFill>
                  <a:srgbClr val="6B7480"/>
                </a:solidFill>
                <a:latin typeface="Calibri" pitchFamily="34" charset="0"/>
                <a:ea typeface="Calibri" pitchFamily="34" charset="-122"/>
                <a:cs typeface="Calibri" pitchFamily="34" charset="-120"/>
              </a:rPr>
              <a:t>on in 2 of 12</a:t>
            </a:r>
            <a:endParaRPr lang="en-US" sz="1000" dirty="0"/>
          </a:p>
        </p:txBody>
      </p:sp>
      <p:sp>
        <p:nvSpPr>
          <p:cNvPr id="9" name="Text 6"/>
          <p:cNvSpPr txBox="1"/>
          <p:nvPr/>
        </p:nvSpPr>
        <p:spPr>
          <a:xfrm>
            <a:off x="3282696" y="4754880"/>
            <a:ext cx="1161288" cy="274320"/>
          </a:xfrm>
          <a:prstGeom prst="rect">
            <a:avLst/>
          </a:prstGeom>
          <a:noFill/>
          <a:ln/>
        </p:spPr>
        <p:txBody>
          <a:bodyPr wrap="square" lIns="0" tIns="0" rIns="0" bIns="0" rtlCol="0" anchor="t"/>
          <a:lstStyle/>
          <a:p>
            <a:pPr algn="ctr" indent="0" marL="0">
              <a:lnSpc>
                <a:spcPct val="115000"/>
              </a:lnSpc>
              <a:buNone/>
            </a:pPr>
            <a:r>
              <a:rPr lang="en-US" sz="1050" b="1" dirty="0">
                <a:solidFill>
                  <a:srgbClr val="1BAF7A"/>
                </a:solidFill>
                <a:latin typeface="Calibri" pitchFamily="34" charset="0"/>
                <a:ea typeface="Calibri" pitchFamily="34" charset="-122"/>
                <a:cs typeface="Calibri" pitchFamily="34" charset="-120"/>
              </a:rPr>
              <a:t>Acidification</a:t>
            </a:r>
            <a:endParaRPr lang="en-US" sz="1050" dirty="0"/>
          </a:p>
        </p:txBody>
      </p:sp>
      <p:sp>
        <p:nvSpPr>
          <p:cNvPr id="10" name="Text 7"/>
          <p:cNvSpPr txBox="1"/>
          <p:nvPr/>
        </p:nvSpPr>
        <p:spPr>
          <a:xfrm>
            <a:off x="3282696" y="4983480"/>
            <a:ext cx="1161288" cy="256032"/>
          </a:xfrm>
          <a:prstGeom prst="rect">
            <a:avLst/>
          </a:prstGeom>
          <a:noFill/>
          <a:ln/>
        </p:spPr>
        <p:txBody>
          <a:bodyPr wrap="square" lIns="0" tIns="0" rIns="0" bIns="0" rtlCol="0" anchor="t"/>
          <a:lstStyle/>
          <a:p>
            <a:pPr algn="ctr" indent="0" marL="0">
              <a:lnSpc>
                <a:spcPct val="115000"/>
              </a:lnSpc>
              <a:buNone/>
            </a:pPr>
            <a:r>
              <a:rPr lang="en-US" sz="1000" dirty="0">
                <a:solidFill>
                  <a:srgbClr val="6B7480"/>
                </a:solidFill>
                <a:latin typeface="Calibri" pitchFamily="34" charset="0"/>
                <a:ea typeface="Calibri" pitchFamily="34" charset="-122"/>
                <a:cs typeface="Calibri" pitchFamily="34" charset="-120"/>
              </a:rPr>
              <a:t>on in 2 of 12</a:t>
            </a:r>
            <a:endParaRPr lang="en-US" sz="1000" dirty="0"/>
          </a:p>
        </p:txBody>
      </p:sp>
      <p:sp>
        <p:nvSpPr>
          <p:cNvPr id="11" name="Text 8"/>
          <p:cNvSpPr txBox="1"/>
          <p:nvPr/>
        </p:nvSpPr>
        <p:spPr>
          <a:xfrm>
            <a:off x="4443984" y="4754880"/>
            <a:ext cx="1161288" cy="274320"/>
          </a:xfrm>
          <a:prstGeom prst="rect">
            <a:avLst/>
          </a:prstGeom>
          <a:noFill/>
          <a:ln/>
        </p:spPr>
        <p:txBody>
          <a:bodyPr wrap="square" lIns="0" tIns="0" rIns="0" bIns="0" rtlCol="0" anchor="t"/>
          <a:lstStyle/>
          <a:p>
            <a:pPr algn="ctr" indent="0" marL="0">
              <a:lnSpc>
                <a:spcPct val="115000"/>
              </a:lnSpc>
              <a:buNone/>
            </a:pPr>
            <a:r>
              <a:rPr lang="en-US" sz="1050" b="1" dirty="0">
                <a:solidFill>
                  <a:srgbClr val="EB6834"/>
                </a:solidFill>
                <a:latin typeface="Calibri" pitchFamily="34" charset="0"/>
                <a:ea typeface="Calibri" pitchFamily="34" charset="-122"/>
                <a:cs typeface="Calibri" pitchFamily="34" charset="-120"/>
              </a:rPr>
              <a:t>Warming</a:t>
            </a:r>
            <a:endParaRPr lang="en-US" sz="1050" dirty="0"/>
          </a:p>
        </p:txBody>
      </p:sp>
      <p:sp>
        <p:nvSpPr>
          <p:cNvPr id="12" name="Text 9"/>
          <p:cNvSpPr txBox="1"/>
          <p:nvPr/>
        </p:nvSpPr>
        <p:spPr>
          <a:xfrm>
            <a:off x="4443984" y="4983480"/>
            <a:ext cx="1161288" cy="256032"/>
          </a:xfrm>
          <a:prstGeom prst="rect">
            <a:avLst/>
          </a:prstGeom>
          <a:noFill/>
          <a:ln/>
        </p:spPr>
        <p:txBody>
          <a:bodyPr wrap="square" lIns="0" tIns="0" rIns="0" bIns="0" rtlCol="0" anchor="t"/>
          <a:lstStyle/>
          <a:p>
            <a:pPr algn="ctr" indent="0" marL="0">
              <a:lnSpc>
                <a:spcPct val="115000"/>
              </a:lnSpc>
              <a:buNone/>
            </a:pPr>
            <a:r>
              <a:rPr lang="en-US" sz="1000" dirty="0">
                <a:solidFill>
                  <a:srgbClr val="6B7480"/>
                </a:solidFill>
                <a:latin typeface="Calibri" pitchFamily="34" charset="0"/>
                <a:ea typeface="Calibri" pitchFamily="34" charset="-122"/>
                <a:cs typeface="Calibri" pitchFamily="34" charset="-120"/>
              </a:rPr>
              <a:t>on in 4 of 12</a:t>
            </a:r>
            <a:endParaRPr lang="en-US" sz="1000" dirty="0"/>
          </a:p>
        </p:txBody>
      </p:sp>
      <p:sp>
        <p:nvSpPr>
          <p:cNvPr id="13" name="Text 10"/>
          <p:cNvSpPr txBox="1"/>
          <p:nvPr/>
        </p:nvSpPr>
        <p:spPr>
          <a:xfrm>
            <a:off x="5605272" y="4754880"/>
            <a:ext cx="1161288" cy="274320"/>
          </a:xfrm>
          <a:prstGeom prst="rect">
            <a:avLst/>
          </a:prstGeom>
          <a:noFill/>
          <a:ln/>
        </p:spPr>
        <p:txBody>
          <a:bodyPr wrap="square" lIns="0" tIns="0" rIns="0" bIns="0" rtlCol="0" anchor="t"/>
          <a:lstStyle/>
          <a:p>
            <a:pPr algn="ctr" indent="0" marL="0">
              <a:lnSpc>
                <a:spcPct val="115000"/>
              </a:lnSpc>
              <a:buNone/>
            </a:pPr>
            <a:r>
              <a:rPr lang="en-US" sz="1050" b="1" dirty="0">
                <a:solidFill>
                  <a:srgbClr val="4A3AA7"/>
                </a:solidFill>
                <a:latin typeface="Calibri" pitchFamily="34" charset="0"/>
                <a:ea typeface="Calibri" pitchFamily="34" charset="-122"/>
                <a:cs typeface="Calibri" pitchFamily="34" charset="-120"/>
              </a:rPr>
              <a:t>Hypoxia</a:t>
            </a:r>
            <a:endParaRPr lang="en-US" sz="1050" dirty="0"/>
          </a:p>
        </p:txBody>
      </p:sp>
      <p:sp>
        <p:nvSpPr>
          <p:cNvPr id="14" name="Text 11"/>
          <p:cNvSpPr txBox="1"/>
          <p:nvPr/>
        </p:nvSpPr>
        <p:spPr>
          <a:xfrm>
            <a:off x="5605272" y="4983480"/>
            <a:ext cx="1161288" cy="256032"/>
          </a:xfrm>
          <a:prstGeom prst="rect">
            <a:avLst/>
          </a:prstGeom>
          <a:noFill/>
          <a:ln/>
        </p:spPr>
        <p:txBody>
          <a:bodyPr wrap="square" lIns="0" tIns="0" rIns="0" bIns="0" rtlCol="0" anchor="t"/>
          <a:lstStyle/>
          <a:p>
            <a:pPr algn="ctr" indent="0" marL="0">
              <a:lnSpc>
                <a:spcPct val="115000"/>
              </a:lnSpc>
              <a:buNone/>
            </a:pPr>
            <a:r>
              <a:rPr lang="en-US" sz="1000" dirty="0">
                <a:solidFill>
                  <a:srgbClr val="6B7480"/>
                </a:solidFill>
                <a:latin typeface="Calibri" pitchFamily="34" charset="0"/>
                <a:ea typeface="Calibri" pitchFamily="34" charset="-122"/>
                <a:cs typeface="Calibri" pitchFamily="34" charset="-120"/>
              </a:rPr>
              <a:t>on in 2 of 10</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315200" y="1325880"/>
          <a:ext cx="4327855" cy="914400"/>
        </p:xfrm>
        <a:graphic>
          <a:graphicData uri="http://schemas.openxmlformats.org/drawingml/2006/table">
            <a:tbl>
              <a:tblPr/>
              <a:tblGrid>
                <a:gridCol w="1600200"/>
                <a:gridCol w="685800"/>
                <a:gridCol w="777240"/>
                <a:gridCol w="548640"/>
                <a:gridCol w="548640"/>
                <a:gridCol w="548640"/>
              </a:tblGrid>
              <a:tr h="292608">
                <a:tc>
                  <a:txBody>
                    <a:bodyPr/>
                    <a:lstStyle/>
                    <a:p>
                      <a:pPr algn="l" indent="0" marL="0">
                        <a:buNone/>
                      </a:pPr>
                      <a:r>
                        <a:rPr lang="en-US" sz="1100" b="1" dirty="0">
                          <a:solidFill>
                            <a:srgbClr val="F2F1EC"/>
                          </a:solidFill>
                          <a:latin typeface="Calibri" pitchFamily="34" charset="0"/>
                          <a:ea typeface="Calibri" pitchFamily="34" charset="-122"/>
                          <a:cs typeface="Calibri" pitchFamily="34" charset="-120"/>
                        </a:rPr>
                        <a:t>Median CPM</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r" indent="0" marL="0">
                        <a:buNone/>
                      </a:pPr>
                      <a:r>
                        <a:rPr lang="en-US" sz="1100" b="1" dirty="0">
                          <a:solidFill>
                            <a:srgbClr val="F2F1EC"/>
                          </a:solidFill>
                          <a:latin typeface="Calibri" pitchFamily="34" charset="0"/>
                          <a:ea typeface="Calibri" pitchFamily="34" charset="-122"/>
                          <a:cs typeface="Calibri" pitchFamily="34" charset="-120"/>
                        </a:rPr>
                        <a:t>Day 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r" indent="0" marL="0">
                        <a:buNone/>
                      </a:pPr>
                      <a:r>
                        <a:rPr lang="en-US" sz="1100" b="1" dirty="0">
                          <a:solidFill>
                            <a:srgbClr val="F2F1EC"/>
                          </a:solidFill>
                          <a:latin typeface="Calibri" pitchFamily="34" charset="0"/>
                          <a:ea typeface="Calibri" pitchFamily="34" charset="-122"/>
                          <a:cs typeface="Calibri" pitchFamily="34" charset="-120"/>
                        </a:rPr>
                        <a:t>Day-3 ctrl</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r" indent="0" marL="0">
                        <a:buNone/>
                      </a:pPr>
                      <a:r>
                        <a:rPr lang="en-US" sz="1100" b="1" dirty="0">
                          <a:solidFill>
                            <a:srgbClr val="F2F1EC"/>
                          </a:solidFill>
                          <a:latin typeface="Calibri" pitchFamily="34" charset="0"/>
                          <a:ea typeface="Calibri" pitchFamily="34" charset="-122"/>
                          <a:cs typeface="Calibri" pitchFamily="34" charset="-120"/>
                        </a:rPr>
                        <a:t>OA</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r" indent="0" marL="0">
                        <a:buNone/>
                      </a:pPr>
                      <a:r>
                        <a:rPr lang="en-US" sz="1100" b="1" dirty="0">
                          <a:solidFill>
                            <a:srgbClr val="F2F1EC"/>
                          </a:solidFill>
                          <a:latin typeface="Calibri" pitchFamily="34" charset="0"/>
                          <a:ea typeface="Calibri" pitchFamily="34" charset="-122"/>
                          <a:cs typeface="Calibri" pitchFamily="34" charset="-120"/>
                        </a:rPr>
                        <a:t>OW</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r" indent="0" marL="0">
                        <a:buNone/>
                      </a:pPr>
                      <a:r>
                        <a:rPr lang="en-US" sz="1100" b="1" dirty="0">
                          <a:solidFill>
                            <a:srgbClr val="F2F1EC"/>
                          </a:solidFill>
                          <a:latin typeface="Calibri" pitchFamily="34" charset="0"/>
                          <a:ea typeface="Calibri" pitchFamily="34" charset="-122"/>
                          <a:cs typeface="Calibri" pitchFamily="34" charset="-120"/>
                        </a:rPr>
                        <a:t>DO</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r>
              <a:tr h="292608">
                <a:tc>
                  <a:txBody>
                    <a:bodyPr/>
                    <a:lstStyle/>
                    <a:p>
                      <a:pPr algn="l" indent="0" marL="0">
                        <a:buNone/>
                      </a:pPr>
                      <a:r>
                        <a:rPr lang="en-US" sz="1100" dirty="0">
                          <a:solidFill>
                            <a:srgbClr val="45505E"/>
                          </a:solidFill>
                          <a:latin typeface="Calibri" pitchFamily="34" charset="0"/>
                          <a:ea typeface="Calibri" pitchFamily="34" charset="-122"/>
                          <a:cs typeface="Calibri" pitchFamily="34" charset="-120"/>
                        </a:rPr>
                        <a:t>mfp-2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430"/>
                          </a:solidFill>
                          <a:latin typeface="Calibri" pitchFamily="34" charset="0"/>
                          <a:ea typeface="Calibri" pitchFamily="34" charset="-122"/>
                          <a:cs typeface="Calibri" pitchFamily="34" charset="-120"/>
                        </a:rPr>
                        <a:t>7,115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37</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57</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45505E"/>
                          </a:solidFill>
                          <a:latin typeface="Calibri" pitchFamily="34" charset="0"/>
                          <a:ea typeface="Calibri" pitchFamily="34" charset="-122"/>
                          <a:cs typeface="Calibri" pitchFamily="34" charset="-120"/>
                        </a:rPr>
                        <a:t>mfp-4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1B2430"/>
                          </a:solidFill>
                          <a:latin typeface="Calibri" pitchFamily="34" charset="0"/>
                          <a:ea typeface="Calibri" pitchFamily="34" charset="-122"/>
                          <a:cs typeface="Calibri" pitchFamily="34" charset="-120"/>
                        </a:rPr>
                        <a:t>934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292608">
                <a:tc>
                  <a:txBody>
                    <a:bodyPr/>
                    <a:lstStyle/>
                    <a:p>
                      <a:pPr algn="l" indent="0" marL="0">
                        <a:buNone/>
                      </a:pPr>
                      <a:r>
                        <a:rPr lang="en-US" sz="1100" dirty="0">
                          <a:solidFill>
                            <a:srgbClr val="45505E"/>
                          </a:solidFill>
                          <a:latin typeface="Calibri" pitchFamily="34" charset="0"/>
                          <a:ea typeface="Calibri" pitchFamily="34" charset="-122"/>
                          <a:cs typeface="Calibri" pitchFamily="34" charset="-120"/>
                        </a:rPr>
                        <a:t>Foot protein 10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430"/>
                          </a:solidFill>
                          <a:latin typeface="Calibri" pitchFamily="34" charset="0"/>
                          <a:ea typeface="Calibri" pitchFamily="34" charset="-122"/>
                          <a:cs typeface="Calibri" pitchFamily="34" charset="-120"/>
                        </a:rPr>
                        <a:t>8,149</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55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17</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81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45505E"/>
                          </a:solidFill>
                          <a:latin typeface="Calibri" pitchFamily="34" charset="0"/>
                          <a:ea typeface="Calibri" pitchFamily="34" charset="-122"/>
                          <a:cs typeface="Calibri" pitchFamily="34" charset="-120"/>
                        </a:rPr>
                        <a:t>Foot protein 12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1B2430"/>
                          </a:solidFill>
                          <a:latin typeface="Calibri" pitchFamily="34" charset="0"/>
                          <a:ea typeface="Calibri" pitchFamily="34" charset="-122"/>
                          <a:cs typeface="Calibri" pitchFamily="34" charset="-120"/>
                        </a:rPr>
                        <a:t>13,805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47</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69</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292608">
                <a:tc>
                  <a:txBody>
                    <a:bodyPr/>
                    <a:lstStyle/>
                    <a:p>
                      <a:pPr algn="l" indent="0" marL="0">
                        <a:buNone/>
                      </a:pPr>
                      <a:r>
                        <a:rPr lang="en-US" sz="1100" dirty="0">
                          <a:solidFill>
                            <a:srgbClr val="45505E"/>
                          </a:solidFill>
                          <a:latin typeface="Calibri" pitchFamily="34" charset="0"/>
                          <a:ea typeface="Calibri" pitchFamily="34" charset="-122"/>
                          <a:cs typeface="Calibri" pitchFamily="34" charset="-120"/>
                        </a:rPr>
                        <a:t>preCol-D</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1B2430"/>
                          </a:solidFill>
                          <a:latin typeface="Calibri" pitchFamily="34" charset="0"/>
                          <a:ea typeface="Calibri" pitchFamily="34" charset="-122"/>
                          <a:cs typeface="Calibri" pitchFamily="34" charset="-120"/>
                        </a:rPr>
                        <a:t>10,849</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11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292608">
                <a:tc>
                  <a:txBody>
                    <a:bodyPr/>
                    <a:lstStyle/>
                    <a:p>
                      <a:pPr algn="l" indent="0" marL="0">
                        <a:buNone/>
                      </a:pPr>
                      <a:r>
                        <a:rPr lang="en-US" sz="1100" dirty="0">
                          <a:solidFill>
                            <a:srgbClr val="45505E"/>
                          </a:solidFill>
                          <a:latin typeface="Calibri" pitchFamily="34" charset="0"/>
                          <a:ea typeface="Calibri" pitchFamily="34" charset="-122"/>
                          <a:cs typeface="Calibri" pitchFamily="34" charset="-120"/>
                        </a:rPr>
                        <a:t>Byssal tyrosinase-like 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1B2430"/>
                          </a:solidFill>
                          <a:latin typeface="Calibri" pitchFamily="34" charset="0"/>
                          <a:ea typeface="Calibri" pitchFamily="34" charset="-122"/>
                          <a:cs typeface="Calibri" pitchFamily="34" charset="-120"/>
                        </a:rPr>
                        <a:t>355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100" dirty="0">
                          <a:solidFill>
                            <a:srgbClr val="45505E"/>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bl>
          </a:graphicData>
        </a:graphic>
      </p:graphicFrame>
      <p:sp>
        <p:nvSpPr>
          <p:cNvPr id="16" name="Text 12"/>
          <p:cNvSpPr txBox="1"/>
          <p:nvPr/>
        </p:nvSpPr>
        <p:spPr>
          <a:xfrm>
            <a:off x="7315200" y="3520440"/>
            <a:ext cx="4327855" cy="640080"/>
          </a:xfrm>
          <a:prstGeom prst="rect">
            <a:avLst/>
          </a:prstGeom>
          <a:noFill/>
          <a:ln/>
        </p:spPr>
        <p:txBody>
          <a:bodyPr wrap="square" lIns="0" tIns="0" rIns="0" bIns="0" rtlCol="0" anchor="t"/>
          <a:lstStyle/>
          <a:p>
            <a:pPr algn="l" indent="0" marL="0">
              <a:lnSpc>
                <a:spcPct val="115000"/>
              </a:lnSpc>
              <a:buNone/>
            </a:pPr>
            <a:r>
              <a:rPr lang="en-US" sz="1100" dirty="0">
                <a:solidFill>
                  <a:srgbClr val="6B7480"/>
                </a:solidFill>
                <a:latin typeface="Calibri" pitchFamily="34" charset="0"/>
                <a:ea typeface="Calibri" pitchFamily="34" charset="-122"/>
                <a:cs typeface="Calibri" pitchFamily="34" charset="-120"/>
              </a:rPr>
              <a:t>The same six genes rise and fall together. "On" = mfp-2, mfp-4, foot proteins 10 and 12 all above 100 CPM.</a:t>
            </a:r>
            <a:endParaRPr lang="en-US" sz="1100" dirty="0"/>
          </a:p>
        </p:txBody>
      </p:sp>
      <p:sp>
        <p:nvSpPr>
          <p:cNvPr id="17" name="Text 13"/>
          <p:cNvSpPr txBox="1"/>
          <p:nvPr/>
        </p:nvSpPr>
        <p:spPr>
          <a:xfrm>
            <a:off x="7315200" y="4160520"/>
            <a:ext cx="4327855" cy="1188720"/>
          </a:xfrm>
          <a:prstGeom prst="rect">
            <a:avLst/>
          </a:prstGeom>
          <a:noFill/>
          <a:ln/>
        </p:spPr>
        <p:txBody>
          <a:bodyPr wrap="square" lIns="0" tIns="0" rIns="0" bIns="0" rtlCol="0" anchor="t"/>
          <a:lstStyle/>
          <a:p>
            <a:pPr algn="l" indent="0" marL="0">
              <a:lnSpc>
                <a:spcPct val="120000"/>
              </a:lnSpc>
              <a:buNone/>
            </a:pPr>
            <a:r>
              <a:rPr lang="en-US" sz="1500" dirty="0">
                <a:solidFill>
                  <a:srgbClr val="1B2430"/>
                </a:solidFill>
                <a:latin typeface="Cambria" pitchFamily="34" charset="0"/>
                <a:ea typeface="Cambria" pitchFamily="34" charset="-122"/>
                <a:cs typeface="Cambria" pitchFamily="34" charset="-120"/>
              </a:rPr>
              <a:t>Against a day-0 reference every byssal gene reads as strongly "down", in the day-3 control as much as in any stressor arm; against the day-3 control none of them moves.</a:t>
            </a:r>
            <a:endParaRPr lang="en-US" sz="1500" dirty="0"/>
          </a:p>
        </p:txBody>
      </p:sp>
      <p:sp>
        <p:nvSpPr>
          <p:cNvPr id="18" name="Text 14"/>
          <p:cNvSpPr txBox="1"/>
          <p:nvPr/>
        </p:nvSpPr>
        <p:spPr>
          <a:xfrm>
            <a:off x="548640" y="5486400"/>
            <a:ext cx="11094415" cy="685800"/>
          </a:xfrm>
          <a:prstGeom prst="rect">
            <a:avLst/>
          </a:prstGeom>
          <a:noFill/>
          <a:ln/>
        </p:spPr>
        <p:txBody>
          <a:bodyPr wrap="square" lIns="0" tIns="0" rIns="0" bIns="0" rtlCol="0" anchor="t"/>
          <a:lstStyle/>
          <a:p>
            <a:pPr algn="l" indent="0" marL="0">
              <a:lnSpc>
                <a:spcPct val="120000"/>
              </a:lnSpc>
              <a:buNone/>
            </a:pPr>
            <a:r>
              <a:rPr lang="en-US" sz="1300" dirty="0">
                <a:solidFill>
                  <a:srgbClr val="45505E"/>
                </a:solidFill>
                <a:latin typeface="Calibri" pitchFamily="34" charset="0"/>
                <a:ea typeface="Calibri" pitchFamily="34" charset="-122"/>
                <a:cs typeface="Calibri" pitchFamily="34" charset="-120"/>
              </a:rPr>
              <a:t>The day-0 animals had their byssus cut and were re-attaching when sampled; by day 3 most animals in every tank had re-attached and switched the programme off. Large stressor "effects" on byssal genes depend on which control is the reference.</a:t>
            </a:r>
            <a:endParaRPr lang="en-US" sz="1300" dirty="0"/>
          </a:p>
        </p:txBody>
      </p:sp>
      <p:sp>
        <p:nvSpPr>
          <p:cNvPr id="19" name="Text 15"/>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CPM from the clean count matrix, foot libraries (day 0 n = 12; day 3 n = 12, 12, 12, 10). Lab-control (LC) DESeq2 contrasts call preCol-D, foot proteins 10 and 12 and tyrosinase-like 1 down by 3.5 to 8 log₂ units in the day-3 control vs day 0 (DE/03_analyses/DEG_lists/Foot/FTC_LC_apeglm.csv).</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Does an animal’s transcriptome predict its threads?</a:t>
            </a:r>
            <a:endParaRPr lang="en-US" sz="3000" dirty="0"/>
          </a:p>
        </p:txBody>
      </p:sp>
      <p:sp>
        <p:nvSpPr>
          <p:cNvPr id="3" name="Text 1"/>
          <p:cNvSpPr txBox="1"/>
          <p:nvPr/>
        </p:nvSpPr>
        <p:spPr>
          <a:xfrm>
            <a:off x="548640" y="1325880"/>
            <a:ext cx="4206240" cy="274320"/>
          </a:xfrm>
          <a:prstGeom prst="rect">
            <a:avLst/>
          </a:prstGeom>
          <a:noFill/>
          <a:ln/>
        </p:spPr>
        <p:txBody>
          <a:bodyPr wrap="square" lIns="0" tIns="0" rIns="0" bIns="0" rtlCol="0" anchor="t"/>
          <a:lstStyle/>
          <a:p>
            <a:pPr algn="l" indent="0" marL="0">
              <a:lnSpc>
                <a:spcPct val="115000"/>
              </a:lnSpc>
              <a:buNone/>
            </a:pPr>
            <a:r>
              <a:rPr lang="en-US" sz="1100" b="1" spc="200" kern="0" dirty="0">
                <a:solidFill>
                  <a:srgbClr val="1F6F8B"/>
                </a:solidFill>
                <a:latin typeface="Calibri" pitchFamily="34" charset="0"/>
                <a:ea typeface="Calibri" pitchFamily="34" charset="-122"/>
                <a:cs typeface="Calibri" pitchFamily="34" charset="-120"/>
              </a:rPr>
              <a:t>WHAT WAS TESTED</a:t>
            </a:r>
            <a:endParaRPr lang="en-US" sz="1100" dirty="0"/>
          </a:p>
        </p:txBody>
      </p:sp>
      <p:sp>
        <p:nvSpPr>
          <p:cNvPr id="4" name="Text 2"/>
          <p:cNvSpPr txBox="1"/>
          <p:nvPr/>
        </p:nvSpPr>
        <p:spPr>
          <a:xfrm>
            <a:off x="548640" y="1691640"/>
            <a:ext cx="4206240" cy="4206240"/>
          </a:xfrm>
          <a:prstGeom prst="rect">
            <a:avLst/>
          </a:prstGeom>
          <a:noFill/>
          <a:ln/>
        </p:spPr>
        <p:txBody>
          <a:bodyPr wrap="square" lIns="0" tIns="0" rIns="0" bIns="0" rtlCol="0" anchor="t"/>
          <a:lstStyle/>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45 foot animals (44 with baselines) and 46 gill animals across the four arms.</a:t>
            </a:r>
            <a:endParaRPr lang="en-US" sz="1300" dirty="0"/>
          </a:p>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58 candidate genes (HIF, heat-shock, peroxidase and antioxidant, byssal, collagen, tRNA ligases) plus the tissue’s 523 or 1,009 DEGs.</a:t>
            </a:r>
            <a:endParaRPr lang="en-US" sz="1300" dirty="0"/>
          </a:p>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Seven metrics: day-3 force, area, adhesion and extension; change from baseline in force, area and adhesion.</a:t>
            </a:r>
            <a:endParaRPr lang="en-US" sz="1300" dirty="0"/>
          </a:p>
          <a:p>
            <a:pPr marL="177800" indent="-177800">
              <a:lnSpc>
                <a:spcPct val="110000"/>
              </a:lnSpc>
              <a:spcAft>
                <a:spcPts val="1000"/>
              </a:spcAft>
              <a:buSzPct val="100000"/>
              <a:buChar char="•"/>
            </a:pPr>
            <a:r>
              <a:rPr lang="en-US" sz="1300" dirty="0">
                <a:solidFill>
                  <a:srgbClr val="45505E"/>
                </a:solidFill>
                <a:latin typeface="Calibri" pitchFamily="34" charset="0"/>
                <a:ea typeface="Calibri" pitchFamily="34" charset="-122"/>
                <a:cs typeface="Calibri" pitchFamily="34" charset="-120"/>
              </a:rPr>
              <a:t>Arm-adjusted regressions, Benjamini-Hochberg within metric, a 1,000-draw permutation of the best hit, detection-floor and leave-one-out checks.</a:t>
            </a:r>
            <a:endParaRPr lang="en-US" sz="1300" dirty="0"/>
          </a:p>
        </p:txBody>
      </p:sp>
      <p:sp>
        <p:nvSpPr>
          <p:cNvPr id="5" name="Text 3"/>
          <p:cNvSpPr txBox="1"/>
          <p:nvPr/>
        </p:nvSpPr>
        <p:spPr>
          <a:xfrm>
            <a:off x="5212080" y="1325880"/>
            <a:ext cx="6430975" cy="822960"/>
          </a:xfrm>
          <a:prstGeom prst="rect">
            <a:avLst/>
          </a:prstGeom>
          <a:noFill/>
          <a:ln/>
        </p:spPr>
        <p:txBody>
          <a:bodyPr wrap="square" lIns="0" tIns="0" rIns="0" bIns="0" rtlCol="0" anchor="t"/>
          <a:lstStyle/>
          <a:p>
            <a:pPr algn="l" indent="0" marL="0">
              <a:lnSpc>
                <a:spcPct val="115000"/>
              </a:lnSpc>
              <a:buNone/>
            </a:pPr>
            <a:r>
              <a:rPr lang="en-US" sz="2200" dirty="0">
                <a:solidFill>
                  <a:srgbClr val="1B2430"/>
                </a:solidFill>
                <a:latin typeface="Cambria" pitchFamily="34" charset="0"/>
                <a:ea typeface="Cambria" pitchFamily="34" charset="-122"/>
                <a:cs typeface="Cambria" pitchFamily="34" charset="-120"/>
              </a:rPr>
              <a:t>No gene or module survives correction in either tissue.</a:t>
            </a:r>
            <a:endParaRPr lang="en-US" sz="2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212080" y="2331720"/>
          <a:ext cx="6430975" cy="914400"/>
        </p:xfrm>
        <a:graphic>
          <a:graphicData uri="http://schemas.openxmlformats.org/drawingml/2006/table">
            <a:tbl>
              <a:tblPr/>
              <a:tblGrid>
                <a:gridCol w="3566160"/>
                <a:gridCol w="1371600"/>
                <a:gridCol w="1554480"/>
              </a:tblGrid>
              <a:tr h="329184">
                <a:tc>
                  <a:txBody>
                    <a:bodyPr/>
                    <a:lstStyle/>
                    <a:p>
                      <a:pPr algn="l" indent="0" marL="0">
                        <a:buNone/>
                      </a:pPr>
                      <a:r>
                        <a:rPr lang="en-US" sz="1200" b="1" dirty="0">
                          <a:solidFill>
                            <a:srgbClr val="1B2430"/>
                          </a:solidFill>
                          <a:latin typeface="Calibri" pitchFamily="34" charset="0"/>
                          <a:ea typeface="Calibri" pitchFamily="34" charset="-122"/>
                          <a:cs typeface="Calibri" pitchFamily="34" charset="-120"/>
                        </a:rPr>
                        <a:t>Closest leads</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200" b="1" dirty="0">
                          <a:solidFill>
                            <a:srgbClr val="1B2430"/>
                          </a:solidFill>
                          <a:latin typeface="Calibri" pitchFamily="34" charset="0"/>
                          <a:ea typeface="Calibri" pitchFamily="34" charset="-122"/>
                          <a:cs typeface="Calibri" pitchFamily="34" charset="-120"/>
                        </a:rPr>
                        <a:t>q</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r" indent="0" marL="0">
                        <a:buNone/>
                      </a:pPr>
                      <a:r>
                        <a:rPr lang="en-US" sz="1200" b="1" dirty="0">
                          <a:solidFill>
                            <a:srgbClr val="1B2430"/>
                          </a:solidFill>
                          <a:latin typeface="Calibri" pitchFamily="34" charset="0"/>
                          <a:ea typeface="Calibri" pitchFamily="34" charset="-122"/>
                          <a:cs typeface="Calibri" pitchFamily="34" charset="-120"/>
                        </a:rPr>
                        <a:t>Permutation p</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329184">
                <a:tc>
                  <a:txBody>
                    <a:bodyPr/>
                    <a:lstStyle/>
                    <a:p>
                      <a:pPr algn="l" indent="0" marL="0">
                        <a:buNone/>
                      </a:pPr>
                      <a:r>
                        <a:rPr lang="en-US" sz="1200" dirty="0">
                          <a:solidFill>
                            <a:srgbClr val="45505E"/>
                          </a:solidFill>
                          <a:latin typeface="Calibri" pitchFamily="34" charset="0"/>
                          <a:ea typeface="Calibri" pitchFamily="34" charset="-122"/>
                          <a:cs typeface="Calibri" pitchFamily="34" charset="-120"/>
                        </a:rPr>
                        <a:t>Foot: phosphodiesterase 8B vs Δ force</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0.070</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45505E"/>
                          </a:solidFill>
                          <a:latin typeface="Calibri" pitchFamily="34" charset="0"/>
                          <a:ea typeface="Calibri" pitchFamily="34" charset="-122"/>
                          <a:cs typeface="Calibri" pitchFamily="34" charset="-120"/>
                        </a:rPr>
                        <a:t>Foot: HIF-hypoxia module vs Δ plaque area</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0.058</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45505E"/>
                          </a:solidFill>
                          <a:latin typeface="Calibri" pitchFamily="34" charset="0"/>
                          <a:ea typeface="Calibri" pitchFamily="34" charset="-122"/>
                          <a:cs typeface="Calibri" pitchFamily="34" charset="-120"/>
                        </a:rPr>
                        <a:t>Foot: byssal-collagen module vs Δ plaque area</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0.058</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45505E"/>
                          </a:solidFill>
                          <a:latin typeface="Calibri" pitchFamily="34" charset="0"/>
                          <a:ea typeface="Calibri" pitchFamily="34" charset="-122"/>
                          <a:cs typeface="Calibri" pitchFamily="34" charset="-120"/>
                        </a:rPr>
                        <a:t>Foot: best single gene, force / area / Δ adhesion</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0.61 / 0.73 / 0.29</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0.42 / 0.45 / 0.45</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45505E"/>
                          </a:solidFill>
                          <a:latin typeface="Calibri" pitchFamily="34" charset="0"/>
                          <a:ea typeface="Calibri" pitchFamily="34" charset="-122"/>
                          <a:cs typeface="Calibri" pitchFamily="34" charset="-120"/>
                        </a:rPr>
                        <a:t>Gill: best candidate on any metric</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0.25</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r" indent="0" marL="0">
                        <a:buNone/>
                      </a:pPr>
                      <a:r>
                        <a:rPr lang="en-US" sz="1200" dirty="0">
                          <a:solidFill>
                            <a:srgbClr val="45505E"/>
                          </a:solidFill>
                          <a:latin typeface="Calibri" pitchFamily="34" charset="0"/>
                          <a:ea typeface="Calibri" pitchFamily="34" charset="-122"/>
                          <a:cs typeface="Calibri" pitchFamily="34" charset="-120"/>
                        </a:rPr>
                        <a:t>0.21 to 0.88</a:t>
                      </a:r>
                      <a:endParaRPr lang="en-US" sz="1200" dirty="0">
                        <a:latin typeface="Calibri" charset="0"/>
                        <a:ea typeface="Calibri" charset="0"/>
                        <a:cs typeface="Calibri" charset="0"/>
                      </a:endParaRPr>
                    </a:p>
                  </a:txBody>
                  <a:tcPr marL="76200" marR="762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212080" y="4663440"/>
            <a:ext cx="6430975" cy="822960"/>
          </a:xfrm>
          <a:prstGeom prst="rect">
            <a:avLst/>
          </a:prstGeom>
          <a:noFill/>
          <a:ln/>
        </p:spPr>
        <p:txBody>
          <a:bodyPr wrap="square" lIns="0" tIns="0" rIns="0" bIns="0" rtlCol="0" anchor="t"/>
          <a:lstStyle/>
          <a:p>
            <a:pPr algn="l" indent="0" marL="0">
              <a:lnSpc>
                <a:spcPct val="120000"/>
              </a:lnSpc>
              <a:buNone/>
            </a:pPr>
            <a:r>
              <a:rPr lang="en-US" sz="1250" dirty="0">
                <a:solidFill>
                  <a:srgbClr val="45505E"/>
                </a:solidFill>
                <a:latin typeface="Calibri" pitchFamily="34" charset="0"/>
                <a:ea typeface="Calibri" pitchFamily="34" charset="-122"/>
                <a:cs typeface="Calibri" pitchFamily="34" charset="-120"/>
              </a:rPr>
              <a:t>With 44 animals a single arm-adjusted correlation needs |r| ≈ 0.4 for 80 % power; only a large per-animal effect could have been detected.</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Mechanical damage and transcriptional response rank the stressors differently</a:t>
            </a:r>
            <a:endParaRPr lang="en-US" sz="3000" dirty="0"/>
          </a:p>
        </p:txBody>
      </p:sp>
      <p:sp>
        <p:nvSpPr>
          <p:cNvPr id="3" name="Shape 1"/>
          <p:cNvSpPr/>
          <p:nvPr/>
        </p:nvSpPr>
        <p:spPr>
          <a:xfrm>
            <a:off x="548640" y="1371600"/>
            <a:ext cx="2636444" cy="2514600"/>
          </a:xfrm>
          <a:prstGeom prst="roundRect">
            <a:avLst>
              <a:gd name="adj" fmla="val 2909"/>
            </a:avLst>
          </a:prstGeom>
          <a:solidFill>
            <a:srgbClr val="EEF1F5"/>
          </a:solidFill>
          <a:ln w="12700">
            <a:solidFill>
              <a:srgbClr val="EEF1F5"/>
            </a:solidFill>
            <a:prstDash val="solid"/>
          </a:ln>
        </p:spPr>
      </p:sp>
      <p:sp>
        <p:nvSpPr>
          <p:cNvPr id="4" name="Text 2"/>
          <p:cNvSpPr txBox="1"/>
          <p:nvPr/>
        </p:nvSpPr>
        <p:spPr>
          <a:xfrm>
            <a:off x="731520" y="1508760"/>
            <a:ext cx="2270684" cy="502920"/>
          </a:xfrm>
          <a:prstGeom prst="rect">
            <a:avLst/>
          </a:prstGeom>
          <a:noFill/>
          <a:ln/>
        </p:spPr>
        <p:txBody>
          <a:bodyPr wrap="square" lIns="0" tIns="0" rIns="0" bIns="0" rtlCol="0" anchor="t"/>
          <a:lstStyle/>
          <a:p>
            <a:pPr algn="l" indent="0" marL="0">
              <a:lnSpc>
                <a:spcPct val="110000"/>
              </a:lnSpc>
              <a:buNone/>
            </a:pPr>
            <a:r>
              <a:rPr lang="en-US" sz="1400" b="1" dirty="0">
                <a:solidFill>
                  <a:srgbClr val="1B2430"/>
                </a:solidFill>
                <a:latin typeface="Cambria" pitchFamily="34" charset="0"/>
                <a:ea typeface="Cambria" pitchFamily="34" charset="-122"/>
                <a:cs typeface="Cambria" pitchFamily="34" charset="-120"/>
              </a:rPr>
              <a:t>Force lost, day 3 vs baseline</a:t>
            </a:r>
            <a:endParaRPr lang="en-US" sz="1400" dirty="0"/>
          </a:p>
        </p:txBody>
      </p:sp>
      <p:sp>
        <p:nvSpPr>
          <p:cNvPr id="5" name="Shape 3"/>
          <p:cNvSpPr/>
          <p:nvPr/>
        </p:nvSpPr>
        <p:spPr>
          <a:xfrm>
            <a:off x="749808" y="2212848"/>
            <a:ext cx="146304" cy="146304"/>
          </a:xfrm>
          <a:prstGeom prst="ellipse">
            <a:avLst/>
          </a:prstGeom>
          <a:solidFill>
            <a:srgbClr val="EB6834"/>
          </a:solidFill>
          <a:ln w="12700">
            <a:solidFill>
              <a:srgbClr val="EB6834"/>
            </a:solidFill>
            <a:prstDash val="solid"/>
          </a:ln>
        </p:spPr>
      </p:sp>
      <p:sp>
        <p:nvSpPr>
          <p:cNvPr id="6" name="Text 4"/>
          <p:cNvSpPr txBox="1"/>
          <p:nvPr/>
        </p:nvSpPr>
        <p:spPr>
          <a:xfrm>
            <a:off x="987552" y="2148840"/>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Warming</a:t>
            </a:r>
            <a:endParaRPr lang="en-US" sz="1300" dirty="0"/>
          </a:p>
        </p:txBody>
      </p:sp>
      <p:sp>
        <p:nvSpPr>
          <p:cNvPr id="7" name="Text 5"/>
          <p:cNvSpPr txBox="1"/>
          <p:nvPr/>
        </p:nvSpPr>
        <p:spPr>
          <a:xfrm>
            <a:off x="1996364" y="2148840"/>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−55 %</a:t>
            </a:r>
            <a:endParaRPr lang="en-US" sz="1300" dirty="0"/>
          </a:p>
        </p:txBody>
      </p:sp>
      <p:sp>
        <p:nvSpPr>
          <p:cNvPr id="8" name="Shape 6"/>
          <p:cNvSpPr/>
          <p:nvPr/>
        </p:nvSpPr>
        <p:spPr>
          <a:xfrm>
            <a:off x="749808" y="2615184"/>
            <a:ext cx="146304" cy="146304"/>
          </a:xfrm>
          <a:prstGeom prst="ellipse">
            <a:avLst/>
          </a:prstGeom>
          <a:solidFill>
            <a:srgbClr val="4A3AA7"/>
          </a:solidFill>
          <a:ln w="12700">
            <a:solidFill>
              <a:srgbClr val="4A3AA7"/>
            </a:solidFill>
            <a:prstDash val="solid"/>
          </a:ln>
        </p:spPr>
      </p:sp>
      <p:sp>
        <p:nvSpPr>
          <p:cNvPr id="9" name="Text 7"/>
          <p:cNvSpPr txBox="1"/>
          <p:nvPr/>
        </p:nvSpPr>
        <p:spPr>
          <a:xfrm>
            <a:off x="987552" y="2551176"/>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Hypoxia</a:t>
            </a:r>
            <a:endParaRPr lang="en-US" sz="1300" dirty="0"/>
          </a:p>
        </p:txBody>
      </p:sp>
      <p:sp>
        <p:nvSpPr>
          <p:cNvPr id="10" name="Text 8"/>
          <p:cNvSpPr txBox="1"/>
          <p:nvPr/>
        </p:nvSpPr>
        <p:spPr>
          <a:xfrm>
            <a:off x="1996364" y="2551176"/>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−46 %</a:t>
            </a:r>
            <a:endParaRPr lang="en-US" sz="1300" dirty="0"/>
          </a:p>
        </p:txBody>
      </p:sp>
      <p:sp>
        <p:nvSpPr>
          <p:cNvPr id="11" name="Shape 9"/>
          <p:cNvSpPr/>
          <p:nvPr/>
        </p:nvSpPr>
        <p:spPr>
          <a:xfrm>
            <a:off x="749808" y="3017520"/>
            <a:ext cx="146304" cy="146304"/>
          </a:xfrm>
          <a:prstGeom prst="ellipse">
            <a:avLst/>
          </a:prstGeom>
          <a:solidFill>
            <a:srgbClr val="1BAF7A"/>
          </a:solidFill>
          <a:ln w="12700">
            <a:solidFill>
              <a:srgbClr val="1BAF7A"/>
            </a:solidFill>
            <a:prstDash val="solid"/>
          </a:ln>
        </p:spPr>
      </p:sp>
      <p:sp>
        <p:nvSpPr>
          <p:cNvPr id="12" name="Text 10"/>
          <p:cNvSpPr txBox="1"/>
          <p:nvPr/>
        </p:nvSpPr>
        <p:spPr>
          <a:xfrm>
            <a:off x="987552" y="2953512"/>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Acidification</a:t>
            </a:r>
            <a:endParaRPr lang="en-US" sz="1300" dirty="0"/>
          </a:p>
        </p:txBody>
      </p:sp>
      <p:sp>
        <p:nvSpPr>
          <p:cNvPr id="13" name="Text 11"/>
          <p:cNvSpPr txBox="1"/>
          <p:nvPr/>
        </p:nvSpPr>
        <p:spPr>
          <a:xfrm>
            <a:off x="1996364" y="2953512"/>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−33 %</a:t>
            </a:r>
            <a:endParaRPr lang="en-US" sz="1300" dirty="0"/>
          </a:p>
        </p:txBody>
      </p:sp>
      <p:sp>
        <p:nvSpPr>
          <p:cNvPr id="14" name="Shape 12"/>
          <p:cNvSpPr/>
          <p:nvPr/>
        </p:nvSpPr>
        <p:spPr>
          <a:xfrm>
            <a:off x="749808" y="3419856"/>
            <a:ext cx="146304" cy="146304"/>
          </a:xfrm>
          <a:prstGeom prst="ellipse">
            <a:avLst/>
          </a:prstGeom>
          <a:solidFill>
            <a:srgbClr val="2A78D6"/>
          </a:solidFill>
          <a:ln w="12700">
            <a:solidFill>
              <a:srgbClr val="2A78D6"/>
            </a:solidFill>
            <a:prstDash val="solid"/>
          </a:ln>
        </p:spPr>
      </p:sp>
      <p:sp>
        <p:nvSpPr>
          <p:cNvPr id="15" name="Text 13"/>
          <p:cNvSpPr txBox="1"/>
          <p:nvPr/>
        </p:nvSpPr>
        <p:spPr>
          <a:xfrm>
            <a:off x="987552" y="3355848"/>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Control</a:t>
            </a:r>
            <a:endParaRPr lang="en-US" sz="1300" dirty="0"/>
          </a:p>
        </p:txBody>
      </p:sp>
      <p:sp>
        <p:nvSpPr>
          <p:cNvPr id="16" name="Text 14"/>
          <p:cNvSpPr txBox="1"/>
          <p:nvPr/>
        </p:nvSpPr>
        <p:spPr>
          <a:xfrm>
            <a:off x="1996364" y="3355848"/>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0 %</a:t>
            </a:r>
            <a:endParaRPr lang="en-US" sz="1300" dirty="0"/>
          </a:p>
        </p:txBody>
      </p:sp>
      <p:sp>
        <p:nvSpPr>
          <p:cNvPr id="17" name="Shape 15"/>
          <p:cNvSpPr/>
          <p:nvPr/>
        </p:nvSpPr>
        <p:spPr>
          <a:xfrm>
            <a:off x="3367964" y="1371600"/>
            <a:ext cx="2636444" cy="2514600"/>
          </a:xfrm>
          <a:prstGeom prst="roundRect">
            <a:avLst>
              <a:gd name="adj" fmla="val 2909"/>
            </a:avLst>
          </a:prstGeom>
          <a:solidFill>
            <a:srgbClr val="EEF1F5"/>
          </a:solidFill>
          <a:ln w="12700">
            <a:solidFill>
              <a:srgbClr val="EEF1F5"/>
            </a:solidFill>
            <a:prstDash val="solid"/>
          </a:ln>
        </p:spPr>
      </p:sp>
      <p:sp>
        <p:nvSpPr>
          <p:cNvPr id="18" name="Text 16"/>
          <p:cNvSpPr txBox="1"/>
          <p:nvPr/>
        </p:nvSpPr>
        <p:spPr>
          <a:xfrm>
            <a:off x="3550844" y="1508760"/>
            <a:ext cx="2270684" cy="502920"/>
          </a:xfrm>
          <a:prstGeom prst="rect">
            <a:avLst/>
          </a:prstGeom>
          <a:noFill/>
          <a:ln/>
        </p:spPr>
        <p:txBody>
          <a:bodyPr wrap="square" lIns="0" tIns="0" rIns="0" bIns="0" rtlCol="0" anchor="t"/>
          <a:lstStyle/>
          <a:p>
            <a:pPr algn="l" indent="0" marL="0">
              <a:lnSpc>
                <a:spcPct val="110000"/>
              </a:lnSpc>
              <a:buNone/>
            </a:pPr>
            <a:r>
              <a:rPr lang="en-US" sz="1400" b="1" dirty="0">
                <a:solidFill>
                  <a:srgbClr val="1B2430"/>
                </a:solidFill>
                <a:latin typeface="Cambria" pitchFamily="34" charset="0"/>
                <a:ea typeface="Cambria" pitchFamily="34" charset="-122"/>
                <a:cs typeface="Cambria" pitchFamily="34" charset="-120"/>
              </a:rPr>
              <a:t>Plaque area change</a:t>
            </a:r>
            <a:endParaRPr lang="en-US" sz="1400" dirty="0"/>
          </a:p>
        </p:txBody>
      </p:sp>
      <p:sp>
        <p:nvSpPr>
          <p:cNvPr id="19" name="Shape 17"/>
          <p:cNvSpPr/>
          <p:nvPr/>
        </p:nvSpPr>
        <p:spPr>
          <a:xfrm>
            <a:off x="3569132" y="2212848"/>
            <a:ext cx="146304" cy="146304"/>
          </a:xfrm>
          <a:prstGeom prst="ellipse">
            <a:avLst/>
          </a:prstGeom>
          <a:solidFill>
            <a:srgbClr val="4A3AA7"/>
          </a:solidFill>
          <a:ln w="12700">
            <a:solidFill>
              <a:srgbClr val="4A3AA7"/>
            </a:solidFill>
            <a:prstDash val="solid"/>
          </a:ln>
        </p:spPr>
      </p:sp>
      <p:sp>
        <p:nvSpPr>
          <p:cNvPr id="20" name="Text 18"/>
          <p:cNvSpPr txBox="1"/>
          <p:nvPr/>
        </p:nvSpPr>
        <p:spPr>
          <a:xfrm>
            <a:off x="3806876" y="2148840"/>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Hypoxia</a:t>
            </a:r>
            <a:endParaRPr lang="en-US" sz="1300" dirty="0"/>
          </a:p>
        </p:txBody>
      </p:sp>
      <p:sp>
        <p:nvSpPr>
          <p:cNvPr id="21" name="Text 19"/>
          <p:cNvSpPr txBox="1"/>
          <p:nvPr/>
        </p:nvSpPr>
        <p:spPr>
          <a:xfrm>
            <a:off x="4815688" y="2148840"/>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−37 %</a:t>
            </a:r>
            <a:endParaRPr lang="en-US" sz="1300" dirty="0"/>
          </a:p>
        </p:txBody>
      </p:sp>
      <p:sp>
        <p:nvSpPr>
          <p:cNvPr id="22" name="Shape 20"/>
          <p:cNvSpPr/>
          <p:nvPr/>
        </p:nvSpPr>
        <p:spPr>
          <a:xfrm>
            <a:off x="3569132" y="2615184"/>
            <a:ext cx="146304" cy="146304"/>
          </a:xfrm>
          <a:prstGeom prst="ellipse">
            <a:avLst/>
          </a:prstGeom>
          <a:solidFill>
            <a:srgbClr val="EB6834"/>
          </a:solidFill>
          <a:ln w="12700">
            <a:solidFill>
              <a:srgbClr val="EB6834"/>
            </a:solidFill>
            <a:prstDash val="solid"/>
          </a:ln>
        </p:spPr>
      </p:sp>
      <p:sp>
        <p:nvSpPr>
          <p:cNvPr id="23" name="Text 21"/>
          <p:cNvSpPr txBox="1"/>
          <p:nvPr/>
        </p:nvSpPr>
        <p:spPr>
          <a:xfrm>
            <a:off x="3806876" y="2551176"/>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Warming</a:t>
            </a:r>
            <a:endParaRPr lang="en-US" sz="1300" dirty="0"/>
          </a:p>
        </p:txBody>
      </p:sp>
      <p:sp>
        <p:nvSpPr>
          <p:cNvPr id="24" name="Text 22"/>
          <p:cNvSpPr txBox="1"/>
          <p:nvPr/>
        </p:nvSpPr>
        <p:spPr>
          <a:xfrm>
            <a:off x="4815688" y="2551176"/>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−18 %</a:t>
            </a:r>
            <a:endParaRPr lang="en-US" sz="1300" dirty="0"/>
          </a:p>
        </p:txBody>
      </p:sp>
      <p:sp>
        <p:nvSpPr>
          <p:cNvPr id="25" name="Shape 23"/>
          <p:cNvSpPr/>
          <p:nvPr/>
        </p:nvSpPr>
        <p:spPr>
          <a:xfrm>
            <a:off x="3569132" y="3017520"/>
            <a:ext cx="146304" cy="146304"/>
          </a:xfrm>
          <a:prstGeom prst="ellipse">
            <a:avLst/>
          </a:prstGeom>
          <a:solidFill>
            <a:srgbClr val="1BAF7A"/>
          </a:solidFill>
          <a:ln w="12700">
            <a:solidFill>
              <a:srgbClr val="1BAF7A"/>
            </a:solidFill>
            <a:prstDash val="solid"/>
          </a:ln>
        </p:spPr>
      </p:sp>
      <p:sp>
        <p:nvSpPr>
          <p:cNvPr id="26" name="Text 24"/>
          <p:cNvSpPr txBox="1"/>
          <p:nvPr/>
        </p:nvSpPr>
        <p:spPr>
          <a:xfrm>
            <a:off x="3806876" y="2953512"/>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Acidification</a:t>
            </a:r>
            <a:endParaRPr lang="en-US" sz="1300" dirty="0"/>
          </a:p>
        </p:txBody>
      </p:sp>
      <p:sp>
        <p:nvSpPr>
          <p:cNvPr id="27" name="Text 25"/>
          <p:cNvSpPr txBox="1"/>
          <p:nvPr/>
        </p:nvSpPr>
        <p:spPr>
          <a:xfrm>
            <a:off x="4815688" y="2953512"/>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+7 %</a:t>
            </a:r>
            <a:endParaRPr lang="en-US" sz="1300" dirty="0"/>
          </a:p>
        </p:txBody>
      </p:sp>
      <p:sp>
        <p:nvSpPr>
          <p:cNvPr id="28" name="Shape 26"/>
          <p:cNvSpPr/>
          <p:nvPr/>
        </p:nvSpPr>
        <p:spPr>
          <a:xfrm>
            <a:off x="3569132" y="3419856"/>
            <a:ext cx="146304" cy="146304"/>
          </a:xfrm>
          <a:prstGeom prst="ellipse">
            <a:avLst/>
          </a:prstGeom>
          <a:solidFill>
            <a:srgbClr val="2A78D6"/>
          </a:solidFill>
          <a:ln w="12700">
            <a:solidFill>
              <a:srgbClr val="2A78D6"/>
            </a:solidFill>
            <a:prstDash val="solid"/>
          </a:ln>
        </p:spPr>
      </p:sp>
      <p:sp>
        <p:nvSpPr>
          <p:cNvPr id="29" name="Text 27"/>
          <p:cNvSpPr txBox="1"/>
          <p:nvPr/>
        </p:nvSpPr>
        <p:spPr>
          <a:xfrm>
            <a:off x="3806876" y="3355848"/>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Control</a:t>
            </a:r>
            <a:endParaRPr lang="en-US" sz="1300" dirty="0"/>
          </a:p>
        </p:txBody>
      </p:sp>
      <p:sp>
        <p:nvSpPr>
          <p:cNvPr id="30" name="Text 28"/>
          <p:cNvSpPr txBox="1"/>
          <p:nvPr/>
        </p:nvSpPr>
        <p:spPr>
          <a:xfrm>
            <a:off x="4815688" y="3355848"/>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+10 %</a:t>
            </a:r>
            <a:endParaRPr lang="en-US" sz="1300" dirty="0"/>
          </a:p>
        </p:txBody>
      </p:sp>
      <p:sp>
        <p:nvSpPr>
          <p:cNvPr id="31" name="Shape 29"/>
          <p:cNvSpPr/>
          <p:nvPr/>
        </p:nvSpPr>
        <p:spPr>
          <a:xfrm>
            <a:off x="6187288" y="1371600"/>
            <a:ext cx="2636444" cy="2514600"/>
          </a:xfrm>
          <a:prstGeom prst="roundRect">
            <a:avLst>
              <a:gd name="adj" fmla="val 2909"/>
            </a:avLst>
          </a:prstGeom>
          <a:solidFill>
            <a:srgbClr val="EEF1F5"/>
          </a:solidFill>
          <a:ln w="12700">
            <a:solidFill>
              <a:srgbClr val="EEF1F5"/>
            </a:solidFill>
            <a:prstDash val="solid"/>
          </a:ln>
        </p:spPr>
      </p:sp>
      <p:sp>
        <p:nvSpPr>
          <p:cNvPr id="32" name="Text 30"/>
          <p:cNvSpPr txBox="1"/>
          <p:nvPr/>
        </p:nvSpPr>
        <p:spPr>
          <a:xfrm>
            <a:off x="6370168" y="1508760"/>
            <a:ext cx="2270684" cy="502920"/>
          </a:xfrm>
          <a:prstGeom prst="rect">
            <a:avLst/>
          </a:prstGeom>
          <a:noFill/>
          <a:ln/>
        </p:spPr>
        <p:txBody>
          <a:bodyPr wrap="square" lIns="0" tIns="0" rIns="0" bIns="0" rtlCol="0" anchor="t"/>
          <a:lstStyle/>
          <a:p>
            <a:pPr algn="l" indent="0" marL="0">
              <a:lnSpc>
                <a:spcPct val="110000"/>
              </a:lnSpc>
              <a:buNone/>
            </a:pPr>
            <a:r>
              <a:rPr lang="en-US" sz="1400" b="1" dirty="0">
                <a:solidFill>
                  <a:srgbClr val="1B2430"/>
                </a:solidFill>
                <a:latin typeface="Cambria" pitchFamily="34" charset="0"/>
                <a:ea typeface="Cambria" pitchFamily="34" charset="-122"/>
                <a:cs typeface="Cambria" pitchFamily="34" charset="-120"/>
              </a:rPr>
              <a:t>Foot DEGs</a:t>
            </a:r>
            <a:endParaRPr lang="en-US" sz="1400" dirty="0"/>
          </a:p>
        </p:txBody>
      </p:sp>
      <p:sp>
        <p:nvSpPr>
          <p:cNvPr id="33" name="Shape 31"/>
          <p:cNvSpPr/>
          <p:nvPr/>
        </p:nvSpPr>
        <p:spPr>
          <a:xfrm>
            <a:off x="6388456" y="2212848"/>
            <a:ext cx="146304" cy="146304"/>
          </a:xfrm>
          <a:prstGeom prst="ellipse">
            <a:avLst/>
          </a:prstGeom>
          <a:solidFill>
            <a:srgbClr val="4A3AA7"/>
          </a:solidFill>
          <a:ln w="12700">
            <a:solidFill>
              <a:srgbClr val="4A3AA7"/>
            </a:solidFill>
            <a:prstDash val="solid"/>
          </a:ln>
        </p:spPr>
      </p:sp>
      <p:sp>
        <p:nvSpPr>
          <p:cNvPr id="34" name="Text 32"/>
          <p:cNvSpPr txBox="1"/>
          <p:nvPr/>
        </p:nvSpPr>
        <p:spPr>
          <a:xfrm>
            <a:off x="6626200" y="2148840"/>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Hypoxia</a:t>
            </a:r>
            <a:endParaRPr lang="en-US" sz="1300" dirty="0"/>
          </a:p>
        </p:txBody>
      </p:sp>
      <p:sp>
        <p:nvSpPr>
          <p:cNvPr id="35" name="Text 33"/>
          <p:cNvSpPr txBox="1"/>
          <p:nvPr/>
        </p:nvSpPr>
        <p:spPr>
          <a:xfrm>
            <a:off x="7635011" y="2148840"/>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351</a:t>
            </a:r>
            <a:endParaRPr lang="en-US" sz="1300" dirty="0"/>
          </a:p>
        </p:txBody>
      </p:sp>
      <p:sp>
        <p:nvSpPr>
          <p:cNvPr id="36" name="Shape 34"/>
          <p:cNvSpPr/>
          <p:nvPr/>
        </p:nvSpPr>
        <p:spPr>
          <a:xfrm>
            <a:off x="6388456" y="2615184"/>
            <a:ext cx="146304" cy="146304"/>
          </a:xfrm>
          <a:prstGeom prst="ellipse">
            <a:avLst/>
          </a:prstGeom>
          <a:solidFill>
            <a:srgbClr val="EB6834"/>
          </a:solidFill>
          <a:ln w="12700">
            <a:solidFill>
              <a:srgbClr val="EB6834"/>
            </a:solidFill>
            <a:prstDash val="solid"/>
          </a:ln>
        </p:spPr>
      </p:sp>
      <p:sp>
        <p:nvSpPr>
          <p:cNvPr id="37" name="Text 35"/>
          <p:cNvSpPr txBox="1"/>
          <p:nvPr/>
        </p:nvSpPr>
        <p:spPr>
          <a:xfrm>
            <a:off x="6626200" y="2551176"/>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Warming</a:t>
            </a:r>
            <a:endParaRPr lang="en-US" sz="1300" dirty="0"/>
          </a:p>
        </p:txBody>
      </p:sp>
      <p:sp>
        <p:nvSpPr>
          <p:cNvPr id="38" name="Text 36"/>
          <p:cNvSpPr txBox="1"/>
          <p:nvPr/>
        </p:nvSpPr>
        <p:spPr>
          <a:xfrm>
            <a:off x="7635011" y="2551176"/>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153</a:t>
            </a:r>
            <a:endParaRPr lang="en-US" sz="1300" dirty="0"/>
          </a:p>
        </p:txBody>
      </p:sp>
      <p:sp>
        <p:nvSpPr>
          <p:cNvPr id="39" name="Shape 37"/>
          <p:cNvSpPr/>
          <p:nvPr/>
        </p:nvSpPr>
        <p:spPr>
          <a:xfrm>
            <a:off x="6388456" y="3017520"/>
            <a:ext cx="146304" cy="146304"/>
          </a:xfrm>
          <a:prstGeom prst="ellipse">
            <a:avLst/>
          </a:prstGeom>
          <a:solidFill>
            <a:srgbClr val="1BAF7A"/>
          </a:solidFill>
          <a:ln w="12700">
            <a:solidFill>
              <a:srgbClr val="1BAF7A"/>
            </a:solidFill>
            <a:prstDash val="solid"/>
          </a:ln>
        </p:spPr>
      </p:sp>
      <p:sp>
        <p:nvSpPr>
          <p:cNvPr id="40" name="Text 38"/>
          <p:cNvSpPr txBox="1"/>
          <p:nvPr/>
        </p:nvSpPr>
        <p:spPr>
          <a:xfrm>
            <a:off x="6626200" y="2953512"/>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Acidification</a:t>
            </a:r>
            <a:endParaRPr lang="en-US" sz="1300" dirty="0"/>
          </a:p>
        </p:txBody>
      </p:sp>
      <p:sp>
        <p:nvSpPr>
          <p:cNvPr id="41" name="Text 39"/>
          <p:cNvSpPr txBox="1"/>
          <p:nvPr/>
        </p:nvSpPr>
        <p:spPr>
          <a:xfrm>
            <a:off x="7635011" y="2953512"/>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80</a:t>
            </a:r>
            <a:endParaRPr lang="en-US" sz="1300" dirty="0"/>
          </a:p>
        </p:txBody>
      </p:sp>
      <p:sp>
        <p:nvSpPr>
          <p:cNvPr id="42" name="Shape 40"/>
          <p:cNvSpPr/>
          <p:nvPr/>
        </p:nvSpPr>
        <p:spPr>
          <a:xfrm>
            <a:off x="9006611" y="1371600"/>
            <a:ext cx="2636444" cy="2514600"/>
          </a:xfrm>
          <a:prstGeom prst="roundRect">
            <a:avLst>
              <a:gd name="adj" fmla="val 2909"/>
            </a:avLst>
          </a:prstGeom>
          <a:solidFill>
            <a:srgbClr val="EEF1F5"/>
          </a:solidFill>
          <a:ln w="12700">
            <a:solidFill>
              <a:srgbClr val="EEF1F5"/>
            </a:solidFill>
            <a:prstDash val="solid"/>
          </a:ln>
        </p:spPr>
      </p:sp>
      <p:sp>
        <p:nvSpPr>
          <p:cNvPr id="43" name="Text 41"/>
          <p:cNvSpPr txBox="1"/>
          <p:nvPr/>
        </p:nvSpPr>
        <p:spPr>
          <a:xfrm>
            <a:off x="9189491" y="1508760"/>
            <a:ext cx="2270684" cy="502920"/>
          </a:xfrm>
          <a:prstGeom prst="rect">
            <a:avLst/>
          </a:prstGeom>
          <a:noFill/>
          <a:ln/>
        </p:spPr>
        <p:txBody>
          <a:bodyPr wrap="square" lIns="0" tIns="0" rIns="0" bIns="0" rtlCol="0" anchor="t"/>
          <a:lstStyle/>
          <a:p>
            <a:pPr algn="l" indent="0" marL="0">
              <a:lnSpc>
                <a:spcPct val="110000"/>
              </a:lnSpc>
              <a:buNone/>
            </a:pPr>
            <a:r>
              <a:rPr lang="en-US" sz="1400" b="1" dirty="0">
                <a:solidFill>
                  <a:srgbClr val="1B2430"/>
                </a:solidFill>
                <a:latin typeface="Cambria" pitchFamily="34" charset="0"/>
                <a:ea typeface="Cambria" pitchFamily="34" charset="-122"/>
                <a:cs typeface="Cambria" pitchFamily="34" charset="-120"/>
              </a:rPr>
              <a:t>Gill DEGs</a:t>
            </a:r>
            <a:endParaRPr lang="en-US" sz="1400" dirty="0"/>
          </a:p>
        </p:txBody>
      </p:sp>
      <p:sp>
        <p:nvSpPr>
          <p:cNvPr id="44" name="Shape 42"/>
          <p:cNvSpPr/>
          <p:nvPr/>
        </p:nvSpPr>
        <p:spPr>
          <a:xfrm>
            <a:off x="9207779" y="2212848"/>
            <a:ext cx="146304" cy="146304"/>
          </a:xfrm>
          <a:prstGeom prst="ellipse">
            <a:avLst/>
          </a:prstGeom>
          <a:solidFill>
            <a:srgbClr val="1BAF7A"/>
          </a:solidFill>
          <a:ln w="12700">
            <a:solidFill>
              <a:srgbClr val="1BAF7A"/>
            </a:solidFill>
            <a:prstDash val="solid"/>
          </a:ln>
        </p:spPr>
      </p:sp>
      <p:sp>
        <p:nvSpPr>
          <p:cNvPr id="45" name="Text 43"/>
          <p:cNvSpPr txBox="1"/>
          <p:nvPr/>
        </p:nvSpPr>
        <p:spPr>
          <a:xfrm>
            <a:off x="9445523" y="2148840"/>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Acidification</a:t>
            </a:r>
            <a:endParaRPr lang="en-US" sz="1300" dirty="0"/>
          </a:p>
        </p:txBody>
      </p:sp>
      <p:sp>
        <p:nvSpPr>
          <p:cNvPr id="46" name="Text 44"/>
          <p:cNvSpPr txBox="1"/>
          <p:nvPr/>
        </p:nvSpPr>
        <p:spPr>
          <a:xfrm>
            <a:off x="10454335" y="2148840"/>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711</a:t>
            </a:r>
            <a:endParaRPr lang="en-US" sz="1300" dirty="0"/>
          </a:p>
        </p:txBody>
      </p:sp>
      <p:sp>
        <p:nvSpPr>
          <p:cNvPr id="47" name="Shape 45"/>
          <p:cNvSpPr/>
          <p:nvPr/>
        </p:nvSpPr>
        <p:spPr>
          <a:xfrm>
            <a:off x="9207779" y="2615184"/>
            <a:ext cx="146304" cy="146304"/>
          </a:xfrm>
          <a:prstGeom prst="ellipse">
            <a:avLst/>
          </a:prstGeom>
          <a:solidFill>
            <a:srgbClr val="4A3AA7"/>
          </a:solidFill>
          <a:ln w="12700">
            <a:solidFill>
              <a:srgbClr val="4A3AA7"/>
            </a:solidFill>
            <a:prstDash val="solid"/>
          </a:ln>
        </p:spPr>
      </p:sp>
      <p:sp>
        <p:nvSpPr>
          <p:cNvPr id="48" name="Text 46"/>
          <p:cNvSpPr txBox="1"/>
          <p:nvPr/>
        </p:nvSpPr>
        <p:spPr>
          <a:xfrm>
            <a:off x="9445523" y="2551176"/>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Hypoxia</a:t>
            </a:r>
            <a:endParaRPr lang="en-US" sz="1300" dirty="0"/>
          </a:p>
        </p:txBody>
      </p:sp>
      <p:sp>
        <p:nvSpPr>
          <p:cNvPr id="49" name="Text 47"/>
          <p:cNvSpPr txBox="1"/>
          <p:nvPr/>
        </p:nvSpPr>
        <p:spPr>
          <a:xfrm>
            <a:off x="10454335" y="2551176"/>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307</a:t>
            </a:r>
            <a:endParaRPr lang="en-US" sz="1300" dirty="0"/>
          </a:p>
        </p:txBody>
      </p:sp>
      <p:sp>
        <p:nvSpPr>
          <p:cNvPr id="50" name="Shape 48"/>
          <p:cNvSpPr/>
          <p:nvPr/>
        </p:nvSpPr>
        <p:spPr>
          <a:xfrm>
            <a:off x="9207779" y="3017520"/>
            <a:ext cx="146304" cy="146304"/>
          </a:xfrm>
          <a:prstGeom prst="ellipse">
            <a:avLst/>
          </a:prstGeom>
          <a:solidFill>
            <a:srgbClr val="EB6834"/>
          </a:solidFill>
          <a:ln w="12700">
            <a:solidFill>
              <a:srgbClr val="EB6834"/>
            </a:solidFill>
            <a:prstDash val="solid"/>
          </a:ln>
        </p:spPr>
      </p:sp>
      <p:sp>
        <p:nvSpPr>
          <p:cNvPr id="51" name="Text 49"/>
          <p:cNvSpPr txBox="1"/>
          <p:nvPr/>
        </p:nvSpPr>
        <p:spPr>
          <a:xfrm>
            <a:off x="9445523" y="2953512"/>
            <a:ext cx="1173404" cy="274320"/>
          </a:xfrm>
          <a:prstGeom prst="rect">
            <a:avLst/>
          </a:prstGeom>
          <a:noFill/>
          <a:ln/>
        </p:spPr>
        <p:txBody>
          <a:bodyPr wrap="square" lIns="0" tIns="0" rIns="0" bIns="0" rtlCol="0" anchor="t"/>
          <a:lstStyle/>
          <a:p>
            <a:pPr algn="l" indent="0" marL="0">
              <a:lnSpc>
                <a:spcPct val="115000"/>
              </a:lnSpc>
              <a:buNone/>
            </a:pPr>
            <a:r>
              <a:rPr lang="en-US" sz="1300" dirty="0">
                <a:solidFill>
                  <a:srgbClr val="1B2430"/>
                </a:solidFill>
                <a:latin typeface="Calibri" pitchFamily="34" charset="0"/>
                <a:ea typeface="Calibri" pitchFamily="34" charset="-122"/>
                <a:cs typeface="Calibri" pitchFamily="34" charset="-120"/>
              </a:rPr>
              <a:t>Warming</a:t>
            </a:r>
            <a:endParaRPr lang="en-US" sz="1300" dirty="0"/>
          </a:p>
        </p:txBody>
      </p:sp>
      <p:sp>
        <p:nvSpPr>
          <p:cNvPr id="52" name="Text 50"/>
          <p:cNvSpPr txBox="1"/>
          <p:nvPr/>
        </p:nvSpPr>
        <p:spPr>
          <a:xfrm>
            <a:off x="10454335" y="2953512"/>
            <a:ext cx="1005840" cy="274320"/>
          </a:xfrm>
          <a:prstGeom prst="rect">
            <a:avLst/>
          </a:prstGeom>
          <a:noFill/>
          <a:ln/>
        </p:spPr>
        <p:txBody>
          <a:bodyPr wrap="square" lIns="0" tIns="0" rIns="0" bIns="0" rtlCol="0" anchor="t"/>
          <a:lstStyle/>
          <a:p>
            <a:pPr algn="r" indent="0" marL="0">
              <a:lnSpc>
                <a:spcPct val="115000"/>
              </a:lnSpc>
              <a:buNone/>
            </a:pPr>
            <a:r>
              <a:rPr lang="en-US" sz="1300" b="1" dirty="0">
                <a:solidFill>
                  <a:srgbClr val="1B2430"/>
                </a:solidFill>
                <a:latin typeface="Calibri" pitchFamily="34" charset="0"/>
                <a:ea typeface="Calibri" pitchFamily="34" charset="-122"/>
                <a:cs typeface="Calibri" pitchFamily="34" charset="-120"/>
              </a:rPr>
              <a:t>175</a:t>
            </a:r>
            <a:endParaRPr lang="en-US" sz="1300" dirty="0"/>
          </a:p>
        </p:txBody>
      </p:sp>
      <p:sp>
        <p:nvSpPr>
          <p:cNvPr id="53" name="Text 51"/>
          <p:cNvSpPr txBox="1"/>
          <p:nvPr/>
        </p:nvSpPr>
        <p:spPr>
          <a:xfrm>
            <a:off x="548640" y="4114800"/>
            <a:ext cx="11094415" cy="822960"/>
          </a:xfrm>
          <a:prstGeom prst="rect">
            <a:avLst/>
          </a:prstGeom>
          <a:noFill/>
          <a:ln/>
        </p:spPr>
        <p:txBody>
          <a:bodyPr wrap="square" lIns="0" tIns="0" rIns="0" bIns="0" rtlCol="0" anchor="t"/>
          <a:lstStyle/>
          <a:p>
            <a:pPr algn="l" indent="0" marL="0">
              <a:lnSpc>
                <a:spcPct val="120000"/>
              </a:lnSpc>
              <a:buNone/>
            </a:pPr>
            <a:r>
              <a:rPr lang="en-US" sz="1800" dirty="0">
                <a:solidFill>
                  <a:srgbClr val="1B2430"/>
                </a:solidFill>
                <a:latin typeface="Cambria" pitchFamily="34" charset="0"/>
                <a:ea typeface="Cambria" pitchFamily="34" charset="-122"/>
                <a:cs typeface="Cambria" pitchFamily="34" charset="-120"/>
              </a:rPr>
              <a:t>The arms with the most similar gill transcriptomes, acidification and hypoxia, have the least similar plaques: one grew, the other shrank by a third.</a:t>
            </a:r>
            <a:endParaRPr lang="en-US" sz="1800" dirty="0"/>
          </a:p>
        </p:txBody>
      </p:sp>
      <p:sp>
        <p:nvSpPr>
          <p:cNvPr id="54" name="Text 52"/>
          <p:cNvSpPr txBox="1"/>
          <p:nvPr/>
        </p:nvSpPr>
        <p:spPr>
          <a:xfrm>
            <a:off x="548640" y="5029200"/>
            <a:ext cx="11094415" cy="1005840"/>
          </a:xfrm>
          <a:prstGeom prst="rect">
            <a:avLst/>
          </a:prstGeom>
          <a:noFill/>
          <a:ln/>
        </p:spPr>
        <p:txBody>
          <a:bodyPr wrap="square" lIns="0" tIns="0" rIns="0" bIns="0" rtlCol="0" anchor="t"/>
          <a:lstStyle/>
          <a:p>
            <a:pPr algn="l" indent="0" marL="0">
              <a:lnSpc>
                <a:spcPct val="120000"/>
              </a:lnSpc>
              <a:buNone/>
            </a:pPr>
            <a:r>
              <a:rPr lang="en-US" sz="1350" dirty="0">
                <a:solidFill>
                  <a:srgbClr val="45505E"/>
                </a:solidFill>
                <a:latin typeface="Calibri" pitchFamily="34" charset="0"/>
                <a:ea typeface="Calibri" pitchFamily="34" charset="-122"/>
                <a:cs typeface="Calibri" pitchFamily="34" charset="-120"/>
              </a:rPr>
              <a:t>Three readings fit: the damage is set by chemistry at the plaque rather than by foot transcription at 72 h; the relevant transcription happened earlier, while the day-3 threads were made; or the coupling is below the power of a 45-animal, four-arm design.</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868680"/>
          </a:xfrm>
          <a:prstGeom prst="rect">
            <a:avLst/>
          </a:prstGeom>
          <a:noFill/>
          <a:ln/>
        </p:spPr>
        <p:txBody>
          <a:bodyPr wrap="square" lIns="0" tIns="0" rIns="0" bIns="0" rtlCol="0" anchor="t"/>
          <a:lstStyle/>
          <a:p>
            <a:pPr indent="0" marL="0">
              <a:buNone/>
            </a:pPr>
            <a:r>
              <a:rPr lang="en-US" sz="3000" b="1" dirty="0">
                <a:solidFill>
                  <a:srgbClr val="1B2430"/>
                </a:solidFill>
                <a:latin typeface="Cambria" pitchFamily="34" charset="0"/>
                <a:ea typeface="Cambria" pitchFamily="34" charset="-122"/>
                <a:cs typeface="Cambria" pitchFamily="34" charset="-120"/>
              </a:rPr>
              <a:t>Functional protein classes by stressor and tissue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959352"/>
                <a:gridCol w="1188720"/>
                <a:gridCol w="1188720"/>
                <a:gridCol w="1188720"/>
                <a:gridCol w="1188720"/>
                <a:gridCol w="1188720"/>
                <a:gridCol w="1188720"/>
              </a:tblGrid>
              <a:tr h="301752">
                <a:tc>
                  <a:txBody>
                    <a:bodyPr/>
                    <a:lstStyle/>
                    <a:p>
                      <a:pPr algn="l" indent="0" marL="0">
                        <a:buNone/>
                      </a:pPr>
                      <a:r>
                        <a:rPr lang="en-US" sz="1050" b="1" dirty="0">
                          <a:solidFill>
                            <a:srgbClr val="F2F1EC"/>
                          </a:solidFill>
                          <a:latin typeface="Calibri" pitchFamily="34" charset="0"/>
                          <a:ea typeface="Calibri" pitchFamily="34" charset="-122"/>
                          <a:cs typeface="Calibri" pitchFamily="34" charset="-120"/>
                        </a:rPr>
                        <a:t>Protein class (genes tested, foot / gill)</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ctr" indent="0" marL="0">
                        <a:buNone/>
                      </a:pPr>
                      <a:r>
                        <a:rPr lang="en-US" sz="1050" b="1" dirty="0">
                          <a:solidFill>
                            <a:srgbClr val="F2F1EC"/>
                          </a:solidFill>
                          <a:latin typeface="Calibri" pitchFamily="34" charset="0"/>
                          <a:ea typeface="Calibri" pitchFamily="34" charset="-122"/>
                          <a:cs typeface="Calibri" pitchFamily="34" charset="-120"/>
                        </a:rPr>
                        <a:t>Foot acidification</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ctr" indent="0" marL="0">
                        <a:buNone/>
                      </a:pPr>
                      <a:r>
                        <a:rPr lang="en-US" sz="1050" b="1" dirty="0">
                          <a:solidFill>
                            <a:srgbClr val="F2F1EC"/>
                          </a:solidFill>
                          <a:latin typeface="Calibri" pitchFamily="34" charset="0"/>
                          <a:ea typeface="Calibri" pitchFamily="34" charset="-122"/>
                          <a:cs typeface="Calibri" pitchFamily="34" charset="-120"/>
                        </a:rPr>
                        <a:t>Foot warming</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ctr" indent="0" marL="0">
                        <a:buNone/>
                      </a:pPr>
                      <a:r>
                        <a:rPr lang="en-US" sz="1050" b="1" dirty="0">
                          <a:solidFill>
                            <a:srgbClr val="F2F1EC"/>
                          </a:solidFill>
                          <a:latin typeface="Calibri" pitchFamily="34" charset="0"/>
                          <a:ea typeface="Calibri" pitchFamily="34" charset="-122"/>
                          <a:cs typeface="Calibri" pitchFamily="34" charset="-120"/>
                        </a:rPr>
                        <a:t>Foot hypoxia</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ctr" indent="0" marL="0">
                        <a:buNone/>
                      </a:pPr>
                      <a:r>
                        <a:rPr lang="en-US" sz="1050" b="1" dirty="0">
                          <a:solidFill>
                            <a:srgbClr val="F2F1EC"/>
                          </a:solidFill>
                          <a:latin typeface="Calibri" pitchFamily="34" charset="0"/>
                          <a:ea typeface="Calibri" pitchFamily="34" charset="-122"/>
                          <a:cs typeface="Calibri" pitchFamily="34" charset="-120"/>
                        </a:rPr>
                        <a:t>Gill acidification</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ctr" indent="0" marL="0">
                        <a:buNone/>
                      </a:pPr>
                      <a:r>
                        <a:rPr lang="en-US" sz="1050" b="1" dirty="0">
                          <a:solidFill>
                            <a:srgbClr val="F2F1EC"/>
                          </a:solidFill>
                          <a:latin typeface="Calibri" pitchFamily="34" charset="0"/>
                          <a:ea typeface="Calibri" pitchFamily="34" charset="-122"/>
                          <a:cs typeface="Calibri" pitchFamily="34" charset="-120"/>
                        </a:rPr>
                        <a:t>Gill warming</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c>
                  <a:txBody>
                    <a:bodyPr/>
                    <a:lstStyle/>
                    <a:p>
                      <a:pPr algn="ctr" indent="0" marL="0">
                        <a:buNone/>
                      </a:pPr>
                      <a:r>
                        <a:rPr lang="en-US" sz="1050" b="1" dirty="0">
                          <a:solidFill>
                            <a:srgbClr val="F2F1EC"/>
                          </a:solidFill>
                          <a:latin typeface="Calibri" pitchFamily="34" charset="0"/>
                          <a:ea typeface="Calibri" pitchFamily="34" charset="-122"/>
                          <a:cs typeface="Calibri" pitchFamily="34" charset="-120"/>
                        </a:rPr>
                        <a:t>Gill hypoxia</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16233A"/>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HIF / hypoxia signalling (13 / 11)</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Heat-shock proteins / proteostasis (66 / 116)</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4↑  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6↑  6↓</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2↑  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4↑  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Oxidative stress / detox (GST, SOD, Prx, DUOX) (33 / 53)</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Byssal structural proteins (mfp, preCol, ACDC) (11 / 5)</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9E2D6"/>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9E2D6"/>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Byssal accessory (HSP-like, calumenin, inhibitors) (5 / 4)</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Cross-linking / curing (tyrosinase, LOX, TGM, byssal peroxidases) (15 / 17)</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2↑  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Collagens and collagen biosynthesis (38 / 42)</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3↑  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9E2D6"/>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2↑  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ECM / cell adhesion (laminin, fibronectin, vWF, cadherin) (58 / 97)</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4↑  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1↑  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tRNA ligases / translation (83 / 100)</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4↑  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9↑  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Amino-acid transporters (15 / 20)</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Mitochondrial OXPHOS (mt-encoded and mt-like loci) (134 / 134)</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116↑</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D4EAF2"/>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6B7480"/>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FFFFF"/>
                    </a:solidFill>
                  </a:tcPr>
                </a:tc>
              </a:tr>
              <a:tr h="301752">
                <a:tc>
                  <a:txBody>
                    <a:bodyPr/>
                    <a:lstStyle/>
                    <a:p>
                      <a:pPr indent="0" marL="0">
                        <a:buNone/>
                      </a:pPr>
                      <a:r>
                        <a:rPr lang="en-US" sz="1050" dirty="0">
                          <a:solidFill>
                            <a:srgbClr val="1B2430"/>
                          </a:solidFill>
                          <a:latin typeface="Calibri" pitchFamily="34" charset="0"/>
                          <a:ea typeface="Calibri" pitchFamily="34" charset="-122"/>
                          <a:cs typeface="Calibri" pitchFamily="34" charset="-120"/>
                        </a:rPr>
                        <a:t>Cytoskeleton (tubulin, actin, dynein, cilia) (282 / 340)</a:t>
                      </a:r>
                      <a:endParaRPr lang="en-US" sz="105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5↑  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b="1" dirty="0">
                          <a:solidFill>
                            <a:srgbClr val="1B2430"/>
                          </a:solidFill>
                          <a:latin typeface="Calibri" pitchFamily="34" charset="0"/>
                          <a:ea typeface="Calibri" pitchFamily="34" charset="-122"/>
                          <a:cs typeface="Calibri" pitchFamily="34" charset="-120"/>
                        </a:rPr>
                        <a:t>7↑  30↓</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F9E2D6"/>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5↑  14↓</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4↑  5↓</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c>
                  <a:txBody>
                    <a:bodyPr/>
                    <a:lstStyle/>
                    <a:p>
                      <a:pPr algn="ctr" indent="0" marL="0">
                        <a:buNone/>
                      </a:pPr>
                      <a:r>
                        <a:rPr lang="en-US" sz="1100" dirty="0">
                          <a:solidFill>
                            <a:srgbClr val="1B2430"/>
                          </a:solidFill>
                          <a:latin typeface="Calibri" pitchFamily="34" charset="0"/>
                          <a:ea typeface="Calibri" pitchFamily="34" charset="-122"/>
                          <a:cs typeface="Calibri" pitchFamily="34" charset="-120"/>
                        </a:rPr>
                        <a:t>6↑  3↓</a:t>
                      </a:r>
                      <a:endParaRPr lang="en-US" sz="1100" dirty="0">
                        <a:latin typeface="Calibri" charset="0"/>
                        <a:ea typeface="Calibri" charset="0"/>
                        <a:cs typeface="Calibri" charset="0"/>
                      </a:endParaRPr>
                    </a:p>
                  </a:txBody>
                  <a:tcPr marL="63500" marR="63500" marT="38100" marB="38100" anchor="ctr">
                    <a:lnL w="9525" cap="flat" cmpd="sng" algn="ctr">
                      <a:solidFill>
                        <a:srgbClr val="D3D8DF"/>
                      </a:solidFill>
                      <a:prstDash val="solid"/>
                      <a:round/>
                      <a:headEnd type="none" w="med" len="med"/>
                      <a:tailEnd type="none" w="med" len="med"/>
                    </a:lnL>
                    <a:lnR w="9525" cap="flat" cmpd="sng" algn="ctr">
                      <a:solidFill>
                        <a:srgbClr val="D3D8DF"/>
                      </a:solidFill>
                      <a:prstDash val="solid"/>
                      <a:round/>
                      <a:headEnd type="none" w="med" len="med"/>
                      <a:tailEnd type="none" w="med" len="med"/>
                    </a:lnR>
                    <a:lnT w="9525" cap="flat" cmpd="sng" algn="ctr">
                      <a:solidFill>
                        <a:srgbClr val="D3D8DF"/>
                      </a:solidFill>
                      <a:prstDash val="solid"/>
                      <a:round/>
                      <a:headEnd type="none" w="med" len="med"/>
                      <a:tailEnd type="none" w="med" len="med"/>
                    </a:lnT>
                    <a:lnB w="9525" cap="flat" cmpd="sng" algn="ctr">
                      <a:solidFill>
                        <a:srgbClr val="D3D8DF"/>
                      </a:solidFill>
                      <a:prstDash val="solid"/>
                      <a:round/>
                      <a:headEnd type="none" w="med" len="med"/>
                      <a:tailEnd type="none" w="med" len="med"/>
                    </a:lnB>
                    <a:solidFill>
                      <a:srgbClr val="EEF1F5"/>
                    </a:solidFill>
                  </a:tcPr>
                </a:tc>
              </a:tr>
            </a:tbl>
          </a:graphicData>
        </a:graphic>
      </p:graphicFrame>
      <p:sp>
        <p:nvSpPr>
          <p:cNvPr id="4" name="Text 1"/>
          <p:cNvSpPr txBox="1"/>
          <p:nvPr/>
        </p:nvSpPr>
        <p:spPr>
          <a:xfrm>
            <a:off x="548640" y="5532120"/>
            <a:ext cx="11094415" cy="502920"/>
          </a:xfrm>
          <a:prstGeom prst="rect">
            <a:avLst/>
          </a:prstGeom>
          <a:noFill/>
          <a:ln/>
        </p:spPr>
        <p:txBody>
          <a:bodyPr wrap="square" lIns="0" tIns="0" rIns="0" bIns="0" rtlCol="0" anchor="t"/>
          <a:lstStyle/>
          <a:p>
            <a:pPr algn="l" indent="0" marL="0">
              <a:lnSpc>
                <a:spcPct val="115000"/>
              </a:lnSpc>
              <a:buNone/>
            </a:pPr>
            <a:r>
              <a:rPr lang="en-US" sz="1050" dirty="0">
                <a:solidFill>
                  <a:srgbClr val="45505E"/>
                </a:solidFill>
                <a:latin typeface="Calibri" pitchFamily="34" charset="0"/>
                <a:ea typeface="Calibri" pitchFamily="34" charset="-122"/>
                <a:cs typeface="Calibri" pitchFamily="34" charset="-120"/>
              </a:rPr>
              <a:t>Cells: DEGs up↑ / down↓ within the class at padj &lt; 0.05. Shaded and bold = at least 3 DEGs and a DE rate at least twice the contrast’s genome-wide rate (blue: mostly up; orange: mostly down). Genome-wide DE rates: foot 1.0, 1.9, 4.5 %; gill 6.4, 1.6, 2.8 %.</a:t>
            </a:r>
            <a:endParaRPr lang="en-US" sz="1050" dirty="0"/>
          </a:p>
        </p:txBody>
      </p:sp>
      <p:sp>
        <p:nvSpPr>
          <p:cNvPr id="5" name="Text 2"/>
          <p:cNvSpPr txBox="1"/>
          <p:nvPr/>
        </p:nvSpPr>
        <p:spPr>
          <a:xfrm>
            <a:off x="548640" y="6355080"/>
            <a:ext cx="11094415" cy="320040"/>
          </a:xfrm>
          <a:prstGeom prst="rect">
            <a:avLst/>
          </a:prstGeom>
          <a:noFill/>
          <a:ln/>
        </p:spPr>
        <p:txBody>
          <a:bodyPr wrap="square" lIns="0" tIns="0" rIns="0" bIns="0" rtlCol="0" anchor="ctr"/>
          <a:lstStyle/>
          <a:p>
            <a:pPr indent="0" marL="0">
              <a:buNone/>
            </a:pPr>
            <a:r>
              <a:rPr lang="en-US" sz="1000" dirty="0">
                <a:solidFill>
                  <a:srgbClr val="6B7480"/>
                </a:solidFill>
                <a:latin typeface="Calibri" pitchFamily="34" charset="0"/>
                <a:ea typeface="Calibri" pitchFamily="34" charset="-122"/>
                <a:cs typeface="Calibri" pitchFamily="34" charset="-120"/>
              </a:rPr>
              <a:t>Classes defined by UniProt annotation of the genome (best BLAST hit per gene); counts from DE/03_analyses/DEG_lists/*_TC_apeglm.csv. The OXPHOS class is the 13 mt-encoded genes plus nuclear loci annotated as mt-protein copies, which capture the same transcripts.</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6F8B"/>
        </a:solidFill>
      </p:bgPr>
    </p:bg>
    <p:spTree>
      <p:nvGrpSpPr>
        <p:cNvPr id="1" name=""/>
        <p:cNvGrpSpPr/>
        <p:nvPr/>
      </p:nvGrpSpPr>
      <p:grpSpPr>
        <a:xfrm>
          <a:off x="0" y="0"/>
          <a:ext cx="0" cy="0"/>
          <a:chOff x="0" y="0"/>
          <a:chExt cx="0" cy="0"/>
        </a:xfrm>
      </p:grpSpPr>
      <p:sp>
        <p:nvSpPr>
          <p:cNvPr id="2" name="Text 0"/>
          <p:cNvSpPr txBox="1"/>
          <p:nvPr/>
        </p:nvSpPr>
        <p:spPr>
          <a:xfrm>
            <a:off x="548640" y="822960"/>
            <a:ext cx="5486400" cy="274320"/>
          </a:xfrm>
          <a:prstGeom prst="rect">
            <a:avLst/>
          </a:prstGeom>
          <a:noFill/>
          <a:ln/>
        </p:spPr>
        <p:txBody>
          <a:bodyPr wrap="square" lIns="0" tIns="0" rIns="0" bIns="0" rtlCol="0" anchor="t"/>
          <a:lstStyle/>
          <a:p>
            <a:pPr algn="l" indent="0" marL="0">
              <a:lnSpc>
                <a:spcPct val="115000"/>
              </a:lnSpc>
              <a:buNone/>
            </a:pPr>
            <a:r>
              <a:rPr lang="en-US" sz="1100" b="1" spc="200" kern="0" dirty="0">
                <a:solidFill>
                  <a:srgbClr val="C3CBD6"/>
                </a:solidFill>
                <a:latin typeface="Calibri" pitchFamily="34" charset="0"/>
                <a:ea typeface="Calibri" pitchFamily="34" charset="-122"/>
                <a:cs typeface="Calibri" pitchFamily="34" charset="-120"/>
              </a:rPr>
              <a:t>TAKE-HOME</a:t>
            </a:r>
            <a:endParaRPr lang="en-US" sz="1100" dirty="0"/>
          </a:p>
        </p:txBody>
      </p:sp>
      <p:sp>
        <p:nvSpPr>
          <p:cNvPr id="3" name="Text 1"/>
          <p:cNvSpPr txBox="1"/>
          <p:nvPr/>
        </p:nvSpPr>
        <p:spPr>
          <a:xfrm>
            <a:off x="548640" y="1371600"/>
            <a:ext cx="10180015" cy="1463040"/>
          </a:xfrm>
          <a:prstGeom prst="rect">
            <a:avLst/>
          </a:prstGeom>
          <a:noFill/>
          <a:ln/>
        </p:spPr>
        <p:txBody>
          <a:bodyPr wrap="square" lIns="0" tIns="0" rIns="0" bIns="0" rtlCol="0" anchor="t"/>
          <a:lstStyle/>
          <a:p>
            <a:pPr algn="l" indent="0" marL="0">
              <a:lnSpc>
                <a:spcPct val="120000"/>
              </a:lnSpc>
              <a:buNone/>
            </a:pPr>
            <a:r>
              <a:rPr lang="en-US" sz="2400" dirty="0">
                <a:solidFill>
                  <a:srgbClr val="F2F1EC"/>
                </a:solidFill>
                <a:latin typeface="Cambria" pitchFamily="34" charset="0"/>
                <a:ea typeface="Cambria" pitchFamily="34" charset="-122"/>
                <a:cs typeface="Cambria" pitchFamily="34" charset="-120"/>
              </a:rPr>
              <a:t>Three days of acidification, warming or hypoxia weakened byssal attachment; control animals did not change.</a:t>
            </a:r>
            <a:endParaRPr lang="en-US" sz="2400" dirty="0"/>
          </a:p>
        </p:txBody>
      </p:sp>
      <p:sp>
        <p:nvSpPr>
          <p:cNvPr id="4" name="Text 2"/>
          <p:cNvSpPr txBox="1"/>
          <p:nvPr/>
        </p:nvSpPr>
        <p:spPr>
          <a:xfrm>
            <a:off x="548640" y="2971800"/>
            <a:ext cx="10180015" cy="1463040"/>
          </a:xfrm>
          <a:prstGeom prst="rect">
            <a:avLst/>
          </a:prstGeom>
          <a:noFill/>
          <a:ln/>
        </p:spPr>
        <p:txBody>
          <a:bodyPr wrap="square" lIns="0" tIns="0" rIns="0" bIns="0" rtlCol="0" anchor="t"/>
          <a:lstStyle/>
          <a:p>
            <a:pPr algn="l" indent="0" marL="0">
              <a:lnSpc>
                <a:spcPct val="120000"/>
              </a:lnSpc>
              <a:buNone/>
            </a:pPr>
            <a:r>
              <a:rPr lang="en-US" sz="2400" dirty="0">
                <a:solidFill>
                  <a:srgbClr val="F2F1EC"/>
                </a:solidFill>
                <a:latin typeface="Cambria" pitchFamily="34" charset="0"/>
                <a:ea typeface="Cambria" pitchFamily="34" charset="-122"/>
                <a:cs typeface="Cambria" pitchFamily="34" charset="-120"/>
              </a:rPr>
              <a:t>Warming and hypoxia shrink the plaque; acidification weakens it without shrinking it. Adhesion alone misses the hypoxia effect.</a:t>
            </a:r>
            <a:endParaRPr lang="en-US" sz="2400" dirty="0"/>
          </a:p>
        </p:txBody>
      </p:sp>
      <p:sp>
        <p:nvSpPr>
          <p:cNvPr id="5" name="Text 3"/>
          <p:cNvSpPr txBox="1"/>
          <p:nvPr/>
        </p:nvSpPr>
        <p:spPr>
          <a:xfrm>
            <a:off x="548640" y="4572000"/>
            <a:ext cx="10180015" cy="1463040"/>
          </a:xfrm>
          <a:prstGeom prst="rect">
            <a:avLst/>
          </a:prstGeom>
          <a:noFill/>
          <a:ln/>
        </p:spPr>
        <p:txBody>
          <a:bodyPr wrap="square" lIns="0" tIns="0" rIns="0" bIns="0" rtlCol="0" anchor="t"/>
          <a:lstStyle/>
          <a:p>
            <a:pPr algn="l" indent="0" marL="0">
              <a:lnSpc>
                <a:spcPct val="120000"/>
              </a:lnSpc>
              <a:buNone/>
            </a:pPr>
            <a:r>
              <a:rPr lang="en-US" sz="2400" dirty="0">
                <a:solidFill>
                  <a:srgbClr val="F2F1EC"/>
                </a:solidFill>
                <a:latin typeface="Cambria" pitchFamily="34" charset="0"/>
                <a:ea typeface="Cambria" pitchFamily="34" charset="-122"/>
                <a:cs typeface="Cambria" pitchFamily="34" charset="-120"/>
              </a:rPr>
              <a:t>Foot and gill transcriptomes respond in tissue-specific ways; byssal protein transcripts mark thread secretion rather than stress, and no expression signal predicted an individual animal’s threads.</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6233A"/>
        </a:solidFill>
      </p:bgPr>
    </p:bg>
    <p:spTree>
      <p:nvGrpSpPr>
        <p:cNvPr id="1" name=""/>
        <p:cNvGrpSpPr/>
        <p:nvPr/>
      </p:nvGrpSpPr>
      <p:grpSpPr>
        <a:xfrm>
          <a:off x="0" y="0"/>
          <a:ext cx="0" cy="0"/>
          <a:chOff x="0" y="0"/>
          <a:chExt cx="0" cy="0"/>
        </a:xfrm>
      </p:grpSpPr>
      <p:sp>
        <p:nvSpPr>
          <p:cNvPr id="2" name="Text 0"/>
          <p:cNvSpPr txBox="1"/>
          <p:nvPr/>
        </p:nvSpPr>
        <p:spPr>
          <a:xfrm>
            <a:off x="548640" y="822960"/>
            <a:ext cx="5486400" cy="274320"/>
          </a:xfrm>
          <a:prstGeom prst="rect">
            <a:avLst/>
          </a:prstGeom>
          <a:noFill/>
          <a:ln/>
        </p:spPr>
        <p:txBody>
          <a:bodyPr wrap="square" lIns="0" tIns="0" rIns="0" bIns="0" rtlCol="0" anchor="t"/>
          <a:lstStyle/>
          <a:p>
            <a:pPr algn="l" indent="0" marL="0">
              <a:lnSpc>
                <a:spcPct val="115000"/>
              </a:lnSpc>
              <a:buNone/>
            </a:pPr>
            <a:r>
              <a:rPr lang="en-US" sz="1100" b="1" spc="200" kern="0" dirty="0">
                <a:solidFill>
                  <a:srgbClr val="C3CBD6"/>
                </a:solidFill>
                <a:latin typeface="Calibri" pitchFamily="34" charset="0"/>
                <a:ea typeface="Calibri" pitchFamily="34" charset="-122"/>
                <a:cs typeface="Calibri" pitchFamily="34" charset="-120"/>
              </a:rPr>
              <a:t>NEXT STEPS</a:t>
            </a:r>
            <a:endParaRPr lang="en-US" sz="1100" dirty="0"/>
          </a:p>
        </p:txBody>
      </p:sp>
      <p:sp>
        <p:nvSpPr>
          <p:cNvPr id="3" name="Text 1"/>
          <p:cNvSpPr txBox="1"/>
          <p:nvPr/>
        </p:nvSpPr>
        <p:spPr>
          <a:xfrm>
            <a:off x="548640" y="1280160"/>
            <a:ext cx="5852160" cy="4114800"/>
          </a:xfrm>
          <a:prstGeom prst="rect">
            <a:avLst/>
          </a:prstGeom>
          <a:noFill/>
          <a:ln/>
        </p:spPr>
        <p:txBody>
          <a:bodyPr wrap="square" lIns="0" tIns="0" rIns="0" bIns="0" rtlCol="0" anchor="t"/>
          <a:lstStyle/>
          <a:p>
            <a:pPr marL="177800" indent="-177800">
              <a:lnSpc>
                <a:spcPct val="110000"/>
              </a:lnSpc>
              <a:spcAft>
                <a:spcPts val="1400"/>
              </a:spcAft>
              <a:buSzPct val="100000"/>
              <a:buChar char="•"/>
            </a:pPr>
            <a:r>
              <a:rPr lang="en-US" sz="1500" dirty="0">
                <a:solidFill>
                  <a:srgbClr val="F2F1EC"/>
                </a:solidFill>
                <a:latin typeface="Calibri" pitchFamily="34" charset="0"/>
                <a:ea typeface="Calibri" pitchFamily="34" charset="-122"/>
                <a:cs typeface="Calibri" pitchFamily="34" charset="-120"/>
              </a:rPr>
              <a:t>Targeted follow-up on the strongest candidates: Byssal HSP-like protein 1, the dual oxidase / byssal peroxidase module, and the ACDC byssal EP-like proteins.</a:t>
            </a:r>
            <a:endParaRPr lang="en-US" sz="1500" dirty="0"/>
          </a:p>
          <a:p>
            <a:pPr marL="177800" indent="-177800">
              <a:lnSpc>
                <a:spcPct val="110000"/>
              </a:lnSpc>
              <a:spcAft>
                <a:spcPts val="1400"/>
              </a:spcAft>
              <a:buSzPct val="100000"/>
              <a:buChar char="•"/>
            </a:pPr>
            <a:r>
              <a:rPr lang="en-US" sz="1500" dirty="0">
                <a:solidFill>
                  <a:srgbClr val="F2F1EC"/>
                </a:solidFill>
                <a:latin typeface="Calibri" pitchFamily="34" charset="0"/>
                <a:ea typeface="Calibri" pitchFamily="34" charset="-122"/>
                <a:cs typeface="Calibri" pitchFamily="34" charset="-120"/>
              </a:rPr>
              <a:t>Sample the foot during thread building, not only at 72 h, to test the timing reading.</a:t>
            </a:r>
            <a:endParaRPr lang="en-US" sz="1500" dirty="0"/>
          </a:p>
          <a:p>
            <a:pPr marL="177800" indent="-177800">
              <a:lnSpc>
                <a:spcPct val="110000"/>
              </a:lnSpc>
              <a:spcAft>
                <a:spcPts val="1400"/>
              </a:spcAft>
              <a:buSzPct val="100000"/>
              <a:buChar char="•"/>
            </a:pPr>
            <a:r>
              <a:rPr lang="en-US" sz="1500" dirty="0">
                <a:solidFill>
                  <a:srgbClr val="F2F1EC"/>
                </a:solidFill>
                <a:latin typeface="Calibri" pitchFamily="34" charset="0"/>
                <a:ea typeface="Calibri" pitchFamily="34" charset="-122"/>
                <a:cs typeface="Calibri" pitchFamily="34" charset="-120"/>
              </a:rPr>
              <a:t>Report force and plaque area as the primary mechanical metrics, with adhesion derived, in the manuscript.</a:t>
            </a:r>
            <a:endParaRPr lang="en-US" sz="1500" dirty="0"/>
          </a:p>
        </p:txBody>
      </p:sp>
      <p:sp>
        <p:nvSpPr>
          <p:cNvPr id="4" name="Text 2"/>
          <p:cNvSpPr txBox="1"/>
          <p:nvPr/>
        </p:nvSpPr>
        <p:spPr>
          <a:xfrm>
            <a:off x="7040880" y="822960"/>
            <a:ext cx="4572000" cy="274320"/>
          </a:xfrm>
          <a:prstGeom prst="rect">
            <a:avLst/>
          </a:prstGeom>
          <a:noFill/>
          <a:ln/>
        </p:spPr>
        <p:txBody>
          <a:bodyPr wrap="square" lIns="0" tIns="0" rIns="0" bIns="0" rtlCol="0" anchor="t"/>
          <a:lstStyle/>
          <a:p>
            <a:pPr algn="l" indent="0" marL="0">
              <a:lnSpc>
                <a:spcPct val="115000"/>
              </a:lnSpc>
              <a:buNone/>
            </a:pPr>
            <a:r>
              <a:rPr lang="en-US" sz="1100" b="1" spc="200" kern="0" dirty="0">
                <a:solidFill>
                  <a:srgbClr val="C3CBD6"/>
                </a:solidFill>
                <a:latin typeface="Calibri" pitchFamily="34" charset="0"/>
                <a:ea typeface="Calibri" pitchFamily="34" charset="-122"/>
                <a:cs typeface="Calibri" pitchFamily="34" charset="-120"/>
              </a:rPr>
              <a:t>ACKNOWLEDGEMENTS</a:t>
            </a:r>
            <a:endParaRPr lang="en-US" sz="1100" dirty="0"/>
          </a:p>
        </p:txBody>
      </p:sp>
      <p:sp>
        <p:nvSpPr>
          <p:cNvPr id="5" name="Text 3"/>
          <p:cNvSpPr txBox="1"/>
          <p:nvPr/>
        </p:nvSpPr>
        <p:spPr>
          <a:xfrm>
            <a:off x="7040880" y="1280160"/>
            <a:ext cx="4602175" cy="2926080"/>
          </a:xfrm>
          <a:prstGeom prst="rect">
            <a:avLst/>
          </a:prstGeom>
          <a:noFill/>
          <a:ln/>
        </p:spPr>
        <p:txBody>
          <a:bodyPr wrap="square" lIns="0" tIns="0" rIns="0" bIns="0" rtlCol="0" anchor="t"/>
          <a:lstStyle/>
          <a:p>
            <a:pPr marL="177800" indent="-177800">
              <a:lnSpc>
                <a:spcPct val="110000"/>
              </a:lnSpc>
              <a:spcAft>
                <a:spcPts val="1200"/>
              </a:spcAft>
              <a:buSzPct val="100000"/>
              <a:buChar char="•"/>
            </a:pPr>
            <a:r>
              <a:rPr lang="en-US" sz="1400" dirty="0">
                <a:solidFill>
                  <a:srgbClr val="F2F1EC"/>
                </a:solidFill>
                <a:latin typeface="Calibri" pitchFamily="34" charset="0"/>
                <a:ea typeface="Calibri" pitchFamily="34" charset="-122"/>
                <a:cs typeface="Calibri" pitchFamily="34" charset="-120"/>
              </a:rPr>
              <a:t>[Co-authors and affiliations]</a:t>
            </a:r>
            <a:endParaRPr lang="en-US" sz="1400" dirty="0"/>
          </a:p>
          <a:p>
            <a:pPr marL="177800" indent="-177800">
              <a:lnSpc>
                <a:spcPct val="110000"/>
              </a:lnSpc>
              <a:spcAft>
                <a:spcPts val="1200"/>
              </a:spcAft>
              <a:buSzPct val="100000"/>
              <a:buChar char="•"/>
            </a:pPr>
            <a:r>
              <a:rPr lang="en-US" sz="1400" dirty="0">
                <a:solidFill>
                  <a:srgbClr val="F2F1EC"/>
                </a:solidFill>
                <a:latin typeface="Calibri" pitchFamily="34" charset="0"/>
                <a:ea typeface="Calibri" pitchFamily="34" charset="-122"/>
                <a:cs typeface="Calibri" pitchFamily="34" charset="-120"/>
              </a:rPr>
              <a:t>[Thread-testing and RNA-extraction team]</a:t>
            </a:r>
            <a:endParaRPr lang="en-US" sz="1400" dirty="0"/>
          </a:p>
          <a:p>
            <a:pPr marL="177800" indent="-177800">
              <a:lnSpc>
                <a:spcPct val="110000"/>
              </a:lnSpc>
              <a:spcAft>
                <a:spcPts val="1200"/>
              </a:spcAft>
              <a:buSzPct val="100000"/>
              <a:buChar char="•"/>
            </a:pPr>
            <a:r>
              <a:rPr lang="en-US" sz="1400" dirty="0">
                <a:solidFill>
                  <a:srgbClr val="F2F1EC"/>
                </a:solidFill>
                <a:latin typeface="Calibri" pitchFamily="34" charset="0"/>
                <a:ea typeface="Calibri" pitchFamily="34" charset="-122"/>
                <a:cs typeface="Calibri" pitchFamily="34" charset="-120"/>
              </a:rPr>
              <a:t>[Sequencing facilities]</a:t>
            </a:r>
            <a:endParaRPr lang="en-US" sz="1400" dirty="0"/>
          </a:p>
          <a:p>
            <a:pPr marL="177800" indent="-177800">
              <a:lnSpc>
                <a:spcPct val="110000"/>
              </a:lnSpc>
              <a:spcAft>
                <a:spcPts val="1200"/>
              </a:spcAft>
              <a:buSzPct val="100000"/>
              <a:buChar char="•"/>
            </a:pPr>
            <a:r>
              <a:rPr lang="en-US" sz="1400" dirty="0">
                <a:solidFill>
                  <a:srgbClr val="F2F1EC"/>
                </a:solidFill>
                <a:latin typeface="Calibri" pitchFamily="34" charset="0"/>
                <a:ea typeface="Calibri" pitchFamily="34" charset="-122"/>
                <a:cs typeface="Calibri" pitchFamily="34" charset="-120"/>
              </a:rPr>
              <a:t>Funding: Pacific States Marine Fisheries Commission [award number]</a:t>
            </a:r>
            <a:endParaRPr lang="en-US" sz="1400" dirty="0"/>
          </a:p>
        </p:txBody>
      </p:sp>
      <p:sp>
        <p:nvSpPr>
          <p:cNvPr id="6" name="Text 4"/>
          <p:cNvSpPr txBox="1"/>
          <p:nvPr/>
        </p:nvSpPr>
        <p:spPr>
          <a:xfrm>
            <a:off x="7040880" y="4572000"/>
            <a:ext cx="4602175" cy="365760"/>
          </a:xfrm>
          <a:prstGeom prst="rect">
            <a:avLst/>
          </a:prstGeom>
          <a:noFill/>
          <a:ln/>
        </p:spPr>
        <p:txBody>
          <a:bodyPr wrap="square" lIns="0" tIns="0" rIns="0" bIns="0" rtlCol="0" anchor="t"/>
          <a:lstStyle/>
          <a:p>
            <a:pPr algn="l" indent="0" marL="0">
              <a:lnSpc>
                <a:spcPct val="115000"/>
              </a:lnSpc>
              <a:buNone/>
            </a:pPr>
            <a:r>
              <a:rPr lang="en-US" sz="1200" dirty="0">
                <a:solidFill>
                  <a:srgbClr val="C3CBD6"/>
                </a:solidFill>
                <a:latin typeface="Calibri" pitchFamily="34" charset="0"/>
                <a:ea typeface="Calibri" pitchFamily="34" charset="-122"/>
                <a:cs typeface="Calibri" pitchFamily="34" charset="-120"/>
              </a:rPr>
              <a:t>Code and data: github.com/mattgeorgephd/PSMFC-mytilus-byssus-pilot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Byssal attachment under acidification, warming and hypoxia</dc:title>
  <dc:subject>PptxGenJS Presentation</dc:subject>
  <dc:creator>PptxGenJS</dc:creator>
  <cp:lastModifiedBy>PptxGenJS</cp:lastModifiedBy>
  <cp:revision>1</cp:revision>
  <dcterms:created xsi:type="dcterms:W3CDTF">2026-09-17T21:27:40Z</dcterms:created>
  <dcterms:modified xsi:type="dcterms:W3CDTF">2026-09-17T21:27:40Z</dcterms:modified>
</cp:coreProperties>
</file>